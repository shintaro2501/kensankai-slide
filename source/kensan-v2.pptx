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売上構成</c:v>
                </c:pt>
              </c:strCache>
            </c:strRef>
          </c:tx>
          <c:spPr>
            <a:solidFill>
              <a:srgbClr val="4472C4"/>
            </a:solidFill>
            <a:effectLst/>
          </c:spPr>
          <c:invertIfNegative val="0"/>
          <c:dLbls>
            <c:numFmt formatCode="#,##0" sourceLinked="0"/>
            <c:txPr>
              <a:bodyPr/>
              <a:lstStyle/>
              <a:p>
                <a:pPr>
                  <a:defRPr b="0" i="0" strike="noStrike" sz="1600" u="none">
                    <a:solidFill>
                      <a:srgbClr val="333333"/>
                    </a:solidFill>
                    <a:latin typeface="Arial"/>
                  </a:defRPr>
                </a:pPr>
              </a:p>
            </c:txPr>
            <c:showLegendKey val="0"/>
            <c:showVal val="1"/>
            <c:showCatName val="0"/>
            <c:showSerName val="0"/>
            <c:showPercent val="0"/>
            <c:showBubbleSize val="0"/>
            <c:showLeaderLines val="0"/>
          </c:dLbls>
          <c:dPt>
            <c:idx val="0"/>
            <c:invertIfNegative val="0"/>
            <c:bubble3D val="0"/>
            <c:spPr>
              <a:solidFill>
                <a:srgbClr val="4472C4"/>
              </a:solidFill>
              <a:effectLst/>
            </c:spPr>
          </c:dPt>
          <c:dPt>
            <c:idx val="1"/>
            <c:invertIfNegative val="0"/>
            <c:bubble3D val="0"/>
            <c:spPr>
              <a:solidFill>
                <a:srgbClr val="F4A020"/>
              </a:solidFill>
              <a:effectLst/>
            </c:spPr>
          </c:dPt>
          <c:dPt>
            <c:idx val="2"/>
            <c:invertIfNegative val="0"/>
            <c:bubble3D val="0"/>
            <c:spPr>
              <a:solidFill>
                <a:srgbClr val="5FAD56"/>
              </a:solidFill>
              <a:effectLst/>
            </c:spPr>
          </c:dPt>
          <c:cat>
            <c:multiLvlStrRef>
              <c:f>Sheet1!$A$2:$A$4</c:f>
              <c:multiLvlStrCache>
                <c:ptCount val="3"/>
                <c:lvl>
                  <c:pt idx="0">
                    <c:v>ビジネス</c:v>
                  </c:pt>
                  <c:pt idx="1">
                    <c:v>レジャー</c:v>
                  </c:pt>
                  <c:pt idx="2">
                    <c:v>代車</c:v>
                  </c:pt>
                </c:lvl>
              </c:multiLvlStrCache>
            </c:multiLvlStrRef>
          </c:cat>
          <c:val>
            <c:numRef>
              <c:f>Sheet1!$B$2:$B$4</c:f>
              <c:numCache>
                <c:formatCode>General</c:formatCode>
                <c:ptCount val="3"/>
                <c:pt idx="0">
                  <c:v>24</c:v>
                </c:pt>
                <c:pt idx="1">
                  <c:v>40</c:v>
                </c:pt>
                <c:pt idx="2">
                  <c:v>36</c:v>
                </c:pt>
              </c:numCache>
            </c:numRef>
          </c:val>
        </c:ser>
        <c:dLbls>
          <c:numFmt formatCode="#,##0" sourceLinked="0"/>
          <c:txPr>
            <a:bodyPr/>
            <a:lstStyle/>
            <a:p>
              <a:pPr>
                <a:defRPr b="0" i="0" strike="noStrike" sz="1600" u="none">
                  <a:solidFill>
                    <a:srgbClr val="3333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4444"/>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0E0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8888"/>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皆様こんにちは。トヨタレンタリース広島、新尾道駅前店の信岡でございます。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出発が集中する時間帯、今の対応を丁寧に続けながら、背後でお待ちのお客様が気になる——そういった経験は、皆様の店舗でもあるのではないでしょうか。
本日は、出発集中時に発生しやすい待ち時間と、貸渡品質を崩さずに店頭の流れを整えるための取り組みについてご紹介いたします。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大切なのは、貸渡に必要な確認と説明を確実に行いながら、店頭全体の流れを止めないことです。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新尾道駅前店は、JR新尾道駅のほぼ正面に位置する店舗です。
来店構成では、県外からのお客様が56％、県内のお客様が44％となっています。県外からのビジネス・レジャー利用に対応する一方で、地場代車も担う複合店舗です。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売上構成では、ビジネス24％、レジャー40％、代車36％です。ネットワーク店として県外からのビジネス利用・レジャー利用に対応する一方で、地場客店として周辺エリアへの代車配車・引取業務も担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代車を除いた店頭の出発・返却件数を見ると、出発は開店直後から10時台にかけて集中し、返却は15時から17時台を中心に増える傾向があります。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新尾道駅は新幹線駅ではありますが、すべての列車が停車する駅ではありません。そのため、ご来店は新幹線到着後のタイミングにまとまりやすい特徴があります。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今回取り上げる課題は、出発手続きにおける待ち時間です。ただし、単に「来店件数が多いから待ち時間が発生する」という話ではありません。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新尾道駅前店の受付カウンターには端末が2台あります。同時に貸渡手続きができるのは2組までです。店内手続きの目安は最大で約6分30秒とされています。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実際の店頭では、端末を使う手続きが終わった後も、カウンターで観光地の案内、道路状況の確認、出発方向の説明などに対応する場面があります。その対応がカウンター上で長く続くと、端末が空いていても、次のお客様の出発手続きにすぐ入れない状態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そこで今回、私たちは出発集中時の店頭オペレーションを、次の2点から見直しました。
1つ目は、カウンター手続きを止めないこと。
2つ目は、お待ちのお客様へ状況をお伝えすることです。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出発が重なる時間帯に起こりがちな場面をご覧いただきます。これは悪い応対の例ではありません。お客様への対応そのものは丁寧ですが、契約手続きが終わった後も説明がカウンターに残ることで、次のお客様への着手が遅れる場面です。それではご覧ください。
〔ロープレ1 実演中〕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〔ロープレ1 実演中〕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ただいまの場面では、スタッフの応対そのものが悪いわけではありません。お客様の質問に丁寧に答えようとしています。
しかし、契約手続きが終わった後も説明がカウンターに残ると、カウンター担当が次のお客様の手続きにすぐ入れません。
ここで必要なのは、説明を省くことではなく、カウンターで行うことと車両前で行うことを分けることです。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考え方はシンプルです。
店内カウンターでは、端末を使う契約手続きに集中する。
車両確認や出発方向の案内は、別スタッフが引き継いで行う。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続いて、先ほどの場面を踏まえた改善後の流れをご覧いただきます。
ご覧いただきたいのは、カウンター処理、説明案内の引き継ぎ、待機中のお客様への声掛けの3点です。
〔ロープレ2 実演中〕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ただいまの改善後の場面では、説明を省いたわけではありません。カウンターで行うことと、車両前で行うことを分けています。
担当者が変わっても説明が途切れず、カウンター担当は次のお客様の手続きに入りやすくなります。また、お待ちのお客様にも声を掛けることで、順番にご案内していることをお伝えできます。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大切なのは、お客様に案内が不十分だと感じさせないことです。そのために、手続きの冒頭で流れを伝えること、質問が出たときに場所とタイミングを整理して伝えること、そしてお待ちのお客様へ早い段階で声を掛けること——この3点を意識し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本日ご紹介した内容は、大きなシステム導入や特別なサービスではありません。
出発が集中する時間帯に、カウンターで何を行うのか。車両前で何を行うのか。お待ちのお客様に何を伝えるのか。スタッフ間でどのように引き継ぐのか。
この基本を整理したものです。
出発が集中するときこそ、カウンターで何をするか、車両前で何をするか、お待ちのお客様に何を伝えるか——この整理が、貸渡品質とカウンターの流れを両立させると、私たちは考えています。
ご清聴ありがとうございました。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00A040"/>
          </a:solidFill>
          <a:ln w="12700">
            <a:solidFill>
              <a:srgbClr val="00A040"/>
            </a:solidFill>
            <a:prstDash val="solid"/>
          </a:ln>
        </p:spPr>
      </p:sp>
      <p:sp>
        <p:nvSpPr>
          <p:cNvPr id="3" name="Shape 1"/>
          <p:cNvSpPr/>
          <p:nvPr/>
        </p:nvSpPr>
        <p:spPr>
          <a:xfrm>
            <a:off x="0" y="4846320"/>
            <a:ext cx="9144000" cy="297180"/>
          </a:xfrm>
          <a:prstGeom prst="rect">
            <a:avLst/>
          </a:prstGeom>
          <a:solidFill>
            <a:srgbClr val="00A040"/>
          </a:solidFill>
          <a:ln w="12700">
            <a:solidFill>
              <a:srgbClr val="00A040"/>
            </a:solidFill>
            <a:prstDash val="solid"/>
          </a:ln>
        </p:spPr>
      </p:sp>
      <p:sp>
        <p:nvSpPr>
          <p:cNvPr id="4" name="Shape 2"/>
          <p:cNvSpPr/>
          <p:nvPr/>
        </p:nvSpPr>
        <p:spPr>
          <a:xfrm>
            <a:off x="0" y="164592"/>
            <a:ext cx="457200" cy="4681728"/>
          </a:xfrm>
          <a:prstGeom prst="rect">
            <a:avLst/>
          </a:prstGeom>
          <a:solidFill>
            <a:srgbClr val="00A040"/>
          </a:solidFill>
          <a:ln w="12700">
            <a:solidFill>
              <a:srgbClr val="00A040"/>
            </a:solidFill>
            <a:prstDash val="solid"/>
          </a:ln>
        </p:spPr>
      </p:sp>
      <p:sp>
        <p:nvSpPr>
          <p:cNvPr id="5" name="Shape 3"/>
          <p:cNvSpPr/>
          <p:nvPr/>
        </p:nvSpPr>
        <p:spPr>
          <a:xfrm>
            <a:off x="5943600" y="164592"/>
            <a:ext cx="3200400" cy="4681728"/>
          </a:xfrm>
          <a:prstGeom prst="rect">
            <a:avLst/>
          </a:prstGeom>
          <a:solidFill>
            <a:srgbClr val="E8F5ED"/>
          </a:solidFill>
          <a:ln w="12700">
            <a:solidFill>
              <a:srgbClr val="E8F5ED"/>
            </a:solidFill>
            <a:prstDash val="solid"/>
          </a:ln>
        </p:spPr>
      </p:sp>
      <p:sp>
        <p:nvSpPr>
          <p:cNvPr id="6" name="Shape 4"/>
          <p:cNvSpPr/>
          <p:nvPr/>
        </p:nvSpPr>
        <p:spPr>
          <a:xfrm>
            <a:off x="6035040" y="365760"/>
            <a:ext cx="2926080" cy="4297680"/>
          </a:xfrm>
          <a:prstGeom prst="rect">
            <a:avLst/>
          </a:prstGeom>
          <a:solidFill>
            <a:srgbClr val="D5EAD9"/>
          </a:solidFill>
          <a:ln w="12700">
            <a:solidFill>
              <a:srgbClr val="CCCCCC"/>
            </a:solidFill>
            <a:prstDash val="solid"/>
          </a:ln>
        </p:spPr>
      </p:sp>
      <p:sp>
        <p:nvSpPr>
          <p:cNvPr id="7" name="Text 5"/>
          <p:cNvSpPr/>
          <p:nvPr/>
        </p:nvSpPr>
        <p:spPr>
          <a:xfrm>
            <a:off x="6035040" y="365760"/>
            <a:ext cx="2926080" cy="4297680"/>
          </a:xfrm>
          <a:prstGeom prst="rect">
            <a:avLst/>
          </a:prstGeom>
          <a:noFill/>
          <a:ln/>
        </p:spPr>
        <p:txBody>
          <a:bodyPr wrap="square" rtlCol="0" anchor="ctr"/>
          <a:lstStyle/>
          <a:p>
            <a:pPr algn="ctr" indent="0" marL="0">
              <a:buNone/>
            </a:pPr>
            <a:r>
              <a:rPr lang="en-US" sz="1200" dirty="0">
                <a:solidFill>
                  <a:srgbClr val="888888"/>
                </a:solidFill>
                <a:latin typeface="Yu Gothic" pitchFamily="34" charset="0"/>
                <a:ea typeface="Yu Gothic" pitchFamily="34" charset="-122"/>
                <a:cs typeface="Yu Gothic" pitchFamily="34" charset="-120"/>
              </a:rPr>
              <a:t>【画像挿入予定】</a:t>
            </a:r>
            <a:endParaRPr lang="en-US" sz="1200" dirty="0"/>
          </a:p>
          <a:p>
            <a:pPr algn="ctr" indent="0" marL="0">
              <a:buNone/>
            </a:pPr>
            <a:r>
              <a:rPr lang="en-US" sz="1200" dirty="0">
                <a:solidFill>
                  <a:srgbClr val="888888"/>
                </a:solidFill>
                <a:latin typeface="Yu Gothic" pitchFamily="34" charset="0"/>
                <a:ea typeface="Yu Gothic" pitchFamily="34" charset="-122"/>
                <a:cs typeface="Yu Gothic" pitchFamily="34" charset="-120"/>
              </a:rPr>
              <a:t>店舗外観または</a:t>
            </a:r>
            <a:endParaRPr lang="en-US" sz="1200" dirty="0"/>
          </a:p>
          <a:p>
            <a:pPr algn="ctr" indent="0" marL="0">
              <a:buNone/>
            </a:pPr>
            <a:r>
              <a:rPr lang="en-US" sz="1200" dirty="0">
                <a:solidFill>
                  <a:srgbClr val="888888"/>
                </a:solidFill>
                <a:latin typeface="Yu Gothic" pitchFamily="34" charset="0"/>
                <a:ea typeface="Yu Gothic" pitchFamily="34" charset="-122"/>
                <a:cs typeface="Yu Gothic" pitchFamily="34" charset="-120"/>
              </a:rPr>
              <a:t>店内カウンター</a:t>
            </a:r>
            <a:endParaRPr lang="en-US" sz="1200" dirty="0"/>
          </a:p>
        </p:txBody>
      </p:sp>
      <p:sp>
        <p:nvSpPr>
          <p:cNvPr id="8" name="Text 6"/>
          <p:cNvSpPr/>
          <p:nvPr/>
        </p:nvSpPr>
        <p:spPr>
          <a:xfrm>
            <a:off x="640080" y="822960"/>
            <a:ext cx="5120640" cy="2194560"/>
          </a:xfrm>
          <a:prstGeom prst="rect">
            <a:avLst/>
          </a:prstGeom>
          <a:noFill/>
          <a:ln/>
        </p:spPr>
        <p:txBody>
          <a:bodyPr wrap="square" rtlCol="0" anchor="ctr"/>
          <a:lstStyle/>
          <a:p>
            <a:pPr indent="0" marL="0">
              <a:buNone/>
            </a:pPr>
            <a:r>
              <a:rPr lang="en-US" sz="3000" b="1" dirty="0">
                <a:solidFill>
                  <a:srgbClr val="222222"/>
                </a:solidFill>
                <a:latin typeface="Yu Gothic" pitchFamily="34" charset="0"/>
                <a:ea typeface="Yu Gothic" pitchFamily="34" charset="-122"/>
                <a:cs typeface="Yu Gothic" pitchFamily="34" charset="-120"/>
              </a:rPr>
              <a:t>出発集中時でも</a:t>
            </a:r>
            <a:endParaRPr lang="en-US" sz="3000" dirty="0"/>
          </a:p>
          <a:p>
            <a:pPr indent="0" marL="0">
              <a:buNone/>
            </a:pPr>
            <a:r>
              <a:rPr lang="en-US" sz="3000" b="1" dirty="0">
                <a:solidFill>
                  <a:srgbClr val="222222"/>
                </a:solidFill>
                <a:latin typeface="Yu Gothic" pitchFamily="34" charset="0"/>
                <a:ea typeface="Yu Gothic" pitchFamily="34" charset="-122"/>
                <a:cs typeface="Yu Gothic" pitchFamily="34" charset="-120"/>
              </a:rPr>
              <a:t>貸渡品質を崩さない</a:t>
            </a:r>
            <a:endParaRPr lang="en-US" sz="3000" dirty="0"/>
          </a:p>
          <a:p>
            <a:pPr indent="0" marL="0">
              <a:buNone/>
            </a:pPr>
            <a:r>
              <a:rPr lang="en-US" sz="3000" b="1" dirty="0">
                <a:solidFill>
                  <a:srgbClr val="222222"/>
                </a:solidFill>
                <a:latin typeface="Yu Gothic" pitchFamily="34" charset="0"/>
                <a:ea typeface="Yu Gothic" pitchFamily="34" charset="-122"/>
                <a:cs typeface="Yu Gothic" pitchFamily="34" charset="-120"/>
              </a:rPr>
              <a:t>店頭オペレーション</a:t>
            </a:r>
            <a:endParaRPr lang="en-US" sz="3000" dirty="0"/>
          </a:p>
        </p:txBody>
      </p:sp>
      <p:sp>
        <p:nvSpPr>
          <p:cNvPr id="9" name="Text 7"/>
          <p:cNvSpPr/>
          <p:nvPr/>
        </p:nvSpPr>
        <p:spPr>
          <a:xfrm>
            <a:off x="640080" y="3017520"/>
            <a:ext cx="5120640" cy="822960"/>
          </a:xfrm>
          <a:prstGeom prst="rect">
            <a:avLst/>
          </a:prstGeom>
          <a:noFill/>
          <a:ln/>
        </p:spPr>
        <p:txBody>
          <a:bodyPr wrap="square" rtlCol="0" anchor="ctr"/>
          <a:lstStyle/>
          <a:p>
            <a:pPr indent="0" marL="0">
              <a:buNone/>
            </a:pPr>
            <a:r>
              <a:rPr lang="en-US" sz="1600" i="1" dirty="0">
                <a:solidFill>
                  <a:srgbClr val="555555"/>
                </a:solidFill>
                <a:latin typeface="Yu Gothic" pitchFamily="34" charset="0"/>
                <a:ea typeface="Yu Gothic" pitchFamily="34" charset="-122"/>
                <a:cs typeface="Yu Gothic" pitchFamily="34" charset="-120"/>
              </a:rPr>
              <a:t>― カウンター手続きと</a:t>
            </a:r>
            <a:endParaRPr lang="en-US" sz="1600" dirty="0"/>
          </a:p>
          <a:p>
            <a:pPr indent="0" marL="0">
              <a:buNone/>
            </a:pPr>
            <a:r>
              <a:rPr lang="en-US" sz="1600" i="1" dirty="0">
                <a:solidFill>
                  <a:srgbClr val="555555"/>
                </a:solidFill>
                <a:latin typeface="Yu Gothic" pitchFamily="34" charset="0"/>
                <a:ea typeface="Yu Gothic" pitchFamily="34" charset="-122"/>
                <a:cs typeface="Yu Gothic" pitchFamily="34" charset="-120"/>
              </a:rPr>
              <a:t>お待ちのお客様への対応の見直し ―</a:t>
            </a:r>
            <a:endParaRPr lang="en-US" sz="1600" dirty="0"/>
          </a:p>
        </p:txBody>
      </p:sp>
      <p:sp>
        <p:nvSpPr>
          <p:cNvPr id="10" name="Text 8"/>
          <p:cNvSpPr/>
          <p:nvPr/>
        </p:nvSpPr>
        <p:spPr>
          <a:xfrm>
            <a:off x="640080" y="4023360"/>
            <a:ext cx="5029200" cy="320040"/>
          </a:xfrm>
          <a:prstGeom prst="rect">
            <a:avLst/>
          </a:prstGeom>
          <a:noFill/>
          <a:ln/>
        </p:spPr>
        <p:txBody>
          <a:bodyPr wrap="square" rtlCol="0" anchor="ctr"/>
          <a:lstStyle/>
          <a:p>
            <a:pPr indent="0" marL="0">
              <a:buNone/>
            </a:pPr>
            <a:r>
              <a:rPr lang="en-US" sz="1300" dirty="0">
                <a:solidFill>
                  <a:srgbClr val="666666"/>
                </a:solidFill>
                <a:latin typeface="Yu Gothic" pitchFamily="34" charset="0"/>
                <a:ea typeface="Yu Gothic" pitchFamily="34" charset="-122"/>
                <a:cs typeface="Yu Gothic" pitchFamily="34" charset="-120"/>
              </a:rPr>
              <a:t>トヨタレンタリース広島　新尾道駅前店　信岡</a:t>
            </a:r>
            <a:endParaRPr lang="en-US" sz="1300" dirty="0"/>
          </a:p>
        </p:txBody>
      </p:sp>
      <p:sp>
        <p:nvSpPr>
          <p:cNvPr id="11" name="Text 9"/>
          <p:cNvSpPr/>
          <p:nvPr/>
        </p:nvSpPr>
        <p:spPr>
          <a:xfrm>
            <a:off x="640080" y="4846320"/>
            <a:ext cx="5029200" cy="297180"/>
          </a:xfrm>
          <a:prstGeom prst="rect">
            <a:avLst/>
          </a:prstGeom>
          <a:noFill/>
          <a:ln/>
        </p:spPr>
        <p:txBody>
          <a:bodyPr wrap="square" rtlCol="0" anchor="ctr"/>
          <a:lstStyle/>
          <a:p>
            <a:pPr indent="0" marL="0">
              <a:buNone/>
            </a:pPr>
            <a:r>
              <a:rPr lang="en-US" sz="1100" dirty="0">
                <a:solidFill>
                  <a:srgbClr val="FFFFFF"/>
                </a:solidFill>
                <a:latin typeface="Yu Gothic" pitchFamily="34" charset="0"/>
                <a:ea typeface="Yu Gothic" pitchFamily="34" charset="-122"/>
                <a:cs typeface="Yu Gothic" pitchFamily="34" charset="-120"/>
              </a:rPr>
              <a:t>2026年　店頭応対研鑽会</a:t>
            </a:r>
            <a:endParaRPr lang="en-US" sz="1100" dirty="0"/>
          </a:p>
        </p:txBody>
      </p:sp>
      <p:sp>
        <p:nvSpPr>
          <p:cNvPr id="12" name="Text 10"/>
          <p:cNvSpPr/>
          <p:nvPr/>
        </p:nvSpPr>
        <p:spPr>
          <a:xfrm>
            <a:off x="8778240" y="4846320"/>
            <a:ext cx="320040" cy="228600"/>
          </a:xfrm>
          <a:prstGeom prst="rect">
            <a:avLst/>
          </a:prstGeom>
          <a:noFill/>
          <a:ln/>
        </p:spPr>
        <p:txBody>
          <a:bodyPr wrap="square" rtlCol="0" anchor="ctr"/>
          <a:lstStyle/>
          <a:p>
            <a:pPr algn="r" indent="0" marL="0">
              <a:buNone/>
            </a:pPr>
            <a:r>
              <a:rPr lang="en-US" sz="1000" dirty="0">
                <a:solidFill>
                  <a:srgbClr val="999999"/>
                </a:solidFill>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502920"/>
            <a:ext cx="54864" cy="502920"/>
          </a:xfrm>
          <a:prstGeom prst="rect">
            <a:avLst/>
          </a:prstGeom>
          <a:solidFill>
            <a:srgbClr val="00A040"/>
          </a:solidFill>
          <a:ln w="12700">
            <a:solidFill>
              <a:srgbClr val="00A040"/>
            </a:solidFill>
            <a:prstDash val="solid"/>
          </a:ln>
        </p:spPr>
      </p:sp>
      <p:sp>
        <p:nvSpPr>
          <p:cNvPr id="3" name="Text 1"/>
          <p:cNvSpPr/>
          <p:nvPr/>
        </p:nvSpPr>
        <p:spPr>
          <a:xfrm>
            <a:off x="502920" y="457200"/>
            <a:ext cx="8321040" cy="594360"/>
          </a:xfrm>
          <a:prstGeom prst="rect">
            <a:avLst/>
          </a:prstGeom>
          <a:noFill/>
          <a:ln/>
        </p:spPr>
        <p:txBody>
          <a:bodyPr wrap="square" lIns="0" tIns="0" rIns="0" bIns="0" rtlCol="0" anchor="ctr"/>
          <a:lstStyle/>
          <a:p>
            <a:pPr indent="0" marL="0">
              <a:buNone/>
            </a:pPr>
            <a:r>
              <a:rPr lang="en-US" sz="2200" b="1" dirty="0">
                <a:solidFill>
                  <a:srgbClr val="222222"/>
                </a:solidFill>
                <a:latin typeface="Yu Gothic" pitchFamily="34" charset="0"/>
                <a:ea typeface="Yu Gothic" pitchFamily="34" charset="-122"/>
                <a:cs typeface="Yu Gothic" pitchFamily="34" charset="-120"/>
              </a:rPr>
              <a:t>はじめに</a:t>
            </a:r>
            <a:endParaRPr lang="en-US" sz="2200" dirty="0"/>
          </a:p>
        </p:txBody>
      </p:sp>
      <p:sp>
        <p:nvSpPr>
          <p:cNvPr id="4" name="Shape 2"/>
          <p:cNvSpPr/>
          <p:nvPr/>
        </p:nvSpPr>
        <p:spPr>
          <a:xfrm>
            <a:off x="365760" y="1051560"/>
            <a:ext cx="8412480" cy="0"/>
          </a:xfrm>
          <a:prstGeom prst="line">
            <a:avLst/>
          </a:prstGeom>
          <a:noFill/>
          <a:ln w="12700">
            <a:solidFill>
              <a:srgbClr val="E0E0E0"/>
            </a:solidFill>
            <a:prstDash val="solid"/>
          </a:ln>
        </p:spPr>
      </p:sp>
      <p:sp>
        <p:nvSpPr>
          <p:cNvPr id="5" name="Shape 3"/>
          <p:cNvSpPr/>
          <p:nvPr/>
        </p:nvSpPr>
        <p:spPr>
          <a:xfrm>
            <a:off x="365760" y="1234440"/>
            <a:ext cx="4297680" cy="3566160"/>
          </a:xfrm>
          <a:prstGeom prst="rect">
            <a:avLst/>
          </a:prstGeom>
          <a:solidFill>
            <a:srgbClr val="E8F5ED"/>
          </a:solidFill>
          <a:ln w="12700">
            <a:solidFill>
              <a:srgbClr val="CCCCCC"/>
            </a:solidFill>
            <a:prstDash val="solid"/>
          </a:ln>
        </p:spPr>
      </p:sp>
      <p:sp>
        <p:nvSpPr>
          <p:cNvPr id="6" name="Text 4"/>
          <p:cNvSpPr/>
          <p:nvPr/>
        </p:nvSpPr>
        <p:spPr>
          <a:xfrm>
            <a:off x="365760" y="1234440"/>
            <a:ext cx="4297680" cy="3566160"/>
          </a:xfrm>
          <a:prstGeom prst="rect">
            <a:avLst/>
          </a:prstGeom>
          <a:noFill/>
          <a:ln/>
        </p:spPr>
        <p:txBody>
          <a:bodyPr wrap="square" rtlCol="0" anchor="ctr"/>
          <a:lstStyle/>
          <a:p>
            <a:pPr algn="ctr" indent="0" marL="0">
              <a:buNone/>
            </a:pPr>
            <a:r>
              <a:rPr lang="en-US" sz="1200" dirty="0">
                <a:solidFill>
                  <a:srgbClr val="888888"/>
                </a:solidFill>
                <a:latin typeface="Yu Gothic" pitchFamily="34" charset="0"/>
                <a:ea typeface="Yu Gothic" pitchFamily="34" charset="-122"/>
                <a:cs typeface="Yu Gothic" pitchFamily="34" charset="-120"/>
              </a:rPr>
              <a:t>【画像挿入予定】</a:t>
            </a:r>
            <a:endParaRPr lang="en-US" sz="1200" dirty="0"/>
          </a:p>
          <a:p>
            <a:pPr algn="ctr" indent="0" marL="0">
              <a:buNone/>
            </a:pPr>
            <a:r>
              <a:rPr lang="en-US" sz="1200" dirty="0">
                <a:solidFill>
                  <a:srgbClr val="888888"/>
                </a:solidFill>
                <a:latin typeface="Yu Gothic" pitchFamily="34" charset="0"/>
                <a:ea typeface="Yu Gothic" pitchFamily="34" charset="-122"/>
                <a:cs typeface="Yu Gothic" pitchFamily="34" charset="-120"/>
              </a:rPr>
              <a:t>朝の出発集中時間帯</a:t>
            </a:r>
            <a:endParaRPr lang="en-US" sz="1200" dirty="0"/>
          </a:p>
          <a:p>
            <a:pPr algn="ctr" indent="0" marL="0">
              <a:buNone/>
            </a:pPr>
            <a:r>
              <a:rPr lang="en-US" sz="1200" dirty="0">
                <a:solidFill>
                  <a:srgbClr val="888888"/>
                </a:solidFill>
                <a:latin typeface="Yu Gothic" pitchFamily="34" charset="0"/>
                <a:ea typeface="Yu Gothic" pitchFamily="34" charset="-122"/>
                <a:cs typeface="Yu Gothic" pitchFamily="34" charset="-120"/>
              </a:rPr>
              <a:t>（カウンターで接客中＋</a:t>
            </a:r>
            <a:endParaRPr lang="en-US" sz="1200" dirty="0"/>
          </a:p>
          <a:p>
            <a:pPr algn="ctr" indent="0" marL="0">
              <a:buNone/>
            </a:pPr>
            <a:r>
              <a:rPr lang="en-US" sz="1200" dirty="0">
                <a:solidFill>
                  <a:srgbClr val="888888"/>
                </a:solidFill>
                <a:latin typeface="Yu Gothic" pitchFamily="34" charset="0"/>
                <a:ea typeface="Yu Gothic" pitchFamily="34" charset="-122"/>
                <a:cs typeface="Yu Gothic" pitchFamily="34" charset="-120"/>
              </a:rPr>
              <a:t>待合に次のお客様）</a:t>
            </a:r>
            <a:endParaRPr lang="en-US" sz="1200" dirty="0"/>
          </a:p>
        </p:txBody>
      </p:sp>
      <p:sp>
        <p:nvSpPr>
          <p:cNvPr id="7" name="Shape 5"/>
          <p:cNvSpPr/>
          <p:nvPr/>
        </p:nvSpPr>
        <p:spPr>
          <a:xfrm>
            <a:off x="4937760" y="1280160"/>
            <a:ext cx="3840480" cy="1463040"/>
          </a:xfrm>
          <a:prstGeom prst="rect">
            <a:avLst/>
          </a:prstGeom>
          <a:solidFill>
            <a:srgbClr val="F0FAF4"/>
          </a:solidFill>
          <a:ln w="19050">
            <a:solidFill>
              <a:srgbClr val="C5E8D1"/>
            </a:solidFill>
            <a:prstDash val="solid"/>
          </a:ln>
        </p:spPr>
      </p:sp>
      <p:sp>
        <p:nvSpPr>
          <p:cNvPr id="8" name="Text 6"/>
          <p:cNvSpPr/>
          <p:nvPr/>
        </p:nvSpPr>
        <p:spPr>
          <a:xfrm>
            <a:off x="5029200" y="1371600"/>
            <a:ext cx="3657600" cy="1280160"/>
          </a:xfrm>
          <a:prstGeom prst="rect">
            <a:avLst/>
          </a:prstGeom>
          <a:noFill/>
          <a:ln/>
        </p:spPr>
        <p:txBody>
          <a:bodyPr wrap="square" rtlCol="0" anchor="ctr"/>
          <a:lstStyle/>
          <a:p>
            <a:pPr indent="0" marL="0">
              <a:buNone/>
            </a:pPr>
            <a:r>
              <a:rPr lang="en-US" sz="1700" b="1" dirty="0">
                <a:solidFill>
                  <a:srgbClr val="00A040"/>
                </a:solidFill>
                <a:latin typeface="Yu Gothic" pitchFamily="34" charset="0"/>
                <a:ea typeface="Yu Gothic" pitchFamily="34" charset="-122"/>
                <a:cs typeface="Yu Gothic" pitchFamily="34" charset="-120"/>
              </a:rPr>
              <a:t>「今の対応を丁寧に続けながら、</a:t>
            </a:r>
            <a:endParaRPr lang="en-US" sz="1700" dirty="0"/>
          </a:p>
          <a:p>
            <a:pPr indent="0" marL="0">
              <a:buNone/>
            </a:pPr>
            <a:r>
              <a:rPr lang="en-US" sz="1700" b="1" dirty="0">
                <a:solidFill>
                  <a:srgbClr val="00A040"/>
                </a:solidFill>
                <a:latin typeface="Yu Gothic" pitchFamily="34" charset="0"/>
                <a:ea typeface="Yu Gothic" pitchFamily="34" charset="-122"/>
                <a:cs typeface="Yu Gothic" pitchFamily="34" charset="-120"/>
              </a:rPr>
              <a:t>　背後が気になる——」</a:t>
            </a:r>
            <a:endParaRPr lang="en-US" sz="1700" dirty="0"/>
          </a:p>
        </p:txBody>
      </p:sp>
      <p:sp>
        <p:nvSpPr>
          <p:cNvPr id="9" name="Text 7"/>
          <p:cNvSpPr/>
          <p:nvPr/>
        </p:nvSpPr>
        <p:spPr>
          <a:xfrm>
            <a:off x="4937760" y="2926080"/>
            <a:ext cx="3840480" cy="914400"/>
          </a:xfrm>
          <a:prstGeom prst="rect">
            <a:avLst/>
          </a:prstGeom>
          <a:noFill/>
          <a:ln/>
        </p:spPr>
        <p:txBody>
          <a:bodyPr wrap="square" rtlCol="0" anchor="ctr"/>
          <a:lstStyle/>
          <a:p>
            <a:pPr indent="0" marL="0">
              <a:buNone/>
            </a:pPr>
            <a:r>
              <a:rPr lang="en-US" sz="1600" dirty="0">
                <a:solidFill>
                  <a:srgbClr val="444444"/>
                </a:solidFill>
                <a:latin typeface="Yu Gothic" pitchFamily="34" charset="0"/>
                <a:ea typeface="Yu Gothic" pitchFamily="34" charset="-122"/>
                <a:cs typeface="Yu Gothic" pitchFamily="34" charset="-120"/>
              </a:rPr>
              <a:t>そういった経験は、</a:t>
            </a:r>
            <a:endParaRPr lang="en-US" sz="1600" dirty="0"/>
          </a:p>
          <a:p>
            <a:pPr indent="0" marL="0">
              <a:buNone/>
            </a:pPr>
            <a:r>
              <a:rPr lang="en-US" sz="1600" dirty="0">
                <a:solidFill>
                  <a:srgbClr val="444444"/>
                </a:solidFill>
                <a:latin typeface="Yu Gothic" pitchFamily="34" charset="0"/>
                <a:ea typeface="Yu Gothic" pitchFamily="34" charset="-122"/>
                <a:cs typeface="Yu Gothic" pitchFamily="34" charset="-120"/>
              </a:rPr>
              <a:t>皆様の店舗でも</a:t>
            </a:r>
            <a:endParaRPr lang="en-US" sz="1600" dirty="0"/>
          </a:p>
          <a:p>
            <a:pPr indent="0" marL="0">
              <a:buNone/>
            </a:pPr>
            <a:r>
              <a:rPr lang="en-US" sz="1600" dirty="0">
                <a:solidFill>
                  <a:srgbClr val="444444"/>
                </a:solidFill>
                <a:latin typeface="Yu Gothic" pitchFamily="34" charset="0"/>
                <a:ea typeface="Yu Gothic" pitchFamily="34" charset="-122"/>
                <a:cs typeface="Yu Gothic" pitchFamily="34" charset="-120"/>
              </a:rPr>
              <a:t>あるのではないでしょうか</a:t>
            </a:r>
            <a:endParaRPr lang="en-US" sz="1600" dirty="0"/>
          </a:p>
        </p:txBody>
      </p:sp>
      <p:sp>
        <p:nvSpPr>
          <p:cNvPr id="10" name="Shape 8"/>
          <p:cNvSpPr/>
          <p:nvPr/>
        </p:nvSpPr>
        <p:spPr>
          <a:xfrm>
            <a:off x="4937760" y="3977640"/>
            <a:ext cx="3840480" cy="0"/>
          </a:xfrm>
          <a:prstGeom prst="line">
            <a:avLst/>
          </a:prstGeom>
          <a:noFill/>
          <a:ln w="12700">
            <a:solidFill>
              <a:srgbClr val="E0E0E0"/>
            </a:solidFill>
            <a:prstDash val="solid"/>
          </a:ln>
        </p:spPr>
      </p:sp>
      <p:sp>
        <p:nvSpPr>
          <p:cNvPr id="11" name="Text 9"/>
          <p:cNvSpPr/>
          <p:nvPr/>
        </p:nvSpPr>
        <p:spPr>
          <a:xfrm>
            <a:off x="4937760" y="4069080"/>
            <a:ext cx="3840480" cy="548640"/>
          </a:xfrm>
          <a:prstGeom prst="rect">
            <a:avLst/>
          </a:prstGeom>
          <a:noFill/>
          <a:ln/>
        </p:spPr>
        <p:txBody>
          <a:bodyPr wrap="square" rtlCol="0" anchor="ctr"/>
          <a:lstStyle/>
          <a:p>
            <a:pPr indent="0" marL="0">
              <a:buNone/>
            </a:pPr>
            <a:r>
              <a:rPr lang="en-US" sz="1400" b="1" dirty="0">
                <a:solidFill>
                  <a:srgbClr val="222222"/>
                </a:solidFill>
                <a:latin typeface="Yu Gothic" pitchFamily="34" charset="0"/>
                <a:ea typeface="Yu Gothic" pitchFamily="34" charset="-122"/>
                <a:cs typeface="Yu Gothic" pitchFamily="34" charset="-120"/>
              </a:rPr>
              <a:t>本日のテーマ：出発集中時の店頭オペレーション</a:t>
            </a:r>
            <a:endParaRPr lang="en-US" sz="1400" dirty="0"/>
          </a:p>
        </p:txBody>
      </p:sp>
      <p:sp>
        <p:nvSpPr>
          <p:cNvPr id="12" name="Text 10"/>
          <p:cNvSpPr/>
          <p:nvPr/>
        </p:nvSpPr>
        <p:spPr>
          <a:xfrm>
            <a:off x="8778240" y="4846320"/>
            <a:ext cx="320040" cy="228600"/>
          </a:xfrm>
          <a:prstGeom prst="rect">
            <a:avLst/>
          </a:prstGeom>
          <a:noFill/>
          <a:ln/>
        </p:spPr>
        <p:txBody>
          <a:bodyPr wrap="square" rtlCol="0" anchor="ctr"/>
          <a:lstStyle/>
          <a:p>
            <a:pPr algn="r" indent="0" marL="0">
              <a:buNone/>
            </a:pPr>
            <a:r>
              <a:rPr lang="en-US" sz="1000" dirty="0">
                <a:solidFill>
                  <a:srgbClr val="999999"/>
                </a:solidFill>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502920"/>
            <a:ext cx="54864" cy="502920"/>
          </a:xfrm>
          <a:prstGeom prst="rect">
            <a:avLst/>
          </a:prstGeom>
          <a:solidFill>
            <a:srgbClr val="00A040"/>
          </a:solidFill>
          <a:ln w="12700">
            <a:solidFill>
              <a:srgbClr val="00A040"/>
            </a:solidFill>
            <a:prstDash val="solid"/>
          </a:ln>
        </p:spPr>
      </p:sp>
      <p:sp>
        <p:nvSpPr>
          <p:cNvPr id="3" name="Text 1"/>
          <p:cNvSpPr/>
          <p:nvPr/>
        </p:nvSpPr>
        <p:spPr>
          <a:xfrm>
            <a:off x="502920" y="457200"/>
            <a:ext cx="8321040" cy="594360"/>
          </a:xfrm>
          <a:prstGeom prst="rect">
            <a:avLst/>
          </a:prstGeom>
          <a:noFill/>
          <a:ln/>
        </p:spPr>
        <p:txBody>
          <a:bodyPr wrap="square" lIns="0" tIns="0" rIns="0" bIns="0" rtlCol="0" anchor="ctr"/>
          <a:lstStyle/>
          <a:p>
            <a:pPr indent="0" marL="0">
              <a:buNone/>
            </a:pPr>
            <a:r>
              <a:rPr lang="en-US" sz="2200" b="1" dirty="0">
                <a:solidFill>
                  <a:srgbClr val="222222"/>
                </a:solidFill>
                <a:latin typeface="Yu Gothic" pitchFamily="34" charset="0"/>
                <a:ea typeface="Yu Gothic" pitchFamily="34" charset="-122"/>
                <a:cs typeface="Yu Gothic" pitchFamily="34" charset="-120"/>
              </a:rPr>
              <a:t>発表の基本姿勢</a:t>
            </a:r>
            <a:endParaRPr lang="en-US" sz="2200" dirty="0"/>
          </a:p>
        </p:txBody>
      </p:sp>
      <p:sp>
        <p:nvSpPr>
          <p:cNvPr id="4" name="Shape 2"/>
          <p:cNvSpPr/>
          <p:nvPr/>
        </p:nvSpPr>
        <p:spPr>
          <a:xfrm>
            <a:off x="365760" y="1051560"/>
            <a:ext cx="8412480" cy="0"/>
          </a:xfrm>
          <a:prstGeom prst="line">
            <a:avLst/>
          </a:prstGeom>
          <a:noFill/>
          <a:ln w="12700">
            <a:solidFill>
              <a:srgbClr val="E0E0E0"/>
            </a:solidFill>
            <a:prstDash val="solid"/>
          </a:ln>
        </p:spPr>
      </p:sp>
      <p:sp>
        <p:nvSpPr>
          <p:cNvPr id="5" name="Shape 3"/>
          <p:cNvSpPr/>
          <p:nvPr/>
        </p:nvSpPr>
        <p:spPr>
          <a:xfrm>
            <a:off x="457200" y="1280160"/>
            <a:ext cx="3931920" cy="3383280"/>
          </a:xfrm>
          <a:prstGeom prst="rect">
            <a:avLst/>
          </a:prstGeom>
          <a:solidFill>
            <a:srgbClr val="F0FAF4"/>
          </a:solidFill>
          <a:ln w="19050">
            <a:solidFill>
              <a:srgbClr val="C5E8D1"/>
            </a:solidFill>
            <a:prstDash val="solid"/>
          </a:ln>
        </p:spPr>
      </p:sp>
      <p:sp>
        <p:nvSpPr>
          <p:cNvPr id="6" name="Shape 4"/>
          <p:cNvSpPr/>
          <p:nvPr/>
        </p:nvSpPr>
        <p:spPr>
          <a:xfrm>
            <a:off x="457200" y="1280160"/>
            <a:ext cx="3931920" cy="109728"/>
          </a:xfrm>
          <a:prstGeom prst="rect">
            <a:avLst/>
          </a:prstGeom>
          <a:solidFill>
            <a:srgbClr val="00A040"/>
          </a:solidFill>
          <a:ln w="12700">
            <a:solidFill>
              <a:srgbClr val="00A040"/>
            </a:solidFill>
            <a:prstDash val="solid"/>
          </a:ln>
        </p:spPr>
      </p:sp>
      <p:pic>
        <p:nvPicPr>
          <p:cNvPr id="7" name="Image 0" descr="preencoded.png">    </p:cNvPr>
          <p:cNvPicPr>
            <a:picLocks noChangeAspect="1"/>
          </p:cNvPicPr>
          <p:nvPr/>
        </p:nvPicPr>
        <p:blipFill>
          <a:blip r:embed="rId1"/>
          <a:stretch>
            <a:fillRect/>
          </a:stretch>
        </p:blipFill>
        <p:spPr>
          <a:xfrm>
            <a:off x="2011680" y="1508760"/>
            <a:ext cx="594360" cy="594360"/>
          </a:xfrm>
          <a:prstGeom prst="rect">
            <a:avLst/>
          </a:prstGeom>
        </p:spPr>
      </p:pic>
      <p:sp>
        <p:nvSpPr>
          <p:cNvPr id="8" name="Text 5"/>
          <p:cNvSpPr/>
          <p:nvPr/>
        </p:nvSpPr>
        <p:spPr>
          <a:xfrm>
            <a:off x="548640" y="2194560"/>
            <a:ext cx="3749040" cy="548640"/>
          </a:xfrm>
          <a:prstGeom prst="rect">
            <a:avLst/>
          </a:prstGeom>
          <a:noFill/>
          <a:ln/>
        </p:spPr>
        <p:txBody>
          <a:bodyPr wrap="square" rtlCol="0" anchor="ctr"/>
          <a:lstStyle/>
          <a:p>
            <a:pPr algn="ctr" indent="0" marL="0">
              <a:buNone/>
            </a:pPr>
            <a:r>
              <a:rPr lang="en-US" sz="2400" b="1" dirty="0">
                <a:solidFill>
                  <a:srgbClr val="00A040"/>
                </a:solidFill>
                <a:latin typeface="Yu Gothic" pitchFamily="34" charset="0"/>
                <a:ea typeface="Yu Gothic" pitchFamily="34" charset="-122"/>
                <a:cs typeface="Yu Gothic" pitchFamily="34" charset="-120"/>
              </a:rPr>
              <a:t>貸渡品質</a:t>
            </a:r>
            <a:endParaRPr lang="en-US" sz="2400" dirty="0"/>
          </a:p>
        </p:txBody>
      </p:sp>
      <p:sp>
        <p:nvSpPr>
          <p:cNvPr id="9" name="Shape 6"/>
          <p:cNvSpPr/>
          <p:nvPr/>
        </p:nvSpPr>
        <p:spPr>
          <a:xfrm>
            <a:off x="640080" y="2880360"/>
            <a:ext cx="3566160" cy="594360"/>
          </a:xfrm>
          <a:prstGeom prst="rect">
            <a:avLst/>
          </a:prstGeom>
          <a:solidFill>
            <a:srgbClr val="FFFFFF"/>
          </a:solidFill>
          <a:ln w="12700">
            <a:solidFill>
              <a:srgbClr val="C5E8D1"/>
            </a:solidFill>
            <a:prstDash val="solid"/>
          </a:ln>
        </p:spPr>
      </p:sp>
      <p:sp>
        <p:nvSpPr>
          <p:cNvPr id="10" name="Text 7"/>
          <p:cNvSpPr/>
          <p:nvPr/>
        </p:nvSpPr>
        <p:spPr>
          <a:xfrm>
            <a:off x="731520" y="2880360"/>
            <a:ext cx="3383280" cy="594360"/>
          </a:xfrm>
          <a:prstGeom prst="rect">
            <a:avLst/>
          </a:prstGeom>
          <a:noFill/>
          <a:ln/>
        </p:spPr>
        <p:txBody>
          <a:bodyPr wrap="square" rtlCol="0" anchor="ctr"/>
          <a:lstStyle/>
          <a:p>
            <a:pPr indent="0" marL="0">
              <a:buNone/>
            </a:pPr>
            <a:r>
              <a:rPr lang="en-US" sz="1600" dirty="0">
                <a:solidFill>
                  <a:srgbClr val="222222"/>
                </a:solidFill>
                <a:latin typeface="Yu Gothic" pitchFamily="34" charset="0"/>
                <a:ea typeface="Yu Gothic" pitchFamily="34" charset="-122"/>
                <a:cs typeface="Yu Gothic" pitchFamily="34" charset="-120"/>
              </a:rPr>
              <a:t>説明を省かない</a:t>
            </a:r>
            <a:endParaRPr lang="en-US" sz="1600" dirty="0"/>
          </a:p>
        </p:txBody>
      </p:sp>
      <p:sp>
        <p:nvSpPr>
          <p:cNvPr id="11" name="Shape 8"/>
          <p:cNvSpPr/>
          <p:nvPr/>
        </p:nvSpPr>
        <p:spPr>
          <a:xfrm>
            <a:off x="640080" y="3657600"/>
            <a:ext cx="3566160" cy="594360"/>
          </a:xfrm>
          <a:prstGeom prst="rect">
            <a:avLst/>
          </a:prstGeom>
          <a:solidFill>
            <a:srgbClr val="FFFFFF"/>
          </a:solidFill>
          <a:ln w="12700">
            <a:solidFill>
              <a:srgbClr val="C5E8D1"/>
            </a:solidFill>
            <a:prstDash val="solid"/>
          </a:ln>
        </p:spPr>
      </p:sp>
      <p:sp>
        <p:nvSpPr>
          <p:cNvPr id="12" name="Text 9"/>
          <p:cNvSpPr/>
          <p:nvPr/>
        </p:nvSpPr>
        <p:spPr>
          <a:xfrm>
            <a:off x="731520" y="3657600"/>
            <a:ext cx="3383280" cy="594360"/>
          </a:xfrm>
          <a:prstGeom prst="rect">
            <a:avLst/>
          </a:prstGeom>
          <a:noFill/>
          <a:ln/>
        </p:spPr>
        <p:txBody>
          <a:bodyPr wrap="square" rtlCol="0" anchor="ctr"/>
          <a:lstStyle/>
          <a:p>
            <a:pPr indent="0" marL="0">
              <a:buNone/>
            </a:pPr>
            <a:r>
              <a:rPr lang="en-US" sz="1600" dirty="0">
                <a:solidFill>
                  <a:srgbClr val="222222"/>
                </a:solidFill>
                <a:latin typeface="Yu Gothic" pitchFamily="34" charset="0"/>
                <a:ea typeface="Yu Gothic" pitchFamily="34" charset="-122"/>
                <a:cs typeface="Yu Gothic" pitchFamily="34" charset="-120"/>
              </a:rPr>
              <a:t>応対を急がせない</a:t>
            </a:r>
            <a:endParaRPr lang="en-US" sz="1600" dirty="0"/>
          </a:p>
        </p:txBody>
      </p:sp>
      <p:sp>
        <p:nvSpPr>
          <p:cNvPr id="13" name="Shape 10"/>
          <p:cNvSpPr/>
          <p:nvPr/>
        </p:nvSpPr>
        <p:spPr>
          <a:xfrm>
            <a:off x="4754880" y="1280160"/>
            <a:ext cx="3931920" cy="3383280"/>
          </a:xfrm>
          <a:prstGeom prst="rect">
            <a:avLst/>
          </a:prstGeom>
          <a:solidFill>
            <a:srgbClr val="F0FAF4"/>
          </a:solidFill>
          <a:ln w="19050">
            <a:solidFill>
              <a:srgbClr val="C5E8D1"/>
            </a:solidFill>
            <a:prstDash val="solid"/>
          </a:ln>
        </p:spPr>
      </p:sp>
      <p:sp>
        <p:nvSpPr>
          <p:cNvPr id="14" name="Shape 11"/>
          <p:cNvSpPr/>
          <p:nvPr/>
        </p:nvSpPr>
        <p:spPr>
          <a:xfrm>
            <a:off x="4754880" y="1280160"/>
            <a:ext cx="3931920" cy="109728"/>
          </a:xfrm>
          <a:prstGeom prst="rect">
            <a:avLst/>
          </a:prstGeom>
          <a:solidFill>
            <a:srgbClr val="00A040"/>
          </a:solidFill>
          <a:ln w="12700">
            <a:solidFill>
              <a:srgbClr val="00A040"/>
            </a:solidFill>
            <a:prstDash val="solid"/>
          </a:ln>
        </p:spPr>
      </p:sp>
      <p:pic>
        <p:nvPicPr>
          <p:cNvPr id="15" name="Image 1" descr="preencoded.png">    </p:cNvPr>
          <p:cNvPicPr>
            <a:picLocks noChangeAspect="1"/>
          </p:cNvPicPr>
          <p:nvPr/>
        </p:nvPicPr>
        <p:blipFill>
          <a:blip r:embed="rId2"/>
          <a:stretch>
            <a:fillRect/>
          </a:stretch>
        </p:blipFill>
        <p:spPr>
          <a:xfrm>
            <a:off x="6309360" y="1508760"/>
            <a:ext cx="594360" cy="594360"/>
          </a:xfrm>
          <a:prstGeom prst="rect">
            <a:avLst/>
          </a:prstGeom>
        </p:spPr>
      </p:pic>
      <p:sp>
        <p:nvSpPr>
          <p:cNvPr id="16" name="Text 12"/>
          <p:cNvSpPr/>
          <p:nvPr/>
        </p:nvSpPr>
        <p:spPr>
          <a:xfrm>
            <a:off x="4846320" y="2194560"/>
            <a:ext cx="3749040" cy="548640"/>
          </a:xfrm>
          <a:prstGeom prst="rect">
            <a:avLst/>
          </a:prstGeom>
          <a:noFill/>
          <a:ln/>
        </p:spPr>
        <p:txBody>
          <a:bodyPr wrap="square" rtlCol="0" anchor="ctr"/>
          <a:lstStyle/>
          <a:p>
            <a:pPr algn="ctr" indent="0" marL="0">
              <a:buNone/>
            </a:pPr>
            <a:r>
              <a:rPr lang="en-US" sz="2400" b="1" dirty="0">
                <a:solidFill>
                  <a:srgbClr val="00A040"/>
                </a:solidFill>
                <a:latin typeface="Yu Gothic" pitchFamily="34" charset="0"/>
                <a:ea typeface="Yu Gothic" pitchFamily="34" charset="-122"/>
                <a:cs typeface="Yu Gothic" pitchFamily="34" charset="-120"/>
              </a:rPr>
              <a:t>店頭の流れ</a:t>
            </a:r>
            <a:endParaRPr lang="en-US" sz="2400" dirty="0"/>
          </a:p>
        </p:txBody>
      </p:sp>
      <p:sp>
        <p:nvSpPr>
          <p:cNvPr id="17" name="Shape 13"/>
          <p:cNvSpPr/>
          <p:nvPr/>
        </p:nvSpPr>
        <p:spPr>
          <a:xfrm>
            <a:off x="4937760" y="2880360"/>
            <a:ext cx="3566160" cy="594360"/>
          </a:xfrm>
          <a:prstGeom prst="rect">
            <a:avLst/>
          </a:prstGeom>
          <a:solidFill>
            <a:srgbClr val="FFFFFF"/>
          </a:solidFill>
          <a:ln w="12700">
            <a:solidFill>
              <a:srgbClr val="C5E8D1"/>
            </a:solidFill>
            <a:prstDash val="solid"/>
          </a:ln>
        </p:spPr>
      </p:sp>
      <p:sp>
        <p:nvSpPr>
          <p:cNvPr id="18" name="Text 14"/>
          <p:cNvSpPr/>
          <p:nvPr/>
        </p:nvSpPr>
        <p:spPr>
          <a:xfrm>
            <a:off x="5029200" y="2880360"/>
            <a:ext cx="3383280" cy="594360"/>
          </a:xfrm>
          <a:prstGeom prst="rect">
            <a:avLst/>
          </a:prstGeom>
          <a:noFill/>
          <a:ln/>
        </p:spPr>
        <p:txBody>
          <a:bodyPr wrap="square" rtlCol="0" anchor="ctr"/>
          <a:lstStyle/>
          <a:p>
            <a:pPr indent="0" marL="0">
              <a:buNone/>
            </a:pPr>
            <a:r>
              <a:rPr lang="en-US" sz="1600" dirty="0">
                <a:solidFill>
                  <a:srgbClr val="222222"/>
                </a:solidFill>
                <a:latin typeface="Yu Gothic" pitchFamily="34" charset="0"/>
                <a:ea typeface="Yu Gothic" pitchFamily="34" charset="-122"/>
                <a:cs typeface="Yu Gothic" pitchFamily="34" charset="-120"/>
              </a:rPr>
              <a:t>店頭全体の流れを止めない</a:t>
            </a:r>
            <a:endParaRPr lang="en-US" sz="1600" dirty="0"/>
          </a:p>
        </p:txBody>
      </p:sp>
      <p:sp>
        <p:nvSpPr>
          <p:cNvPr id="19" name="Shape 15"/>
          <p:cNvSpPr/>
          <p:nvPr/>
        </p:nvSpPr>
        <p:spPr>
          <a:xfrm>
            <a:off x="4937760" y="3657600"/>
            <a:ext cx="3566160" cy="594360"/>
          </a:xfrm>
          <a:prstGeom prst="rect">
            <a:avLst/>
          </a:prstGeom>
          <a:solidFill>
            <a:srgbClr val="FFFFFF"/>
          </a:solidFill>
          <a:ln w="12700">
            <a:solidFill>
              <a:srgbClr val="C5E8D1"/>
            </a:solidFill>
            <a:prstDash val="solid"/>
          </a:ln>
        </p:spPr>
      </p:sp>
      <p:sp>
        <p:nvSpPr>
          <p:cNvPr id="20" name="Text 16"/>
          <p:cNvSpPr/>
          <p:nvPr/>
        </p:nvSpPr>
        <p:spPr>
          <a:xfrm>
            <a:off x="5029200" y="3657600"/>
            <a:ext cx="3383280" cy="594360"/>
          </a:xfrm>
          <a:prstGeom prst="rect">
            <a:avLst/>
          </a:prstGeom>
          <a:noFill/>
          <a:ln/>
        </p:spPr>
        <p:txBody>
          <a:bodyPr wrap="square" rtlCol="0" anchor="ctr"/>
          <a:lstStyle/>
          <a:p>
            <a:pPr indent="0" marL="0">
              <a:buNone/>
            </a:pPr>
            <a:r>
              <a:rPr lang="en-US" sz="1600" dirty="0">
                <a:solidFill>
                  <a:srgbClr val="222222"/>
                </a:solidFill>
                <a:latin typeface="Yu Gothic" pitchFamily="34" charset="0"/>
                <a:ea typeface="Yu Gothic" pitchFamily="34" charset="-122"/>
                <a:cs typeface="Yu Gothic" pitchFamily="34" charset="-120"/>
              </a:rPr>
              <a:t>次のお客様への着手を遅らせない</a:t>
            </a:r>
            <a:endParaRPr lang="en-US" sz="1600" dirty="0"/>
          </a:p>
        </p:txBody>
      </p:sp>
      <p:sp>
        <p:nvSpPr>
          <p:cNvPr id="21" name="Text 17"/>
          <p:cNvSpPr/>
          <p:nvPr/>
        </p:nvSpPr>
        <p:spPr>
          <a:xfrm>
            <a:off x="4343400" y="2651760"/>
            <a:ext cx="457200" cy="548640"/>
          </a:xfrm>
          <a:prstGeom prst="rect">
            <a:avLst/>
          </a:prstGeom>
          <a:noFill/>
          <a:ln/>
        </p:spPr>
        <p:txBody>
          <a:bodyPr wrap="square" rtlCol="0" anchor="ctr"/>
          <a:lstStyle/>
          <a:p>
            <a:pPr algn="ctr" indent="0" marL="0">
              <a:buNone/>
            </a:pPr>
            <a:r>
              <a:rPr lang="en-US" sz="2800" b="1" dirty="0">
                <a:solidFill>
                  <a:srgbClr val="CCCCCC"/>
                </a:solidFill>
                <a:latin typeface="Yu Gothic" pitchFamily="34" charset="0"/>
                <a:ea typeface="Yu Gothic" pitchFamily="34" charset="-122"/>
                <a:cs typeface="Yu Gothic" pitchFamily="34" charset="-120"/>
              </a:rPr>
              <a:t>+</a:t>
            </a:r>
            <a:endParaRPr lang="en-US" sz="2800" dirty="0"/>
          </a:p>
        </p:txBody>
      </p:sp>
      <p:sp>
        <p:nvSpPr>
          <p:cNvPr id="22" name="Shape 18"/>
          <p:cNvSpPr/>
          <p:nvPr/>
        </p:nvSpPr>
        <p:spPr>
          <a:xfrm>
            <a:off x="365760" y="4663440"/>
            <a:ext cx="8412480" cy="320040"/>
          </a:xfrm>
          <a:prstGeom prst="rect">
            <a:avLst/>
          </a:prstGeom>
          <a:solidFill>
            <a:srgbClr val="F0FAF4"/>
          </a:solidFill>
          <a:ln w="12700">
            <a:solidFill>
              <a:srgbClr val="C5E8D1"/>
            </a:solidFill>
            <a:prstDash val="solid"/>
          </a:ln>
        </p:spPr>
      </p:sp>
      <p:sp>
        <p:nvSpPr>
          <p:cNvPr id="23" name="Text 19"/>
          <p:cNvSpPr/>
          <p:nvPr/>
        </p:nvSpPr>
        <p:spPr>
          <a:xfrm>
            <a:off x="457200" y="4690872"/>
            <a:ext cx="8229600" cy="274320"/>
          </a:xfrm>
          <a:prstGeom prst="rect">
            <a:avLst/>
          </a:prstGeom>
          <a:noFill/>
          <a:ln/>
        </p:spPr>
        <p:txBody>
          <a:bodyPr wrap="square" rtlCol="0" anchor="ctr"/>
          <a:lstStyle/>
          <a:p>
            <a:pPr algn="ctr" indent="0" marL="0">
              <a:buNone/>
            </a:pPr>
            <a:r>
              <a:rPr lang="en-US" sz="1400" b="1" dirty="0">
                <a:solidFill>
                  <a:srgbClr val="00A040"/>
                </a:solidFill>
                <a:latin typeface="Yu Gothic" pitchFamily="34" charset="0"/>
                <a:ea typeface="Yu Gothic" pitchFamily="34" charset="-122"/>
                <a:cs typeface="Yu Gothic" pitchFamily="34" charset="-120"/>
              </a:rPr>
              <a:t>この2つを両立することが今回のテーマです</a:t>
            </a:r>
            <a:endParaRPr lang="en-US" sz="1400" dirty="0"/>
          </a:p>
        </p:txBody>
      </p:sp>
      <p:sp>
        <p:nvSpPr>
          <p:cNvPr id="24" name="Text 20"/>
          <p:cNvSpPr/>
          <p:nvPr/>
        </p:nvSpPr>
        <p:spPr>
          <a:xfrm>
            <a:off x="8778240" y="4846320"/>
            <a:ext cx="320040" cy="228600"/>
          </a:xfrm>
          <a:prstGeom prst="rect">
            <a:avLst/>
          </a:prstGeom>
          <a:noFill/>
          <a:ln/>
        </p:spPr>
        <p:txBody>
          <a:bodyPr wrap="square" rtlCol="0" anchor="ctr"/>
          <a:lstStyle/>
          <a:p>
            <a:pPr algn="r" indent="0" marL="0">
              <a:buNone/>
            </a:pPr>
            <a:r>
              <a:rPr lang="en-US" sz="1000" dirty="0">
                <a:solidFill>
                  <a:srgbClr val="999999"/>
                </a:solidFill>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502920"/>
            <a:ext cx="54864" cy="502920"/>
          </a:xfrm>
          <a:prstGeom prst="rect">
            <a:avLst/>
          </a:prstGeom>
          <a:solidFill>
            <a:srgbClr val="00A040"/>
          </a:solidFill>
          <a:ln w="12700">
            <a:solidFill>
              <a:srgbClr val="00A040"/>
            </a:solidFill>
            <a:prstDash val="solid"/>
          </a:ln>
        </p:spPr>
      </p:sp>
      <p:sp>
        <p:nvSpPr>
          <p:cNvPr id="3" name="Text 1"/>
          <p:cNvSpPr/>
          <p:nvPr/>
        </p:nvSpPr>
        <p:spPr>
          <a:xfrm>
            <a:off x="502920" y="457200"/>
            <a:ext cx="8321040" cy="594360"/>
          </a:xfrm>
          <a:prstGeom prst="rect">
            <a:avLst/>
          </a:prstGeom>
          <a:noFill/>
          <a:ln/>
        </p:spPr>
        <p:txBody>
          <a:bodyPr wrap="square" lIns="0" tIns="0" rIns="0" bIns="0" rtlCol="0" anchor="ctr"/>
          <a:lstStyle/>
          <a:p>
            <a:pPr indent="0" marL="0">
              <a:buNone/>
            </a:pPr>
            <a:r>
              <a:rPr lang="en-US" sz="2200" b="1" dirty="0">
                <a:solidFill>
                  <a:srgbClr val="222222"/>
                </a:solidFill>
                <a:latin typeface="Yu Gothic" pitchFamily="34" charset="0"/>
                <a:ea typeface="Yu Gothic" pitchFamily="34" charset="-122"/>
                <a:cs typeface="Yu Gothic" pitchFamily="34" charset="-120"/>
              </a:rPr>
              <a:t>店舗紹介　新尾道駅前店</a:t>
            </a:r>
            <a:endParaRPr lang="en-US" sz="2200" dirty="0"/>
          </a:p>
        </p:txBody>
      </p:sp>
      <p:sp>
        <p:nvSpPr>
          <p:cNvPr id="4" name="Shape 2"/>
          <p:cNvSpPr/>
          <p:nvPr/>
        </p:nvSpPr>
        <p:spPr>
          <a:xfrm>
            <a:off x="365760" y="1051560"/>
            <a:ext cx="8412480" cy="0"/>
          </a:xfrm>
          <a:prstGeom prst="line">
            <a:avLst/>
          </a:prstGeom>
          <a:noFill/>
          <a:ln w="12700">
            <a:solidFill>
              <a:srgbClr val="E0E0E0"/>
            </a:solidFill>
            <a:prstDash val="solid"/>
          </a:ln>
        </p:spPr>
      </p:sp>
      <p:sp>
        <p:nvSpPr>
          <p:cNvPr id="5" name="Shape 3"/>
          <p:cNvSpPr/>
          <p:nvPr/>
        </p:nvSpPr>
        <p:spPr>
          <a:xfrm>
            <a:off x="365760" y="1234440"/>
            <a:ext cx="4572000" cy="3657600"/>
          </a:xfrm>
          <a:prstGeom prst="rect">
            <a:avLst/>
          </a:prstGeom>
          <a:solidFill>
            <a:srgbClr val="E8F5ED"/>
          </a:solidFill>
          <a:ln w="12700">
            <a:solidFill>
              <a:srgbClr val="CCCCCC"/>
            </a:solidFill>
            <a:prstDash val="solid"/>
          </a:ln>
        </p:spPr>
      </p:sp>
      <p:sp>
        <p:nvSpPr>
          <p:cNvPr id="6" name="Text 4"/>
          <p:cNvSpPr/>
          <p:nvPr/>
        </p:nvSpPr>
        <p:spPr>
          <a:xfrm>
            <a:off x="365760" y="1234440"/>
            <a:ext cx="4572000" cy="3657600"/>
          </a:xfrm>
          <a:prstGeom prst="rect">
            <a:avLst/>
          </a:prstGeom>
          <a:noFill/>
          <a:ln/>
        </p:spPr>
        <p:txBody>
          <a:bodyPr wrap="square" rtlCol="0" anchor="ctr"/>
          <a:lstStyle/>
          <a:p>
            <a:pPr algn="ctr" indent="0" marL="0">
              <a:buNone/>
            </a:pPr>
            <a:r>
              <a:rPr lang="en-US" sz="1300" dirty="0">
                <a:solidFill>
                  <a:srgbClr val="888888"/>
                </a:solidFill>
                <a:latin typeface="Yu Gothic" pitchFamily="34" charset="0"/>
                <a:ea typeface="Yu Gothic" pitchFamily="34" charset="-122"/>
                <a:cs typeface="Yu Gothic" pitchFamily="34" charset="-120"/>
              </a:rPr>
              <a:t>【画像挿入予定】</a:t>
            </a:r>
            <a:endParaRPr lang="en-US" sz="1300" dirty="0"/>
          </a:p>
          <a:p>
            <a:pPr algn="ctr" indent="0" marL="0">
              <a:buNone/>
            </a:pPr>
            <a:r>
              <a:rPr lang="en-US" sz="1300" dirty="0">
                <a:solidFill>
                  <a:srgbClr val="888888"/>
                </a:solidFill>
                <a:latin typeface="Yu Gothic" pitchFamily="34" charset="0"/>
                <a:ea typeface="Yu Gothic" pitchFamily="34" charset="-122"/>
                <a:cs typeface="Yu Gothic" pitchFamily="34" charset="-120"/>
              </a:rPr>
              <a:t>店舗外観写真</a:t>
            </a:r>
            <a:endParaRPr lang="en-US" sz="1300" dirty="0"/>
          </a:p>
        </p:txBody>
      </p:sp>
      <p:pic>
        <p:nvPicPr>
          <p:cNvPr id="7" name="Image 0" descr="preencoded.png">    </p:cNvPr>
          <p:cNvPicPr>
            <a:picLocks noChangeAspect="1"/>
          </p:cNvPicPr>
          <p:nvPr/>
        </p:nvPicPr>
        <p:blipFill>
          <a:blip r:embed="rId1"/>
          <a:stretch>
            <a:fillRect/>
          </a:stretch>
        </p:blipFill>
        <p:spPr>
          <a:xfrm>
            <a:off x="5212080" y="1371600"/>
            <a:ext cx="411480" cy="411480"/>
          </a:xfrm>
          <a:prstGeom prst="rect">
            <a:avLst/>
          </a:prstGeom>
        </p:spPr>
      </p:pic>
      <p:sp>
        <p:nvSpPr>
          <p:cNvPr id="8" name="Text 5"/>
          <p:cNvSpPr/>
          <p:nvPr/>
        </p:nvSpPr>
        <p:spPr>
          <a:xfrm>
            <a:off x="5669280" y="1371600"/>
            <a:ext cx="3200400" cy="411480"/>
          </a:xfrm>
          <a:prstGeom prst="rect">
            <a:avLst/>
          </a:prstGeom>
          <a:noFill/>
          <a:ln/>
        </p:spPr>
        <p:txBody>
          <a:bodyPr wrap="square" lIns="0" tIns="0" rIns="0" bIns="0" rtlCol="0" anchor="ctr"/>
          <a:lstStyle/>
          <a:p>
            <a:pPr indent="0" marL="0">
              <a:buNone/>
            </a:pPr>
            <a:r>
              <a:rPr lang="en-US" sz="1800" b="1" dirty="0">
                <a:solidFill>
                  <a:srgbClr val="222222"/>
                </a:solidFill>
                <a:latin typeface="Yu Gothic" pitchFamily="34" charset="0"/>
                <a:ea typeface="Yu Gothic" pitchFamily="34" charset="-122"/>
                <a:cs typeface="Yu Gothic" pitchFamily="34" charset="-120"/>
              </a:rPr>
              <a:t>JR新尾道駅のほぼ正面</a:t>
            </a:r>
            <a:endParaRPr lang="en-US" sz="1800" dirty="0"/>
          </a:p>
        </p:txBody>
      </p:sp>
      <p:sp>
        <p:nvSpPr>
          <p:cNvPr id="9" name="Shape 6"/>
          <p:cNvSpPr/>
          <p:nvPr/>
        </p:nvSpPr>
        <p:spPr>
          <a:xfrm>
            <a:off x="5212080" y="1920240"/>
            <a:ext cx="3749040" cy="0"/>
          </a:xfrm>
          <a:prstGeom prst="line">
            <a:avLst/>
          </a:prstGeom>
          <a:noFill/>
          <a:ln w="12700">
            <a:solidFill>
              <a:srgbClr val="E0E0E0"/>
            </a:solidFill>
            <a:prstDash val="solid"/>
          </a:ln>
        </p:spPr>
      </p:sp>
      <p:pic>
        <p:nvPicPr>
          <p:cNvPr id="10" name="Image 1" descr="preencoded.png">    </p:cNvPr>
          <p:cNvPicPr>
            <a:picLocks noChangeAspect="1"/>
          </p:cNvPicPr>
          <p:nvPr/>
        </p:nvPicPr>
        <p:blipFill>
          <a:blip r:embed="rId2"/>
          <a:stretch>
            <a:fillRect/>
          </a:stretch>
        </p:blipFill>
        <p:spPr>
          <a:xfrm>
            <a:off x="5212080" y="2103120"/>
            <a:ext cx="365760" cy="365760"/>
          </a:xfrm>
          <a:prstGeom prst="rect">
            <a:avLst/>
          </a:prstGeom>
        </p:spPr>
      </p:pic>
      <p:sp>
        <p:nvSpPr>
          <p:cNvPr id="11" name="Text 7"/>
          <p:cNvSpPr/>
          <p:nvPr/>
        </p:nvSpPr>
        <p:spPr>
          <a:xfrm>
            <a:off x="5669280" y="2103120"/>
            <a:ext cx="3200400" cy="365760"/>
          </a:xfrm>
          <a:prstGeom prst="rect">
            <a:avLst/>
          </a:prstGeom>
          <a:noFill/>
          <a:ln/>
        </p:spPr>
        <p:txBody>
          <a:bodyPr wrap="square" lIns="0" tIns="0" rIns="0" bIns="0" rtlCol="0" anchor="ctr"/>
          <a:lstStyle/>
          <a:p>
            <a:pPr indent="0" marL="0">
              <a:buNone/>
            </a:pPr>
            <a:r>
              <a:rPr lang="en-US" sz="1400" dirty="0">
                <a:solidFill>
                  <a:srgbClr val="444444"/>
                </a:solidFill>
                <a:latin typeface="Yu Gothic" pitchFamily="34" charset="0"/>
                <a:ea typeface="Yu Gothic" pitchFamily="34" charset="-122"/>
                <a:cs typeface="Yu Gothic" pitchFamily="34" charset="-120"/>
              </a:rPr>
              <a:t>来店構成</a:t>
            </a:r>
            <a:endParaRPr lang="en-US" sz="1400" dirty="0"/>
          </a:p>
        </p:txBody>
      </p:sp>
      <p:sp>
        <p:nvSpPr>
          <p:cNvPr id="12" name="Shape 8"/>
          <p:cNvSpPr/>
          <p:nvPr/>
        </p:nvSpPr>
        <p:spPr>
          <a:xfrm>
            <a:off x="5212080" y="2560320"/>
            <a:ext cx="3749040" cy="0"/>
          </a:xfrm>
          <a:prstGeom prst="line">
            <a:avLst/>
          </a:prstGeom>
          <a:noFill/>
          <a:ln w="12700">
            <a:solidFill>
              <a:srgbClr val="E0E0E0"/>
            </a:solidFill>
            <a:prstDash val="solid"/>
          </a:ln>
        </p:spPr>
      </p:sp>
      <p:sp>
        <p:nvSpPr>
          <p:cNvPr id="13" name="Shape 9"/>
          <p:cNvSpPr/>
          <p:nvPr/>
        </p:nvSpPr>
        <p:spPr>
          <a:xfrm>
            <a:off x="5212080" y="2651760"/>
            <a:ext cx="1737360" cy="1280160"/>
          </a:xfrm>
          <a:prstGeom prst="rect">
            <a:avLst/>
          </a:prstGeom>
          <a:solidFill>
            <a:srgbClr val="F0FAF4"/>
          </a:solidFill>
          <a:ln w="12700">
            <a:solidFill>
              <a:srgbClr val="C5E8D1"/>
            </a:solidFill>
            <a:prstDash val="solid"/>
          </a:ln>
        </p:spPr>
      </p:sp>
      <p:sp>
        <p:nvSpPr>
          <p:cNvPr id="14" name="Text 10"/>
          <p:cNvSpPr/>
          <p:nvPr/>
        </p:nvSpPr>
        <p:spPr>
          <a:xfrm>
            <a:off x="5212080" y="2715768"/>
            <a:ext cx="1737360" cy="365760"/>
          </a:xfrm>
          <a:prstGeom prst="rect">
            <a:avLst/>
          </a:prstGeom>
          <a:noFill/>
          <a:ln/>
        </p:spPr>
        <p:txBody>
          <a:bodyPr wrap="square" rtlCol="0" anchor="ctr"/>
          <a:lstStyle/>
          <a:p>
            <a:pPr algn="ctr" indent="0" marL="0">
              <a:buNone/>
            </a:pPr>
            <a:r>
              <a:rPr lang="en-US" sz="1400" dirty="0">
                <a:solidFill>
                  <a:srgbClr val="444444"/>
                </a:solidFill>
                <a:latin typeface="Yu Gothic" pitchFamily="34" charset="0"/>
                <a:ea typeface="Yu Gothic" pitchFamily="34" charset="-122"/>
                <a:cs typeface="Yu Gothic" pitchFamily="34" charset="-120"/>
              </a:rPr>
              <a:t>県外</a:t>
            </a:r>
            <a:endParaRPr lang="en-US" sz="1400" dirty="0"/>
          </a:p>
        </p:txBody>
      </p:sp>
      <p:sp>
        <p:nvSpPr>
          <p:cNvPr id="15" name="Text 11"/>
          <p:cNvSpPr/>
          <p:nvPr/>
        </p:nvSpPr>
        <p:spPr>
          <a:xfrm>
            <a:off x="5212080" y="3108960"/>
            <a:ext cx="1737360" cy="640080"/>
          </a:xfrm>
          <a:prstGeom prst="rect">
            <a:avLst/>
          </a:prstGeom>
          <a:noFill/>
          <a:ln/>
        </p:spPr>
        <p:txBody>
          <a:bodyPr wrap="square" rtlCol="0" anchor="ctr"/>
          <a:lstStyle/>
          <a:p>
            <a:pPr algn="ctr" indent="0" marL="0">
              <a:buNone/>
            </a:pPr>
            <a:r>
              <a:rPr lang="en-US" sz="3000" b="1" dirty="0">
                <a:solidFill>
                  <a:srgbClr val="1B7A3E"/>
                </a:solidFill>
                <a:latin typeface="Yu Gothic" pitchFamily="34" charset="0"/>
                <a:ea typeface="Yu Gothic" pitchFamily="34" charset="-122"/>
                <a:cs typeface="Yu Gothic" pitchFamily="34" charset="-120"/>
              </a:rPr>
              <a:t>56%</a:t>
            </a:r>
            <a:endParaRPr lang="en-US" sz="3000" dirty="0"/>
          </a:p>
        </p:txBody>
      </p:sp>
      <p:sp>
        <p:nvSpPr>
          <p:cNvPr id="16" name="Shape 12"/>
          <p:cNvSpPr/>
          <p:nvPr/>
        </p:nvSpPr>
        <p:spPr>
          <a:xfrm>
            <a:off x="7132320" y="2651760"/>
            <a:ext cx="1737360" cy="1280160"/>
          </a:xfrm>
          <a:prstGeom prst="rect">
            <a:avLst/>
          </a:prstGeom>
          <a:solidFill>
            <a:srgbClr val="F5F5F5"/>
          </a:solidFill>
          <a:ln w="12700">
            <a:solidFill>
              <a:srgbClr val="DDDDDD"/>
            </a:solidFill>
            <a:prstDash val="solid"/>
          </a:ln>
        </p:spPr>
      </p:sp>
      <p:sp>
        <p:nvSpPr>
          <p:cNvPr id="17" name="Text 13"/>
          <p:cNvSpPr/>
          <p:nvPr/>
        </p:nvSpPr>
        <p:spPr>
          <a:xfrm>
            <a:off x="7132320" y="2715768"/>
            <a:ext cx="1737360" cy="365760"/>
          </a:xfrm>
          <a:prstGeom prst="rect">
            <a:avLst/>
          </a:prstGeom>
          <a:noFill/>
          <a:ln/>
        </p:spPr>
        <p:txBody>
          <a:bodyPr wrap="square" rtlCol="0" anchor="ctr"/>
          <a:lstStyle/>
          <a:p>
            <a:pPr algn="ctr" indent="0" marL="0">
              <a:buNone/>
            </a:pPr>
            <a:r>
              <a:rPr lang="en-US" sz="1400" dirty="0">
                <a:solidFill>
                  <a:srgbClr val="444444"/>
                </a:solidFill>
                <a:latin typeface="Yu Gothic" pitchFamily="34" charset="0"/>
                <a:ea typeface="Yu Gothic" pitchFamily="34" charset="-122"/>
                <a:cs typeface="Yu Gothic" pitchFamily="34" charset="-120"/>
              </a:rPr>
              <a:t>県内</a:t>
            </a:r>
            <a:endParaRPr lang="en-US" sz="1400" dirty="0"/>
          </a:p>
        </p:txBody>
      </p:sp>
      <p:sp>
        <p:nvSpPr>
          <p:cNvPr id="18" name="Text 14"/>
          <p:cNvSpPr/>
          <p:nvPr/>
        </p:nvSpPr>
        <p:spPr>
          <a:xfrm>
            <a:off x="7132320" y="3108960"/>
            <a:ext cx="1737360" cy="640080"/>
          </a:xfrm>
          <a:prstGeom prst="rect">
            <a:avLst/>
          </a:prstGeom>
          <a:noFill/>
          <a:ln/>
        </p:spPr>
        <p:txBody>
          <a:bodyPr wrap="square" rtlCol="0" anchor="ctr"/>
          <a:lstStyle/>
          <a:p>
            <a:pPr algn="ctr" indent="0" marL="0">
              <a:buNone/>
            </a:pPr>
            <a:r>
              <a:rPr lang="en-US" sz="3000" b="1" dirty="0">
                <a:solidFill>
                  <a:srgbClr val="555555"/>
                </a:solidFill>
                <a:latin typeface="Yu Gothic" pitchFamily="34" charset="0"/>
                <a:ea typeface="Yu Gothic" pitchFamily="34" charset="-122"/>
                <a:cs typeface="Yu Gothic" pitchFamily="34" charset="-120"/>
              </a:rPr>
              <a:t>44%</a:t>
            </a:r>
            <a:endParaRPr lang="en-US" sz="3000" dirty="0"/>
          </a:p>
        </p:txBody>
      </p:sp>
      <p:sp>
        <p:nvSpPr>
          <p:cNvPr id="19" name="Shape 15"/>
          <p:cNvSpPr/>
          <p:nvPr/>
        </p:nvSpPr>
        <p:spPr>
          <a:xfrm>
            <a:off x="5212080" y="4069080"/>
            <a:ext cx="3657600" cy="777240"/>
          </a:xfrm>
          <a:prstGeom prst="rect">
            <a:avLst/>
          </a:prstGeom>
          <a:solidFill>
            <a:srgbClr val="F5F5F5"/>
          </a:solidFill>
          <a:ln w="12700">
            <a:solidFill>
              <a:srgbClr val="DDDDDD"/>
            </a:solidFill>
            <a:prstDash val="solid"/>
          </a:ln>
        </p:spPr>
      </p:sp>
      <p:sp>
        <p:nvSpPr>
          <p:cNvPr id="20" name="Text 16"/>
          <p:cNvSpPr/>
          <p:nvPr/>
        </p:nvSpPr>
        <p:spPr>
          <a:xfrm>
            <a:off x="5303520" y="4114800"/>
            <a:ext cx="3474720" cy="685800"/>
          </a:xfrm>
          <a:prstGeom prst="rect">
            <a:avLst/>
          </a:prstGeom>
          <a:noFill/>
          <a:ln/>
        </p:spPr>
        <p:txBody>
          <a:bodyPr wrap="square" rtlCol="0" anchor="ctr"/>
          <a:lstStyle/>
          <a:p>
            <a:pPr indent="0" marL="0">
              <a:buNone/>
            </a:pPr>
            <a:r>
              <a:rPr lang="en-US" sz="1200" dirty="0">
                <a:solidFill>
                  <a:srgbClr val="444444"/>
                </a:solidFill>
                <a:latin typeface="Yu Gothic" pitchFamily="34" charset="0"/>
                <a:ea typeface="Yu Gothic" pitchFamily="34" charset="-122"/>
                <a:cs typeface="Yu Gothic" pitchFamily="34" charset="-120"/>
              </a:rPr>
              <a:t>県外ビジネス・レジャー利用＋地場代車を担う複合店舗</a:t>
            </a:r>
            <a:endParaRPr lang="en-US" sz="1200" dirty="0"/>
          </a:p>
        </p:txBody>
      </p:sp>
      <p:sp>
        <p:nvSpPr>
          <p:cNvPr id="21" name="Text 17"/>
          <p:cNvSpPr/>
          <p:nvPr/>
        </p:nvSpPr>
        <p:spPr>
          <a:xfrm>
            <a:off x="8778240" y="4846320"/>
            <a:ext cx="320040" cy="228600"/>
          </a:xfrm>
          <a:prstGeom prst="rect">
            <a:avLst/>
          </a:prstGeom>
          <a:noFill/>
          <a:ln/>
        </p:spPr>
        <p:txBody>
          <a:bodyPr wrap="square" rtlCol="0" anchor="ctr"/>
          <a:lstStyle/>
          <a:p>
            <a:pPr algn="r" indent="0" marL="0">
              <a:buNone/>
            </a:pPr>
            <a:r>
              <a:rPr lang="en-US" sz="1000" dirty="0">
                <a:solidFill>
                  <a:srgbClr val="999999"/>
                </a:solidFill>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502920"/>
            <a:ext cx="54864" cy="502920"/>
          </a:xfrm>
          <a:prstGeom prst="rect">
            <a:avLst/>
          </a:prstGeom>
          <a:solidFill>
            <a:srgbClr val="00A040"/>
          </a:solidFill>
          <a:ln w="12700">
            <a:solidFill>
              <a:srgbClr val="00A040"/>
            </a:solidFill>
            <a:prstDash val="solid"/>
          </a:ln>
        </p:spPr>
      </p:sp>
      <p:sp>
        <p:nvSpPr>
          <p:cNvPr id="3" name="Text 1"/>
          <p:cNvSpPr/>
          <p:nvPr/>
        </p:nvSpPr>
        <p:spPr>
          <a:xfrm>
            <a:off x="502920" y="457200"/>
            <a:ext cx="8321040" cy="594360"/>
          </a:xfrm>
          <a:prstGeom prst="rect">
            <a:avLst/>
          </a:prstGeom>
          <a:noFill/>
          <a:ln/>
        </p:spPr>
        <p:txBody>
          <a:bodyPr wrap="square" lIns="0" tIns="0" rIns="0" bIns="0" rtlCol="0" anchor="ctr"/>
          <a:lstStyle/>
          <a:p>
            <a:pPr indent="0" marL="0">
              <a:buNone/>
            </a:pPr>
            <a:r>
              <a:rPr lang="en-US" sz="2200" b="1" dirty="0">
                <a:solidFill>
                  <a:srgbClr val="222222"/>
                </a:solidFill>
                <a:latin typeface="Yu Gothic" pitchFamily="34" charset="0"/>
                <a:ea typeface="Yu Gothic" pitchFamily="34" charset="-122"/>
                <a:cs typeface="Yu Gothic" pitchFamily="34" charset="-120"/>
              </a:rPr>
              <a:t>利用目的の構成</a:t>
            </a:r>
            <a:endParaRPr lang="en-US" sz="2200" dirty="0"/>
          </a:p>
        </p:txBody>
      </p:sp>
      <p:sp>
        <p:nvSpPr>
          <p:cNvPr id="4" name="Shape 2"/>
          <p:cNvSpPr/>
          <p:nvPr/>
        </p:nvSpPr>
        <p:spPr>
          <a:xfrm>
            <a:off x="365760" y="1051560"/>
            <a:ext cx="8412480" cy="0"/>
          </a:xfrm>
          <a:prstGeom prst="line">
            <a:avLst/>
          </a:prstGeom>
          <a:noFill/>
          <a:ln w="12700">
            <a:solidFill>
              <a:srgbClr val="E0E0E0"/>
            </a:solidFill>
            <a:prstDash val="solid"/>
          </a:ln>
        </p:spPr>
      </p:sp>
      <p:graphicFrame>
        <p:nvGraphicFramePr>
          <p:cNvPr id="5" name="Chart 0" descr=""/>
          <p:cNvGraphicFramePr/>
          <p:nvPr/>
        </p:nvGraphicFramePr>
        <p:xfrm>
          <a:off x="457200" y="1188720"/>
          <a:ext cx="5029200" cy="36576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760720" y="1234440"/>
            <a:ext cx="3108960" cy="1051560"/>
          </a:xfrm>
          <a:prstGeom prst="rect">
            <a:avLst/>
          </a:prstGeom>
          <a:solidFill>
            <a:srgbClr val="FAFAFA"/>
          </a:solidFill>
          <a:ln w="12700">
            <a:solidFill>
              <a:srgbClr val="E0E0E0"/>
            </a:solidFill>
            <a:prstDash val="solid"/>
          </a:ln>
        </p:spPr>
      </p:sp>
      <p:sp>
        <p:nvSpPr>
          <p:cNvPr id="7" name="Shape 4"/>
          <p:cNvSpPr/>
          <p:nvPr/>
        </p:nvSpPr>
        <p:spPr>
          <a:xfrm>
            <a:off x="5760720" y="1234440"/>
            <a:ext cx="91440" cy="1051560"/>
          </a:xfrm>
          <a:prstGeom prst="rect">
            <a:avLst/>
          </a:prstGeom>
          <a:solidFill>
            <a:srgbClr val="4472C4"/>
          </a:solidFill>
          <a:ln w="12700">
            <a:solidFill>
              <a:srgbClr val="4472C4"/>
            </a:solidFill>
            <a:prstDash val="solid"/>
          </a:ln>
        </p:spPr>
      </p:sp>
      <p:sp>
        <p:nvSpPr>
          <p:cNvPr id="8" name="Text 5"/>
          <p:cNvSpPr/>
          <p:nvPr/>
        </p:nvSpPr>
        <p:spPr>
          <a:xfrm>
            <a:off x="5943600" y="1307592"/>
            <a:ext cx="1371600" cy="365760"/>
          </a:xfrm>
          <a:prstGeom prst="rect">
            <a:avLst/>
          </a:prstGeom>
          <a:noFill/>
          <a:ln/>
        </p:spPr>
        <p:txBody>
          <a:bodyPr wrap="square" lIns="0" tIns="0" rIns="0" bIns="0" rtlCol="0" anchor="ctr"/>
          <a:lstStyle/>
          <a:p>
            <a:pPr indent="0" marL="0">
              <a:buNone/>
            </a:pPr>
            <a:r>
              <a:rPr lang="en-US" sz="1500" b="1" dirty="0">
                <a:solidFill>
                  <a:srgbClr val="222222"/>
                </a:solidFill>
                <a:latin typeface="Yu Gothic" pitchFamily="34" charset="0"/>
                <a:ea typeface="Yu Gothic" pitchFamily="34" charset="-122"/>
                <a:cs typeface="Yu Gothic" pitchFamily="34" charset="-120"/>
              </a:rPr>
              <a:t>ビジネス</a:t>
            </a:r>
            <a:endParaRPr lang="en-US" sz="1500" dirty="0"/>
          </a:p>
        </p:txBody>
      </p:sp>
      <p:sp>
        <p:nvSpPr>
          <p:cNvPr id="9" name="Text 6"/>
          <p:cNvSpPr/>
          <p:nvPr/>
        </p:nvSpPr>
        <p:spPr>
          <a:xfrm>
            <a:off x="7132320" y="1307592"/>
            <a:ext cx="1645920" cy="365760"/>
          </a:xfrm>
          <a:prstGeom prst="rect">
            <a:avLst/>
          </a:prstGeom>
          <a:noFill/>
          <a:ln/>
        </p:spPr>
        <p:txBody>
          <a:bodyPr wrap="square" lIns="0" tIns="0" rIns="0" bIns="0" rtlCol="0" anchor="ctr"/>
          <a:lstStyle/>
          <a:p>
            <a:pPr algn="r" indent="0" marL="0">
              <a:buNone/>
            </a:pPr>
            <a:r>
              <a:rPr lang="en-US" sz="2200" b="1" dirty="0">
                <a:solidFill>
                  <a:srgbClr val="1A3A7A"/>
                </a:solidFill>
                <a:latin typeface="Yu Gothic" pitchFamily="34" charset="0"/>
                <a:ea typeface="Yu Gothic" pitchFamily="34" charset="-122"/>
                <a:cs typeface="Yu Gothic" pitchFamily="34" charset="-120"/>
              </a:rPr>
              <a:t>24％</a:t>
            </a:r>
            <a:endParaRPr lang="en-US" sz="2200" dirty="0"/>
          </a:p>
        </p:txBody>
      </p:sp>
      <p:sp>
        <p:nvSpPr>
          <p:cNvPr id="10" name="Text 7"/>
          <p:cNvSpPr/>
          <p:nvPr/>
        </p:nvSpPr>
        <p:spPr>
          <a:xfrm>
            <a:off x="5943600" y="1737360"/>
            <a:ext cx="2834640" cy="411480"/>
          </a:xfrm>
          <a:prstGeom prst="rect">
            <a:avLst/>
          </a:prstGeom>
          <a:noFill/>
          <a:ln/>
        </p:spPr>
        <p:txBody>
          <a:bodyPr wrap="square" lIns="0" tIns="0" rIns="0" bIns="0" rtlCol="0" anchor="ctr"/>
          <a:lstStyle/>
          <a:p>
            <a:pPr indent="0" marL="0">
              <a:buNone/>
            </a:pPr>
            <a:r>
              <a:rPr lang="en-US" sz="1300" dirty="0">
                <a:solidFill>
                  <a:srgbClr val="666666"/>
                </a:solidFill>
                <a:latin typeface="Yu Gothic" pitchFamily="34" charset="0"/>
                <a:ea typeface="Yu Gothic" pitchFamily="34" charset="-122"/>
                <a:cs typeface="Yu Gothic" pitchFamily="34" charset="-120"/>
              </a:rPr>
              <a:t>出張・業務利用</a:t>
            </a:r>
            <a:endParaRPr lang="en-US" sz="1300" dirty="0"/>
          </a:p>
        </p:txBody>
      </p:sp>
      <p:sp>
        <p:nvSpPr>
          <p:cNvPr id="11" name="Shape 8"/>
          <p:cNvSpPr/>
          <p:nvPr/>
        </p:nvSpPr>
        <p:spPr>
          <a:xfrm>
            <a:off x="5760720" y="2468880"/>
            <a:ext cx="3108960" cy="1051560"/>
          </a:xfrm>
          <a:prstGeom prst="rect">
            <a:avLst/>
          </a:prstGeom>
          <a:solidFill>
            <a:srgbClr val="FAFAFA"/>
          </a:solidFill>
          <a:ln w="12700">
            <a:solidFill>
              <a:srgbClr val="E0E0E0"/>
            </a:solidFill>
            <a:prstDash val="solid"/>
          </a:ln>
        </p:spPr>
      </p:sp>
      <p:sp>
        <p:nvSpPr>
          <p:cNvPr id="12" name="Shape 9"/>
          <p:cNvSpPr/>
          <p:nvPr/>
        </p:nvSpPr>
        <p:spPr>
          <a:xfrm>
            <a:off x="5760720" y="2468880"/>
            <a:ext cx="91440" cy="1051560"/>
          </a:xfrm>
          <a:prstGeom prst="rect">
            <a:avLst/>
          </a:prstGeom>
          <a:solidFill>
            <a:srgbClr val="F4A020"/>
          </a:solidFill>
          <a:ln w="12700">
            <a:solidFill>
              <a:srgbClr val="F4A020"/>
            </a:solidFill>
            <a:prstDash val="solid"/>
          </a:ln>
        </p:spPr>
      </p:sp>
      <p:sp>
        <p:nvSpPr>
          <p:cNvPr id="13" name="Text 10"/>
          <p:cNvSpPr/>
          <p:nvPr/>
        </p:nvSpPr>
        <p:spPr>
          <a:xfrm>
            <a:off x="5943600" y="2542032"/>
            <a:ext cx="1371600" cy="365760"/>
          </a:xfrm>
          <a:prstGeom prst="rect">
            <a:avLst/>
          </a:prstGeom>
          <a:noFill/>
          <a:ln/>
        </p:spPr>
        <p:txBody>
          <a:bodyPr wrap="square" lIns="0" tIns="0" rIns="0" bIns="0" rtlCol="0" anchor="ctr"/>
          <a:lstStyle/>
          <a:p>
            <a:pPr indent="0" marL="0">
              <a:buNone/>
            </a:pPr>
            <a:r>
              <a:rPr lang="en-US" sz="1500" b="1" dirty="0">
                <a:solidFill>
                  <a:srgbClr val="222222"/>
                </a:solidFill>
                <a:latin typeface="Yu Gothic" pitchFamily="34" charset="0"/>
                <a:ea typeface="Yu Gothic" pitchFamily="34" charset="-122"/>
                <a:cs typeface="Yu Gothic" pitchFamily="34" charset="-120"/>
              </a:rPr>
              <a:t>レジャー</a:t>
            </a:r>
            <a:endParaRPr lang="en-US" sz="1500" dirty="0"/>
          </a:p>
        </p:txBody>
      </p:sp>
      <p:sp>
        <p:nvSpPr>
          <p:cNvPr id="14" name="Text 11"/>
          <p:cNvSpPr/>
          <p:nvPr/>
        </p:nvSpPr>
        <p:spPr>
          <a:xfrm>
            <a:off x="7132320" y="2542032"/>
            <a:ext cx="1645920" cy="365760"/>
          </a:xfrm>
          <a:prstGeom prst="rect">
            <a:avLst/>
          </a:prstGeom>
          <a:noFill/>
          <a:ln/>
        </p:spPr>
        <p:txBody>
          <a:bodyPr wrap="square" lIns="0" tIns="0" rIns="0" bIns="0" rtlCol="0" anchor="ctr"/>
          <a:lstStyle/>
          <a:p>
            <a:pPr algn="r" indent="0" marL="0">
              <a:buNone/>
            </a:pPr>
            <a:r>
              <a:rPr lang="en-US" sz="2200" b="1" dirty="0">
                <a:solidFill>
                  <a:srgbClr val="A0690A"/>
                </a:solidFill>
                <a:latin typeface="Yu Gothic" pitchFamily="34" charset="0"/>
                <a:ea typeface="Yu Gothic" pitchFamily="34" charset="-122"/>
                <a:cs typeface="Yu Gothic" pitchFamily="34" charset="-120"/>
              </a:rPr>
              <a:t>40％</a:t>
            </a:r>
            <a:endParaRPr lang="en-US" sz="2200" dirty="0"/>
          </a:p>
        </p:txBody>
      </p:sp>
      <p:sp>
        <p:nvSpPr>
          <p:cNvPr id="15" name="Text 12"/>
          <p:cNvSpPr/>
          <p:nvPr/>
        </p:nvSpPr>
        <p:spPr>
          <a:xfrm>
            <a:off x="5943600" y="2971800"/>
            <a:ext cx="2834640" cy="411480"/>
          </a:xfrm>
          <a:prstGeom prst="rect">
            <a:avLst/>
          </a:prstGeom>
          <a:noFill/>
          <a:ln/>
        </p:spPr>
        <p:txBody>
          <a:bodyPr wrap="square" lIns="0" tIns="0" rIns="0" bIns="0" rtlCol="0" anchor="ctr"/>
          <a:lstStyle/>
          <a:p>
            <a:pPr indent="0" marL="0">
              <a:buNone/>
            </a:pPr>
            <a:r>
              <a:rPr lang="en-US" sz="1300" dirty="0">
                <a:solidFill>
                  <a:srgbClr val="666666"/>
                </a:solidFill>
                <a:latin typeface="Yu Gothic" pitchFamily="34" charset="0"/>
                <a:ea typeface="Yu Gothic" pitchFamily="34" charset="-122"/>
                <a:cs typeface="Yu Gothic" pitchFamily="34" charset="-120"/>
              </a:rPr>
              <a:t>観光・旅行利用</a:t>
            </a:r>
            <a:endParaRPr lang="en-US" sz="1300" dirty="0"/>
          </a:p>
        </p:txBody>
      </p:sp>
      <p:sp>
        <p:nvSpPr>
          <p:cNvPr id="16" name="Shape 13"/>
          <p:cNvSpPr/>
          <p:nvPr/>
        </p:nvSpPr>
        <p:spPr>
          <a:xfrm>
            <a:off x="5760720" y="3703320"/>
            <a:ext cx="3108960" cy="1051560"/>
          </a:xfrm>
          <a:prstGeom prst="rect">
            <a:avLst/>
          </a:prstGeom>
          <a:solidFill>
            <a:srgbClr val="FAFAFA"/>
          </a:solidFill>
          <a:ln w="12700">
            <a:solidFill>
              <a:srgbClr val="E0E0E0"/>
            </a:solidFill>
            <a:prstDash val="solid"/>
          </a:ln>
        </p:spPr>
      </p:sp>
      <p:sp>
        <p:nvSpPr>
          <p:cNvPr id="17" name="Shape 14"/>
          <p:cNvSpPr/>
          <p:nvPr/>
        </p:nvSpPr>
        <p:spPr>
          <a:xfrm>
            <a:off x="5760720" y="3703320"/>
            <a:ext cx="91440" cy="1051560"/>
          </a:xfrm>
          <a:prstGeom prst="rect">
            <a:avLst/>
          </a:prstGeom>
          <a:solidFill>
            <a:srgbClr val="5FAD56"/>
          </a:solidFill>
          <a:ln w="12700">
            <a:solidFill>
              <a:srgbClr val="5FAD56"/>
            </a:solidFill>
            <a:prstDash val="solid"/>
          </a:ln>
        </p:spPr>
      </p:sp>
      <p:sp>
        <p:nvSpPr>
          <p:cNvPr id="18" name="Text 15"/>
          <p:cNvSpPr/>
          <p:nvPr/>
        </p:nvSpPr>
        <p:spPr>
          <a:xfrm>
            <a:off x="5943600" y="3776472"/>
            <a:ext cx="1371600" cy="365760"/>
          </a:xfrm>
          <a:prstGeom prst="rect">
            <a:avLst/>
          </a:prstGeom>
          <a:noFill/>
          <a:ln/>
        </p:spPr>
        <p:txBody>
          <a:bodyPr wrap="square" lIns="0" tIns="0" rIns="0" bIns="0" rtlCol="0" anchor="ctr"/>
          <a:lstStyle/>
          <a:p>
            <a:pPr indent="0" marL="0">
              <a:buNone/>
            </a:pPr>
            <a:r>
              <a:rPr lang="en-US" sz="1500" b="1" dirty="0">
                <a:solidFill>
                  <a:srgbClr val="222222"/>
                </a:solidFill>
                <a:latin typeface="Yu Gothic" pitchFamily="34" charset="0"/>
                <a:ea typeface="Yu Gothic" pitchFamily="34" charset="-122"/>
                <a:cs typeface="Yu Gothic" pitchFamily="34" charset="-120"/>
              </a:rPr>
              <a:t>代　車</a:t>
            </a:r>
            <a:endParaRPr lang="en-US" sz="1500" dirty="0"/>
          </a:p>
        </p:txBody>
      </p:sp>
      <p:sp>
        <p:nvSpPr>
          <p:cNvPr id="19" name="Text 16"/>
          <p:cNvSpPr/>
          <p:nvPr/>
        </p:nvSpPr>
        <p:spPr>
          <a:xfrm>
            <a:off x="7132320" y="3776472"/>
            <a:ext cx="1645920" cy="365760"/>
          </a:xfrm>
          <a:prstGeom prst="rect">
            <a:avLst/>
          </a:prstGeom>
          <a:noFill/>
          <a:ln/>
        </p:spPr>
        <p:txBody>
          <a:bodyPr wrap="square" lIns="0" tIns="0" rIns="0" bIns="0" rtlCol="0" anchor="ctr"/>
          <a:lstStyle/>
          <a:p>
            <a:pPr algn="r" indent="0" marL="0">
              <a:buNone/>
            </a:pPr>
            <a:r>
              <a:rPr lang="en-US" sz="2200" b="1" dirty="0">
                <a:solidFill>
                  <a:srgbClr val="2E7A2E"/>
                </a:solidFill>
                <a:latin typeface="Yu Gothic" pitchFamily="34" charset="0"/>
                <a:ea typeface="Yu Gothic" pitchFamily="34" charset="-122"/>
                <a:cs typeface="Yu Gothic" pitchFamily="34" charset="-120"/>
              </a:rPr>
              <a:t>36％</a:t>
            </a:r>
            <a:endParaRPr lang="en-US" sz="2200" dirty="0"/>
          </a:p>
        </p:txBody>
      </p:sp>
      <p:sp>
        <p:nvSpPr>
          <p:cNvPr id="20" name="Text 17"/>
          <p:cNvSpPr/>
          <p:nvPr/>
        </p:nvSpPr>
        <p:spPr>
          <a:xfrm>
            <a:off x="5943600" y="4206240"/>
            <a:ext cx="2834640" cy="411480"/>
          </a:xfrm>
          <a:prstGeom prst="rect">
            <a:avLst/>
          </a:prstGeom>
          <a:noFill/>
          <a:ln/>
        </p:spPr>
        <p:txBody>
          <a:bodyPr wrap="square" lIns="0" tIns="0" rIns="0" bIns="0" rtlCol="0" anchor="ctr"/>
          <a:lstStyle/>
          <a:p>
            <a:pPr indent="0" marL="0">
              <a:buNone/>
            </a:pPr>
            <a:r>
              <a:rPr lang="en-US" sz="1300" dirty="0">
                <a:solidFill>
                  <a:srgbClr val="666666"/>
                </a:solidFill>
                <a:latin typeface="Yu Gothic" pitchFamily="34" charset="0"/>
                <a:ea typeface="Yu Gothic" pitchFamily="34" charset="-122"/>
                <a:cs typeface="Yu Gothic" pitchFamily="34" charset="-120"/>
              </a:rPr>
              <a:t>地場配車・引取</a:t>
            </a:r>
            <a:endParaRPr lang="en-US" sz="1300" dirty="0"/>
          </a:p>
        </p:txBody>
      </p:sp>
      <p:sp>
        <p:nvSpPr>
          <p:cNvPr id="21" name="Text 18"/>
          <p:cNvSpPr/>
          <p:nvPr/>
        </p:nvSpPr>
        <p:spPr>
          <a:xfrm>
            <a:off x="8778240" y="4846320"/>
            <a:ext cx="320040" cy="228600"/>
          </a:xfrm>
          <a:prstGeom prst="rect">
            <a:avLst/>
          </a:prstGeom>
          <a:noFill/>
          <a:ln/>
        </p:spPr>
        <p:txBody>
          <a:bodyPr wrap="square" rtlCol="0" anchor="ctr"/>
          <a:lstStyle/>
          <a:p>
            <a:pPr algn="r" indent="0" marL="0">
              <a:buNone/>
            </a:pPr>
            <a:r>
              <a:rPr lang="en-US" sz="1000" dirty="0">
                <a:solidFill>
                  <a:srgbClr val="999999"/>
                </a:solidFill>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502920"/>
            <a:ext cx="54864" cy="502920"/>
          </a:xfrm>
          <a:prstGeom prst="rect">
            <a:avLst/>
          </a:prstGeom>
          <a:solidFill>
            <a:srgbClr val="00A040"/>
          </a:solidFill>
          <a:ln w="12700">
            <a:solidFill>
              <a:srgbClr val="00A040"/>
            </a:solidFill>
            <a:prstDash val="solid"/>
          </a:ln>
        </p:spPr>
      </p:sp>
      <p:sp>
        <p:nvSpPr>
          <p:cNvPr id="3" name="Text 1"/>
          <p:cNvSpPr/>
          <p:nvPr/>
        </p:nvSpPr>
        <p:spPr>
          <a:xfrm>
            <a:off x="502920" y="457200"/>
            <a:ext cx="8321040" cy="594360"/>
          </a:xfrm>
          <a:prstGeom prst="rect">
            <a:avLst/>
          </a:prstGeom>
          <a:noFill/>
          <a:ln/>
        </p:spPr>
        <p:txBody>
          <a:bodyPr wrap="square" lIns="0" tIns="0" rIns="0" bIns="0" rtlCol="0" anchor="ctr"/>
          <a:lstStyle/>
          <a:p>
            <a:pPr indent="0" marL="0">
              <a:buNone/>
            </a:pPr>
            <a:r>
              <a:rPr lang="en-US" sz="2200" b="1" dirty="0">
                <a:solidFill>
                  <a:srgbClr val="222222"/>
                </a:solidFill>
                <a:latin typeface="Yu Gothic" pitchFamily="34" charset="0"/>
                <a:ea typeface="Yu Gothic" pitchFamily="34" charset="-122"/>
                <a:cs typeface="Yu Gothic" pitchFamily="34" charset="-120"/>
              </a:rPr>
              <a:t>時間帯による出発・返却の集中</a:t>
            </a:r>
            <a:endParaRPr lang="en-US" sz="2200" dirty="0"/>
          </a:p>
        </p:txBody>
      </p:sp>
      <p:sp>
        <p:nvSpPr>
          <p:cNvPr id="4" name="Shape 2"/>
          <p:cNvSpPr/>
          <p:nvPr/>
        </p:nvSpPr>
        <p:spPr>
          <a:xfrm>
            <a:off x="365760" y="1051560"/>
            <a:ext cx="8412480" cy="0"/>
          </a:xfrm>
          <a:prstGeom prst="line">
            <a:avLst/>
          </a:prstGeom>
          <a:noFill/>
          <a:ln w="12700">
            <a:solidFill>
              <a:srgbClr val="E0E0E0"/>
            </a:solidFill>
            <a:prstDash val="solid"/>
          </a:ln>
        </p:spPr>
      </p:sp>
      <p:sp>
        <p:nvSpPr>
          <p:cNvPr id="5" name="Text 3"/>
          <p:cNvSpPr/>
          <p:nvPr/>
        </p:nvSpPr>
        <p:spPr>
          <a:xfrm>
            <a:off x="457200" y="1371600"/>
            <a:ext cx="713232" cy="274320"/>
          </a:xfrm>
          <a:prstGeom prst="rect">
            <a:avLst/>
          </a:prstGeom>
          <a:noFill/>
          <a:ln/>
        </p:spPr>
        <p:txBody>
          <a:bodyPr wrap="square" rtlCol="0" anchor="ctr"/>
          <a:lstStyle/>
          <a:p>
            <a:pPr algn="ctr" indent="0" marL="0">
              <a:buNone/>
            </a:pPr>
            <a:r>
              <a:rPr lang="en-US" sz="1000" dirty="0">
                <a:solidFill>
                  <a:srgbClr val="888888"/>
                </a:solidFill>
                <a:latin typeface="Yu Gothic" pitchFamily="34" charset="0"/>
                <a:ea typeface="Yu Gothic" pitchFamily="34" charset="-122"/>
                <a:cs typeface="Yu Gothic" pitchFamily="34" charset="-120"/>
              </a:rPr>
              <a:t>8時</a:t>
            </a:r>
            <a:endParaRPr lang="en-US" sz="1000" dirty="0"/>
          </a:p>
        </p:txBody>
      </p:sp>
      <p:sp>
        <p:nvSpPr>
          <p:cNvPr id="6" name="Text 4"/>
          <p:cNvSpPr/>
          <p:nvPr/>
        </p:nvSpPr>
        <p:spPr>
          <a:xfrm>
            <a:off x="1170432" y="1371600"/>
            <a:ext cx="713232" cy="274320"/>
          </a:xfrm>
          <a:prstGeom prst="rect">
            <a:avLst/>
          </a:prstGeom>
          <a:noFill/>
          <a:ln/>
        </p:spPr>
        <p:txBody>
          <a:bodyPr wrap="square" rtlCol="0" anchor="ctr"/>
          <a:lstStyle/>
          <a:p>
            <a:pPr algn="ctr" indent="0" marL="0">
              <a:buNone/>
            </a:pPr>
            <a:r>
              <a:rPr lang="en-US" sz="1000" dirty="0">
                <a:solidFill>
                  <a:srgbClr val="888888"/>
                </a:solidFill>
                <a:latin typeface="Yu Gothic" pitchFamily="34" charset="0"/>
                <a:ea typeface="Yu Gothic" pitchFamily="34" charset="-122"/>
                <a:cs typeface="Yu Gothic" pitchFamily="34" charset="-120"/>
              </a:rPr>
              <a:t>9時</a:t>
            </a:r>
            <a:endParaRPr lang="en-US" sz="1000" dirty="0"/>
          </a:p>
        </p:txBody>
      </p:sp>
      <p:sp>
        <p:nvSpPr>
          <p:cNvPr id="7" name="Text 5"/>
          <p:cNvSpPr/>
          <p:nvPr/>
        </p:nvSpPr>
        <p:spPr>
          <a:xfrm>
            <a:off x="1883664" y="1371600"/>
            <a:ext cx="713232" cy="274320"/>
          </a:xfrm>
          <a:prstGeom prst="rect">
            <a:avLst/>
          </a:prstGeom>
          <a:noFill/>
          <a:ln/>
        </p:spPr>
        <p:txBody>
          <a:bodyPr wrap="square" rtlCol="0" anchor="ctr"/>
          <a:lstStyle/>
          <a:p>
            <a:pPr algn="ctr" indent="0" marL="0">
              <a:buNone/>
            </a:pPr>
            <a:r>
              <a:rPr lang="en-US" sz="1000" dirty="0">
                <a:solidFill>
                  <a:srgbClr val="888888"/>
                </a:solidFill>
                <a:latin typeface="Yu Gothic" pitchFamily="34" charset="0"/>
                <a:ea typeface="Yu Gothic" pitchFamily="34" charset="-122"/>
                <a:cs typeface="Yu Gothic" pitchFamily="34" charset="-120"/>
              </a:rPr>
              <a:t>10時</a:t>
            </a:r>
            <a:endParaRPr lang="en-US" sz="1000" dirty="0"/>
          </a:p>
        </p:txBody>
      </p:sp>
      <p:sp>
        <p:nvSpPr>
          <p:cNvPr id="8" name="Text 6"/>
          <p:cNvSpPr/>
          <p:nvPr/>
        </p:nvSpPr>
        <p:spPr>
          <a:xfrm>
            <a:off x="2596896" y="1371600"/>
            <a:ext cx="713232" cy="274320"/>
          </a:xfrm>
          <a:prstGeom prst="rect">
            <a:avLst/>
          </a:prstGeom>
          <a:noFill/>
          <a:ln/>
        </p:spPr>
        <p:txBody>
          <a:bodyPr wrap="square" rtlCol="0" anchor="ctr"/>
          <a:lstStyle/>
          <a:p>
            <a:pPr algn="ctr" indent="0" marL="0">
              <a:buNone/>
            </a:pPr>
            <a:r>
              <a:rPr lang="en-US" sz="1000" dirty="0">
                <a:solidFill>
                  <a:srgbClr val="888888"/>
                </a:solidFill>
                <a:latin typeface="Yu Gothic" pitchFamily="34" charset="0"/>
                <a:ea typeface="Yu Gothic" pitchFamily="34" charset="-122"/>
                <a:cs typeface="Yu Gothic" pitchFamily="34" charset="-120"/>
              </a:rPr>
              <a:t>11時</a:t>
            </a:r>
            <a:endParaRPr lang="en-US" sz="1000" dirty="0"/>
          </a:p>
        </p:txBody>
      </p:sp>
      <p:sp>
        <p:nvSpPr>
          <p:cNvPr id="9" name="Text 7"/>
          <p:cNvSpPr/>
          <p:nvPr/>
        </p:nvSpPr>
        <p:spPr>
          <a:xfrm>
            <a:off x="3310128" y="1371600"/>
            <a:ext cx="713232" cy="274320"/>
          </a:xfrm>
          <a:prstGeom prst="rect">
            <a:avLst/>
          </a:prstGeom>
          <a:noFill/>
          <a:ln/>
        </p:spPr>
        <p:txBody>
          <a:bodyPr wrap="square" rtlCol="0" anchor="ctr"/>
          <a:lstStyle/>
          <a:p>
            <a:pPr algn="ctr" indent="0" marL="0">
              <a:buNone/>
            </a:pPr>
            <a:r>
              <a:rPr lang="en-US" sz="1000" dirty="0">
                <a:solidFill>
                  <a:srgbClr val="888888"/>
                </a:solidFill>
                <a:latin typeface="Yu Gothic" pitchFamily="34" charset="0"/>
                <a:ea typeface="Yu Gothic" pitchFamily="34" charset="-122"/>
                <a:cs typeface="Yu Gothic" pitchFamily="34" charset="-120"/>
              </a:rPr>
              <a:t>12時</a:t>
            </a:r>
            <a:endParaRPr lang="en-US" sz="1000" dirty="0"/>
          </a:p>
        </p:txBody>
      </p:sp>
      <p:sp>
        <p:nvSpPr>
          <p:cNvPr id="10" name="Text 8"/>
          <p:cNvSpPr/>
          <p:nvPr/>
        </p:nvSpPr>
        <p:spPr>
          <a:xfrm>
            <a:off x="4023360" y="1371600"/>
            <a:ext cx="713232" cy="274320"/>
          </a:xfrm>
          <a:prstGeom prst="rect">
            <a:avLst/>
          </a:prstGeom>
          <a:noFill/>
          <a:ln/>
        </p:spPr>
        <p:txBody>
          <a:bodyPr wrap="square" rtlCol="0" anchor="ctr"/>
          <a:lstStyle/>
          <a:p>
            <a:pPr algn="ctr" indent="0" marL="0">
              <a:buNone/>
            </a:pPr>
            <a:r>
              <a:rPr lang="en-US" sz="1000" dirty="0">
                <a:solidFill>
                  <a:srgbClr val="888888"/>
                </a:solidFill>
                <a:latin typeface="Yu Gothic" pitchFamily="34" charset="0"/>
                <a:ea typeface="Yu Gothic" pitchFamily="34" charset="-122"/>
                <a:cs typeface="Yu Gothic" pitchFamily="34" charset="-120"/>
              </a:rPr>
              <a:t>13時</a:t>
            </a:r>
            <a:endParaRPr lang="en-US" sz="1000" dirty="0"/>
          </a:p>
        </p:txBody>
      </p:sp>
      <p:sp>
        <p:nvSpPr>
          <p:cNvPr id="11" name="Text 9"/>
          <p:cNvSpPr/>
          <p:nvPr/>
        </p:nvSpPr>
        <p:spPr>
          <a:xfrm>
            <a:off x="4736592" y="1371600"/>
            <a:ext cx="713232" cy="274320"/>
          </a:xfrm>
          <a:prstGeom prst="rect">
            <a:avLst/>
          </a:prstGeom>
          <a:noFill/>
          <a:ln/>
        </p:spPr>
        <p:txBody>
          <a:bodyPr wrap="square" rtlCol="0" anchor="ctr"/>
          <a:lstStyle/>
          <a:p>
            <a:pPr algn="ctr" indent="0" marL="0">
              <a:buNone/>
            </a:pPr>
            <a:r>
              <a:rPr lang="en-US" sz="1000" dirty="0">
                <a:solidFill>
                  <a:srgbClr val="888888"/>
                </a:solidFill>
                <a:latin typeface="Yu Gothic" pitchFamily="34" charset="0"/>
                <a:ea typeface="Yu Gothic" pitchFamily="34" charset="-122"/>
                <a:cs typeface="Yu Gothic" pitchFamily="34" charset="-120"/>
              </a:rPr>
              <a:t>14時</a:t>
            </a:r>
            <a:endParaRPr lang="en-US" sz="1000" dirty="0"/>
          </a:p>
        </p:txBody>
      </p:sp>
      <p:sp>
        <p:nvSpPr>
          <p:cNvPr id="12" name="Text 10"/>
          <p:cNvSpPr/>
          <p:nvPr/>
        </p:nvSpPr>
        <p:spPr>
          <a:xfrm>
            <a:off x="5449824" y="1371600"/>
            <a:ext cx="713232" cy="274320"/>
          </a:xfrm>
          <a:prstGeom prst="rect">
            <a:avLst/>
          </a:prstGeom>
          <a:noFill/>
          <a:ln/>
        </p:spPr>
        <p:txBody>
          <a:bodyPr wrap="square" rtlCol="0" anchor="ctr"/>
          <a:lstStyle/>
          <a:p>
            <a:pPr algn="ctr" indent="0" marL="0">
              <a:buNone/>
            </a:pPr>
            <a:r>
              <a:rPr lang="en-US" sz="1000" dirty="0">
                <a:solidFill>
                  <a:srgbClr val="888888"/>
                </a:solidFill>
                <a:latin typeface="Yu Gothic" pitchFamily="34" charset="0"/>
                <a:ea typeface="Yu Gothic" pitchFamily="34" charset="-122"/>
                <a:cs typeface="Yu Gothic" pitchFamily="34" charset="-120"/>
              </a:rPr>
              <a:t>15時</a:t>
            </a:r>
            <a:endParaRPr lang="en-US" sz="1000" dirty="0"/>
          </a:p>
        </p:txBody>
      </p:sp>
      <p:sp>
        <p:nvSpPr>
          <p:cNvPr id="13" name="Text 11"/>
          <p:cNvSpPr/>
          <p:nvPr/>
        </p:nvSpPr>
        <p:spPr>
          <a:xfrm>
            <a:off x="6163056" y="1371600"/>
            <a:ext cx="713232" cy="274320"/>
          </a:xfrm>
          <a:prstGeom prst="rect">
            <a:avLst/>
          </a:prstGeom>
          <a:noFill/>
          <a:ln/>
        </p:spPr>
        <p:txBody>
          <a:bodyPr wrap="square" rtlCol="0" anchor="ctr"/>
          <a:lstStyle/>
          <a:p>
            <a:pPr algn="ctr" indent="0" marL="0">
              <a:buNone/>
            </a:pPr>
            <a:r>
              <a:rPr lang="en-US" sz="1000" dirty="0">
                <a:solidFill>
                  <a:srgbClr val="888888"/>
                </a:solidFill>
                <a:latin typeface="Yu Gothic" pitchFamily="34" charset="0"/>
                <a:ea typeface="Yu Gothic" pitchFamily="34" charset="-122"/>
                <a:cs typeface="Yu Gothic" pitchFamily="34" charset="-120"/>
              </a:rPr>
              <a:t>16時</a:t>
            </a:r>
            <a:endParaRPr lang="en-US" sz="1000" dirty="0"/>
          </a:p>
        </p:txBody>
      </p:sp>
      <p:sp>
        <p:nvSpPr>
          <p:cNvPr id="14" name="Text 12"/>
          <p:cNvSpPr/>
          <p:nvPr/>
        </p:nvSpPr>
        <p:spPr>
          <a:xfrm>
            <a:off x="6876288" y="1371600"/>
            <a:ext cx="713232" cy="274320"/>
          </a:xfrm>
          <a:prstGeom prst="rect">
            <a:avLst/>
          </a:prstGeom>
          <a:noFill/>
          <a:ln/>
        </p:spPr>
        <p:txBody>
          <a:bodyPr wrap="square" rtlCol="0" anchor="ctr"/>
          <a:lstStyle/>
          <a:p>
            <a:pPr algn="ctr" indent="0" marL="0">
              <a:buNone/>
            </a:pPr>
            <a:r>
              <a:rPr lang="en-US" sz="1000" dirty="0">
                <a:solidFill>
                  <a:srgbClr val="888888"/>
                </a:solidFill>
                <a:latin typeface="Yu Gothic" pitchFamily="34" charset="0"/>
                <a:ea typeface="Yu Gothic" pitchFamily="34" charset="-122"/>
                <a:cs typeface="Yu Gothic" pitchFamily="34" charset="-120"/>
              </a:rPr>
              <a:t>17時</a:t>
            </a:r>
            <a:endParaRPr lang="en-US" sz="1000" dirty="0"/>
          </a:p>
        </p:txBody>
      </p:sp>
      <p:sp>
        <p:nvSpPr>
          <p:cNvPr id="15" name="Text 13"/>
          <p:cNvSpPr/>
          <p:nvPr/>
        </p:nvSpPr>
        <p:spPr>
          <a:xfrm>
            <a:off x="7589520" y="1371600"/>
            <a:ext cx="713232" cy="274320"/>
          </a:xfrm>
          <a:prstGeom prst="rect">
            <a:avLst/>
          </a:prstGeom>
          <a:noFill/>
          <a:ln/>
        </p:spPr>
        <p:txBody>
          <a:bodyPr wrap="square" rtlCol="0" anchor="ctr"/>
          <a:lstStyle/>
          <a:p>
            <a:pPr algn="ctr" indent="0" marL="0">
              <a:buNone/>
            </a:pPr>
            <a:r>
              <a:rPr lang="en-US" sz="1000" dirty="0">
                <a:solidFill>
                  <a:srgbClr val="888888"/>
                </a:solidFill>
                <a:latin typeface="Yu Gothic" pitchFamily="34" charset="0"/>
                <a:ea typeface="Yu Gothic" pitchFamily="34" charset="-122"/>
                <a:cs typeface="Yu Gothic" pitchFamily="34" charset="-120"/>
              </a:rPr>
              <a:t>18時</a:t>
            </a:r>
            <a:endParaRPr lang="en-US" sz="1000" dirty="0"/>
          </a:p>
        </p:txBody>
      </p:sp>
      <p:sp>
        <p:nvSpPr>
          <p:cNvPr id="16" name="Text 14"/>
          <p:cNvSpPr/>
          <p:nvPr/>
        </p:nvSpPr>
        <p:spPr>
          <a:xfrm>
            <a:off x="45720" y="1783080"/>
            <a:ext cx="457200" cy="457200"/>
          </a:xfrm>
          <a:prstGeom prst="rect">
            <a:avLst/>
          </a:prstGeom>
          <a:noFill/>
          <a:ln/>
        </p:spPr>
        <p:txBody>
          <a:bodyPr wrap="square" rtlCol="0" anchor="ctr"/>
          <a:lstStyle/>
          <a:p>
            <a:pPr algn="ctr" indent="0" marL="0">
              <a:buNone/>
            </a:pPr>
            <a:r>
              <a:rPr lang="en-US" sz="1300" b="1" dirty="0">
                <a:solidFill>
                  <a:srgbClr val="222222"/>
                </a:solidFill>
                <a:latin typeface="Yu Gothic" pitchFamily="34" charset="0"/>
                <a:ea typeface="Yu Gothic" pitchFamily="34" charset="-122"/>
                <a:cs typeface="Yu Gothic" pitchFamily="34" charset="-120"/>
              </a:rPr>
              <a:t>出発</a:t>
            </a:r>
            <a:endParaRPr lang="en-US" sz="1300" dirty="0"/>
          </a:p>
        </p:txBody>
      </p:sp>
      <p:sp>
        <p:nvSpPr>
          <p:cNvPr id="17" name="Shape 15"/>
          <p:cNvSpPr/>
          <p:nvPr/>
        </p:nvSpPr>
        <p:spPr>
          <a:xfrm>
            <a:off x="502920" y="2011680"/>
            <a:ext cx="621792" cy="640080"/>
          </a:xfrm>
          <a:prstGeom prst="rect">
            <a:avLst/>
          </a:prstGeom>
          <a:solidFill>
            <a:srgbClr val="00A040"/>
          </a:solidFill>
          <a:ln w="12700">
            <a:solidFill>
              <a:srgbClr val="00A040"/>
            </a:solidFill>
            <a:prstDash val="solid"/>
          </a:ln>
        </p:spPr>
      </p:sp>
      <p:sp>
        <p:nvSpPr>
          <p:cNvPr id="18" name="Shape 16"/>
          <p:cNvSpPr/>
          <p:nvPr/>
        </p:nvSpPr>
        <p:spPr>
          <a:xfrm>
            <a:off x="1216152" y="1828800"/>
            <a:ext cx="621792" cy="822960"/>
          </a:xfrm>
          <a:prstGeom prst="rect">
            <a:avLst/>
          </a:prstGeom>
          <a:solidFill>
            <a:srgbClr val="00A040"/>
          </a:solidFill>
          <a:ln w="12700">
            <a:solidFill>
              <a:srgbClr val="00A040"/>
            </a:solidFill>
            <a:prstDash val="solid"/>
          </a:ln>
        </p:spPr>
      </p:sp>
      <p:sp>
        <p:nvSpPr>
          <p:cNvPr id="19" name="Shape 17"/>
          <p:cNvSpPr/>
          <p:nvPr/>
        </p:nvSpPr>
        <p:spPr>
          <a:xfrm>
            <a:off x="1929384" y="1874520"/>
            <a:ext cx="621792" cy="777240"/>
          </a:xfrm>
          <a:prstGeom prst="rect">
            <a:avLst/>
          </a:prstGeom>
          <a:solidFill>
            <a:srgbClr val="00A040"/>
          </a:solidFill>
          <a:ln w="12700">
            <a:solidFill>
              <a:srgbClr val="00A040"/>
            </a:solidFill>
            <a:prstDash val="solid"/>
          </a:ln>
        </p:spPr>
      </p:sp>
      <p:sp>
        <p:nvSpPr>
          <p:cNvPr id="20" name="Shape 18"/>
          <p:cNvSpPr/>
          <p:nvPr/>
        </p:nvSpPr>
        <p:spPr>
          <a:xfrm>
            <a:off x="2642616" y="2194560"/>
            <a:ext cx="621792" cy="457200"/>
          </a:xfrm>
          <a:prstGeom prst="rect">
            <a:avLst/>
          </a:prstGeom>
          <a:solidFill>
            <a:srgbClr val="C5E8D1"/>
          </a:solidFill>
          <a:ln w="12700">
            <a:solidFill>
              <a:srgbClr val="C5E8D1"/>
            </a:solidFill>
            <a:prstDash val="solid"/>
          </a:ln>
        </p:spPr>
      </p:sp>
      <p:sp>
        <p:nvSpPr>
          <p:cNvPr id="21" name="Shape 19"/>
          <p:cNvSpPr/>
          <p:nvPr/>
        </p:nvSpPr>
        <p:spPr>
          <a:xfrm>
            <a:off x="3355848" y="2377440"/>
            <a:ext cx="621792" cy="274320"/>
          </a:xfrm>
          <a:prstGeom prst="rect">
            <a:avLst/>
          </a:prstGeom>
          <a:solidFill>
            <a:srgbClr val="C5E8D1"/>
          </a:solidFill>
          <a:ln w="12700">
            <a:solidFill>
              <a:srgbClr val="C5E8D1"/>
            </a:solidFill>
            <a:prstDash val="solid"/>
          </a:ln>
        </p:spPr>
      </p:sp>
      <p:sp>
        <p:nvSpPr>
          <p:cNvPr id="22" name="Shape 20"/>
          <p:cNvSpPr/>
          <p:nvPr/>
        </p:nvSpPr>
        <p:spPr>
          <a:xfrm>
            <a:off x="4069080" y="2468880"/>
            <a:ext cx="621792" cy="182880"/>
          </a:xfrm>
          <a:prstGeom prst="rect">
            <a:avLst/>
          </a:prstGeom>
          <a:solidFill>
            <a:srgbClr val="C5E8D1"/>
          </a:solidFill>
          <a:ln w="12700">
            <a:solidFill>
              <a:srgbClr val="C5E8D1"/>
            </a:solidFill>
            <a:prstDash val="solid"/>
          </a:ln>
        </p:spPr>
      </p:sp>
      <p:sp>
        <p:nvSpPr>
          <p:cNvPr id="23" name="Shape 21"/>
          <p:cNvSpPr/>
          <p:nvPr/>
        </p:nvSpPr>
        <p:spPr>
          <a:xfrm>
            <a:off x="4782312" y="2468880"/>
            <a:ext cx="621792" cy="182880"/>
          </a:xfrm>
          <a:prstGeom prst="rect">
            <a:avLst/>
          </a:prstGeom>
          <a:solidFill>
            <a:srgbClr val="C5E8D1"/>
          </a:solidFill>
          <a:ln w="12700">
            <a:solidFill>
              <a:srgbClr val="C5E8D1"/>
            </a:solidFill>
            <a:prstDash val="solid"/>
          </a:ln>
        </p:spPr>
      </p:sp>
      <p:sp>
        <p:nvSpPr>
          <p:cNvPr id="24" name="Shape 22"/>
          <p:cNvSpPr/>
          <p:nvPr/>
        </p:nvSpPr>
        <p:spPr>
          <a:xfrm>
            <a:off x="5495544" y="2468880"/>
            <a:ext cx="621792" cy="182880"/>
          </a:xfrm>
          <a:prstGeom prst="rect">
            <a:avLst/>
          </a:prstGeom>
          <a:solidFill>
            <a:srgbClr val="C5E8D1"/>
          </a:solidFill>
          <a:ln w="12700">
            <a:solidFill>
              <a:srgbClr val="C5E8D1"/>
            </a:solidFill>
            <a:prstDash val="solid"/>
          </a:ln>
        </p:spPr>
      </p:sp>
      <p:sp>
        <p:nvSpPr>
          <p:cNvPr id="25" name="Shape 23"/>
          <p:cNvSpPr/>
          <p:nvPr/>
        </p:nvSpPr>
        <p:spPr>
          <a:xfrm>
            <a:off x="6208776" y="2468880"/>
            <a:ext cx="621792" cy="182880"/>
          </a:xfrm>
          <a:prstGeom prst="rect">
            <a:avLst/>
          </a:prstGeom>
          <a:solidFill>
            <a:srgbClr val="C5E8D1"/>
          </a:solidFill>
          <a:ln w="12700">
            <a:solidFill>
              <a:srgbClr val="C5E8D1"/>
            </a:solidFill>
            <a:prstDash val="solid"/>
          </a:ln>
        </p:spPr>
      </p:sp>
      <p:sp>
        <p:nvSpPr>
          <p:cNvPr id="26" name="Shape 24"/>
          <p:cNvSpPr/>
          <p:nvPr/>
        </p:nvSpPr>
        <p:spPr>
          <a:xfrm>
            <a:off x="6922008" y="2468880"/>
            <a:ext cx="621792" cy="182880"/>
          </a:xfrm>
          <a:prstGeom prst="rect">
            <a:avLst/>
          </a:prstGeom>
          <a:solidFill>
            <a:srgbClr val="C5E8D1"/>
          </a:solidFill>
          <a:ln w="12700">
            <a:solidFill>
              <a:srgbClr val="C5E8D1"/>
            </a:solidFill>
            <a:prstDash val="solid"/>
          </a:ln>
        </p:spPr>
      </p:sp>
      <p:sp>
        <p:nvSpPr>
          <p:cNvPr id="27" name="Shape 25"/>
          <p:cNvSpPr/>
          <p:nvPr/>
        </p:nvSpPr>
        <p:spPr>
          <a:xfrm>
            <a:off x="7635240" y="2514600"/>
            <a:ext cx="621792" cy="137160"/>
          </a:xfrm>
          <a:prstGeom prst="rect">
            <a:avLst/>
          </a:prstGeom>
          <a:solidFill>
            <a:srgbClr val="C5E8D1"/>
          </a:solidFill>
          <a:ln w="12700">
            <a:solidFill>
              <a:srgbClr val="C5E8D1"/>
            </a:solidFill>
            <a:prstDash val="solid"/>
          </a:ln>
        </p:spPr>
      </p:sp>
      <p:sp>
        <p:nvSpPr>
          <p:cNvPr id="28" name="Shape 26"/>
          <p:cNvSpPr/>
          <p:nvPr/>
        </p:nvSpPr>
        <p:spPr>
          <a:xfrm>
            <a:off x="475488" y="1645920"/>
            <a:ext cx="2103120" cy="228600"/>
          </a:xfrm>
          <a:prstGeom prst="rect">
            <a:avLst/>
          </a:prstGeom>
          <a:solidFill>
            <a:srgbClr val="E8F5ED"/>
          </a:solidFill>
          <a:ln w="12700">
            <a:solidFill>
              <a:srgbClr val="00A040"/>
            </a:solidFill>
            <a:prstDash val="solid"/>
          </a:ln>
        </p:spPr>
      </p:sp>
      <p:sp>
        <p:nvSpPr>
          <p:cNvPr id="29" name="Text 27"/>
          <p:cNvSpPr/>
          <p:nvPr/>
        </p:nvSpPr>
        <p:spPr>
          <a:xfrm>
            <a:off x="475488" y="1645920"/>
            <a:ext cx="2103120" cy="228600"/>
          </a:xfrm>
          <a:prstGeom prst="rect">
            <a:avLst/>
          </a:prstGeom>
          <a:noFill/>
          <a:ln/>
        </p:spPr>
        <p:txBody>
          <a:bodyPr wrap="square" rtlCol="0" anchor="ctr"/>
          <a:lstStyle/>
          <a:p>
            <a:pPr algn="ctr" indent="0" marL="0">
              <a:buNone/>
            </a:pPr>
            <a:r>
              <a:rPr lang="en-US" sz="1100" b="1" dirty="0">
                <a:solidFill>
                  <a:srgbClr val="00A040"/>
                </a:solidFill>
                <a:latin typeface="Yu Gothic" pitchFamily="34" charset="0"/>
                <a:ea typeface="Yu Gothic" pitchFamily="34" charset="-122"/>
                <a:cs typeface="Yu Gothic" pitchFamily="34" charset="-120"/>
              </a:rPr>
              <a:t>出発が集中</a:t>
            </a:r>
            <a:endParaRPr lang="en-US" sz="1100" dirty="0"/>
          </a:p>
        </p:txBody>
      </p:sp>
      <p:sp>
        <p:nvSpPr>
          <p:cNvPr id="30" name="Text 28"/>
          <p:cNvSpPr/>
          <p:nvPr/>
        </p:nvSpPr>
        <p:spPr>
          <a:xfrm>
            <a:off x="45720" y="2880360"/>
            <a:ext cx="457200" cy="457200"/>
          </a:xfrm>
          <a:prstGeom prst="rect">
            <a:avLst/>
          </a:prstGeom>
          <a:noFill/>
          <a:ln/>
        </p:spPr>
        <p:txBody>
          <a:bodyPr wrap="square" rtlCol="0" anchor="ctr"/>
          <a:lstStyle/>
          <a:p>
            <a:pPr algn="ctr" indent="0" marL="0">
              <a:buNone/>
            </a:pPr>
            <a:r>
              <a:rPr lang="en-US" sz="1300" b="1" dirty="0">
                <a:solidFill>
                  <a:srgbClr val="222222"/>
                </a:solidFill>
                <a:latin typeface="Yu Gothic" pitchFamily="34" charset="0"/>
                <a:ea typeface="Yu Gothic" pitchFamily="34" charset="-122"/>
                <a:cs typeface="Yu Gothic" pitchFamily="34" charset="-120"/>
              </a:rPr>
              <a:t>返却</a:t>
            </a:r>
            <a:endParaRPr lang="en-US" sz="1300" dirty="0"/>
          </a:p>
        </p:txBody>
      </p:sp>
      <p:sp>
        <p:nvSpPr>
          <p:cNvPr id="31" name="Shape 29"/>
          <p:cNvSpPr/>
          <p:nvPr/>
        </p:nvSpPr>
        <p:spPr>
          <a:xfrm>
            <a:off x="502920" y="3611880"/>
            <a:ext cx="621792" cy="137160"/>
          </a:xfrm>
          <a:prstGeom prst="rect">
            <a:avLst/>
          </a:prstGeom>
          <a:solidFill>
            <a:srgbClr val="FFD9A0"/>
          </a:solidFill>
          <a:ln w="12700">
            <a:solidFill>
              <a:srgbClr val="FFD9A0"/>
            </a:solidFill>
            <a:prstDash val="solid"/>
          </a:ln>
        </p:spPr>
      </p:sp>
      <p:sp>
        <p:nvSpPr>
          <p:cNvPr id="32" name="Shape 30"/>
          <p:cNvSpPr/>
          <p:nvPr/>
        </p:nvSpPr>
        <p:spPr>
          <a:xfrm>
            <a:off x="1216152" y="3611880"/>
            <a:ext cx="621792" cy="137160"/>
          </a:xfrm>
          <a:prstGeom prst="rect">
            <a:avLst/>
          </a:prstGeom>
          <a:solidFill>
            <a:srgbClr val="FFD9A0"/>
          </a:solidFill>
          <a:ln w="12700">
            <a:solidFill>
              <a:srgbClr val="FFD9A0"/>
            </a:solidFill>
            <a:prstDash val="solid"/>
          </a:ln>
        </p:spPr>
      </p:sp>
      <p:sp>
        <p:nvSpPr>
          <p:cNvPr id="33" name="Shape 31"/>
          <p:cNvSpPr/>
          <p:nvPr/>
        </p:nvSpPr>
        <p:spPr>
          <a:xfrm>
            <a:off x="1929384" y="3566160"/>
            <a:ext cx="621792" cy="182880"/>
          </a:xfrm>
          <a:prstGeom prst="rect">
            <a:avLst/>
          </a:prstGeom>
          <a:solidFill>
            <a:srgbClr val="FFD9A0"/>
          </a:solidFill>
          <a:ln w="12700">
            <a:solidFill>
              <a:srgbClr val="FFD9A0"/>
            </a:solidFill>
            <a:prstDash val="solid"/>
          </a:ln>
        </p:spPr>
      </p:sp>
      <p:sp>
        <p:nvSpPr>
          <p:cNvPr id="34" name="Shape 32"/>
          <p:cNvSpPr/>
          <p:nvPr/>
        </p:nvSpPr>
        <p:spPr>
          <a:xfrm>
            <a:off x="2642616" y="3520440"/>
            <a:ext cx="621792" cy="228600"/>
          </a:xfrm>
          <a:prstGeom prst="rect">
            <a:avLst/>
          </a:prstGeom>
          <a:solidFill>
            <a:srgbClr val="FFD9A0"/>
          </a:solidFill>
          <a:ln w="12700">
            <a:solidFill>
              <a:srgbClr val="FFD9A0"/>
            </a:solidFill>
            <a:prstDash val="solid"/>
          </a:ln>
        </p:spPr>
      </p:sp>
      <p:sp>
        <p:nvSpPr>
          <p:cNvPr id="35" name="Shape 33"/>
          <p:cNvSpPr/>
          <p:nvPr/>
        </p:nvSpPr>
        <p:spPr>
          <a:xfrm>
            <a:off x="3355848" y="3474720"/>
            <a:ext cx="621792" cy="274320"/>
          </a:xfrm>
          <a:prstGeom prst="rect">
            <a:avLst/>
          </a:prstGeom>
          <a:solidFill>
            <a:srgbClr val="FFD9A0"/>
          </a:solidFill>
          <a:ln w="12700">
            <a:solidFill>
              <a:srgbClr val="FFD9A0"/>
            </a:solidFill>
            <a:prstDash val="solid"/>
          </a:ln>
        </p:spPr>
      </p:sp>
      <p:sp>
        <p:nvSpPr>
          <p:cNvPr id="36" name="Shape 34"/>
          <p:cNvSpPr/>
          <p:nvPr/>
        </p:nvSpPr>
        <p:spPr>
          <a:xfrm>
            <a:off x="4069080" y="3474720"/>
            <a:ext cx="621792" cy="274320"/>
          </a:xfrm>
          <a:prstGeom prst="rect">
            <a:avLst/>
          </a:prstGeom>
          <a:solidFill>
            <a:srgbClr val="FFD9A0"/>
          </a:solidFill>
          <a:ln w="12700">
            <a:solidFill>
              <a:srgbClr val="FFD9A0"/>
            </a:solidFill>
            <a:prstDash val="solid"/>
          </a:ln>
        </p:spPr>
      </p:sp>
      <p:sp>
        <p:nvSpPr>
          <p:cNvPr id="37" name="Shape 35"/>
          <p:cNvSpPr/>
          <p:nvPr/>
        </p:nvSpPr>
        <p:spPr>
          <a:xfrm>
            <a:off x="4782312" y="3383280"/>
            <a:ext cx="621792" cy="365760"/>
          </a:xfrm>
          <a:prstGeom prst="rect">
            <a:avLst/>
          </a:prstGeom>
          <a:solidFill>
            <a:srgbClr val="FFD9A0"/>
          </a:solidFill>
          <a:ln w="12700">
            <a:solidFill>
              <a:srgbClr val="FFD9A0"/>
            </a:solidFill>
            <a:prstDash val="solid"/>
          </a:ln>
        </p:spPr>
      </p:sp>
      <p:sp>
        <p:nvSpPr>
          <p:cNvPr id="38" name="Shape 36"/>
          <p:cNvSpPr/>
          <p:nvPr/>
        </p:nvSpPr>
        <p:spPr>
          <a:xfrm>
            <a:off x="5495544" y="3017520"/>
            <a:ext cx="621792" cy="731520"/>
          </a:xfrm>
          <a:prstGeom prst="rect">
            <a:avLst/>
          </a:prstGeom>
          <a:solidFill>
            <a:srgbClr val="FF8C00"/>
          </a:solidFill>
          <a:ln w="12700">
            <a:solidFill>
              <a:srgbClr val="FF8C00"/>
            </a:solidFill>
            <a:prstDash val="solid"/>
          </a:ln>
        </p:spPr>
      </p:sp>
      <p:sp>
        <p:nvSpPr>
          <p:cNvPr id="39" name="Shape 37"/>
          <p:cNvSpPr/>
          <p:nvPr/>
        </p:nvSpPr>
        <p:spPr>
          <a:xfrm>
            <a:off x="6208776" y="2926080"/>
            <a:ext cx="621792" cy="822960"/>
          </a:xfrm>
          <a:prstGeom prst="rect">
            <a:avLst/>
          </a:prstGeom>
          <a:solidFill>
            <a:srgbClr val="FF8C00"/>
          </a:solidFill>
          <a:ln w="12700">
            <a:solidFill>
              <a:srgbClr val="FF8C00"/>
            </a:solidFill>
            <a:prstDash val="solid"/>
          </a:ln>
        </p:spPr>
      </p:sp>
      <p:sp>
        <p:nvSpPr>
          <p:cNvPr id="40" name="Shape 38"/>
          <p:cNvSpPr/>
          <p:nvPr/>
        </p:nvSpPr>
        <p:spPr>
          <a:xfrm>
            <a:off x="6922008" y="2971800"/>
            <a:ext cx="621792" cy="777240"/>
          </a:xfrm>
          <a:prstGeom prst="rect">
            <a:avLst/>
          </a:prstGeom>
          <a:solidFill>
            <a:srgbClr val="FF8C00"/>
          </a:solidFill>
          <a:ln w="12700">
            <a:solidFill>
              <a:srgbClr val="FF8C00"/>
            </a:solidFill>
            <a:prstDash val="solid"/>
          </a:ln>
        </p:spPr>
      </p:sp>
      <p:sp>
        <p:nvSpPr>
          <p:cNvPr id="41" name="Shape 39"/>
          <p:cNvSpPr/>
          <p:nvPr/>
        </p:nvSpPr>
        <p:spPr>
          <a:xfrm>
            <a:off x="7635240" y="3291840"/>
            <a:ext cx="621792" cy="457200"/>
          </a:xfrm>
          <a:prstGeom prst="rect">
            <a:avLst/>
          </a:prstGeom>
          <a:solidFill>
            <a:srgbClr val="FF8C00"/>
          </a:solidFill>
          <a:ln w="12700">
            <a:solidFill>
              <a:srgbClr val="FF8C00"/>
            </a:solidFill>
            <a:prstDash val="solid"/>
          </a:ln>
        </p:spPr>
      </p:sp>
      <p:sp>
        <p:nvSpPr>
          <p:cNvPr id="42" name="Shape 40"/>
          <p:cNvSpPr/>
          <p:nvPr/>
        </p:nvSpPr>
        <p:spPr>
          <a:xfrm>
            <a:off x="5486400" y="2743200"/>
            <a:ext cx="2377440" cy="228600"/>
          </a:xfrm>
          <a:prstGeom prst="rect">
            <a:avLst/>
          </a:prstGeom>
          <a:solidFill>
            <a:srgbClr val="FFF3E0"/>
          </a:solidFill>
          <a:ln w="12700">
            <a:solidFill>
              <a:srgbClr val="FF8C00"/>
            </a:solidFill>
            <a:prstDash val="solid"/>
          </a:ln>
        </p:spPr>
      </p:sp>
      <p:sp>
        <p:nvSpPr>
          <p:cNvPr id="43" name="Text 41"/>
          <p:cNvSpPr/>
          <p:nvPr/>
        </p:nvSpPr>
        <p:spPr>
          <a:xfrm>
            <a:off x="5486400" y="2743200"/>
            <a:ext cx="2377440" cy="228600"/>
          </a:xfrm>
          <a:prstGeom prst="rect">
            <a:avLst/>
          </a:prstGeom>
          <a:noFill/>
          <a:ln/>
        </p:spPr>
        <p:txBody>
          <a:bodyPr wrap="square" rtlCol="0" anchor="ctr"/>
          <a:lstStyle/>
          <a:p>
            <a:pPr algn="ctr" indent="0" marL="0">
              <a:buNone/>
            </a:pPr>
            <a:r>
              <a:rPr lang="en-US" sz="1100" b="1" dirty="0">
                <a:solidFill>
                  <a:srgbClr val="E65100"/>
                </a:solidFill>
                <a:latin typeface="Yu Gothic" pitchFamily="34" charset="0"/>
                <a:ea typeface="Yu Gothic" pitchFamily="34" charset="-122"/>
                <a:cs typeface="Yu Gothic" pitchFamily="34" charset="-120"/>
              </a:rPr>
              <a:t>返却が増加</a:t>
            </a:r>
            <a:endParaRPr lang="en-US" sz="1100" dirty="0"/>
          </a:p>
        </p:txBody>
      </p:sp>
      <p:sp>
        <p:nvSpPr>
          <p:cNvPr id="44" name="Shape 42"/>
          <p:cNvSpPr/>
          <p:nvPr/>
        </p:nvSpPr>
        <p:spPr>
          <a:xfrm>
            <a:off x="365760" y="3931920"/>
            <a:ext cx="8412480" cy="914400"/>
          </a:xfrm>
          <a:prstGeom prst="rect">
            <a:avLst/>
          </a:prstGeom>
          <a:solidFill>
            <a:srgbClr val="F0FAF4"/>
          </a:solidFill>
          <a:ln w="12700">
            <a:solidFill>
              <a:srgbClr val="C5E8D1"/>
            </a:solidFill>
            <a:prstDash val="solid"/>
          </a:ln>
        </p:spPr>
      </p:sp>
      <p:sp>
        <p:nvSpPr>
          <p:cNvPr id="45" name="Text 43"/>
          <p:cNvSpPr/>
          <p:nvPr/>
        </p:nvSpPr>
        <p:spPr>
          <a:xfrm>
            <a:off x="457200" y="3959352"/>
            <a:ext cx="8229600" cy="256032"/>
          </a:xfrm>
          <a:prstGeom prst="rect">
            <a:avLst/>
          </a:prstGeom>
          <a:noFill/>
          <a:ln/>
        </p:spPr>
        <p:txBody>
          <a:bodyPr wrap="square" rtlCol="0" anchor="ctr"/>
          <a:lstStyle/>
          <a:p>
            <a:pPr algn="ctr" indent="0" marL="0">
              <a:buNone/>
            </a:pPr>
            <a:r>
              <a:rPr lang="en-US" sz="1000" i="1" dirty="0">
                <a:solidFill>
                  <a:srgbClr val="888888"/>
                </a:solidFill>
                <a:latin typeface="Yu Gothic" pitchFamily="34" charset="0"/>
                <a:ea typeface="Yu Gothic" pitchFamily="34" charset="-122"/>
                <a:cs typeface="Yu Gothic" pitchFamily="34" charset="-120"/>
              </a:rPr>
              <a:t>※代車を除く店頭の出発・返却件数</a:t>
            </a:r>
            <a:endParaRPr lang="en-US" sz="1000" dirty="0"/>
          </a:p>
        </p:txBody>
      </p:sp>
      <p:sp>
        <p:nvSpPr>
          <p:cNvPr id="46" name="Text 44"/>
          <p:cNvSpPr/>
          <p:nvPr/>
        </p:nvSpPr>
        <p:spPr>
          <a:xfrm>
            <a:off x="457200" y="4206240"/>
            <a:ext cx="8229600" cy="548640"/>
          </a:xfrm>
          <a:prstGeom prst="rect">
            <a:avLst/>
          </a:prstGeom>
          <a:noFill/>
          <a:ln/>
        </p:spPr>
        <p:txBody>
          <a:bodyPr wrap="square" rtlCol="0" anchor="ctr"/>
          <a:lstStyle/>
          <a:p>
            <a:pPr algn="ctr" indent="0" marL="0">
              <a:buNone/>
            </a:pPr>
            <a:r>
              <a:rPr lang="en-US" sz="1600" b="1" dirty="0">
                <a:solidFill>
                  <a:srgbClr val="222222"/>
                </a:solidFill>
                <a:latin typeface="Yu Gothic" pitchFamily="34" charset="0"/>
                <a:ea typeface="Yu Gothic" pitchFamily="34" charset="-122"/>
                <a:cs typeface="Yu Gothic" pitchFamily="34" charset="-120"/>
              </a:rPr>
              <a:t>出発：開店直後〜10時台に集中　　返却：15時〜17時台に増加</a:t>
            </a:r>
            <a:endParaRPr lang="en-US" sz="1600" dirty="0"/>
          </a:p>
        </p:txBody>
      </p:sp>
      <p:sp>
        <p:nvSpPr>
          <p:cNvPr id="47" name="Text 45"/>
          <p:cNvSpPr/>
          <p:nvPr/>
        </p:nvSpPr>
        <p:spPr>
          <a:xfrm>
            <a:off x="8778240" y="4846320"/>
            <a:ext cx="320040" cy="228600"/>
          </a:xfrm>
          <a:prstGeom prst="rect">
            <a:avLst/>
          </a:prstGeom>
          <a:noFill/>
          <a:ln/>
        </p:spPr>
        <p:txBody>
          <a:bodyPr wrap="square" rtlCol="0" anchor="ctr"/>
          <a:lstStyle/>
          <a:p>
            <a:pPr algn="r" indent="0" marL="0">
              <a:buNone/>
            </a:pPr>
            <a:r>
              <a:rPr lang="en-US" sz="1000" dirty="0">
                <a:solidFill>
                  <a:srgbClr val="999999"/>
                </a:solidFill>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502920"/>
            <a:ext cx="54864" cy="502920"/>
          </a:xfrm>
          <a:prstGeom prst="rect">
            <a:avLst/>
          </a:prstGeom>
          <a:solidFill>
            <a:srgbClr val="00A040"/>
          </a:solidFill>
          <a:ln w="12700">
            <a:solidFill>
              <a:srgbClr val="00A040"/>
            </a:solidFill>
            <a:prstDash val="solid"/>
          </a:ln>
        </p:spPr>
      </p:sp>
      <p:sp>
        <p:nvSpPr>
          <p:cNvPr id="3" name="Text 1"/>
          <p:cNvSpPr/>
          <p:nvPr/>
        </p:nvSpPr>
        <p:spPr>
          <a:xfrm>
            <a:off x="502920" y="457200"/>
            <a:ext cx="8321040" cy="594360"/>
          </a:xfrm>
          <a:prstGeom prst="rect">
            <a:avLst/>
          </a:prstGeom>
          <a:noFill/>
          <a:ln/>
        </p:spPr>
        <p:txBody>
          <a:bodyPr wrap="square" lIns="0" tIns="0" rIns="0" bIns="0" rtlCol="0" anchor="ctr"/>
          <a:lstStyle/>
          <a:p>
            <a:pPr indent="0" marL="0">
              <a:buNone/>
            </a:pPr>
            <a:r>
              <a:rPr lang="en-US" sz="2200" b="1" dirty="0">
                <a:solidFill>
                  <a:srgbClr val="222222"/>
                </a:solidFill>
                <a:latin typeface="Yu Gothic" pitchFamily="34" charset="0"/>
                <a:ea typeface="Yu Gothic" pitchFamily="34" charset="-122"/>
                <a:cs typeface="Yu Gothic" pitchFamily="34" charset="-120"/>
              </a:rPr>
              <a:t>新幹線到着後の来店集中</a:t>
            </a:r>
            <a:endParaRPr lang="en-US" sz="2200" dirty="0"/>
          </a:p>
        </p:txBody>
      </p:sp>
      <p:sp>
        <p:nvSpPr>
          <p:cNvPr id="4" name="Shape 2"/>
          <p:cNvSpPr/>
          <p:nvPr/>
        </p:nvSpPr>
        <p:spPr>
          <a:xfrm>
            <a:off x="365760" y="1051560"/>
            <a:ext cx="8412480" cy="0"/>
          </a:xfrm>
          <a:prstGeom prst="line">
            <a:avLst/>
          </a:prstGeom>
          <a:noFill/>
          <a:ln w="12700">
            <a:solidFill>
              <a:srgbClr val="E0E0E0"/>
            </a:solidFill>
            <a:prstDash val="solid"/>
          </a:ln>
        </p:spPr>
      </p:sp>
      <p:sp>
        <p:nvSpPr>
          <p:cNvPr id="5" name="Shape 3"/>
          <p:cNvSpPr/>
          <p:nvPr/>
        </p:nvSpPr>
        <p:spPr>
          <a:xfrm>
            <a:off x="658368" y="1463040"/>
            <a:ext cx="2331720" cy="2926080"/>
          </a:xfrm>
          <a:prstGeom prst="rect">
            <a:avLst/>
          </a:prstGeom>
          <a:solidFill>
            <a:srgbClr val="F0FAF4"/>
          </a:solidFill>
          <a:ln w="19050">
            <a:solidFill>
              <a:srgbClr val="C5E8D1"/>
            </a:solidFill>
            <a:prstDash val="solid"/>
          </a:ln>
        </p:spPr>
      </p:sp>
      <p:sp>
        <p:nvSpPr>
          <p:cNvPr id="6" name="Shape 4"/>
          <p:cNvSpPr/>
          <p:nvPr/>
        </p:nvSpPr>
        <p:spPr>
          <a:xfrm>
            <a:off x="658368" y="1463040"/>
            <a:ext cx="2331720" cy="91440"/>
          </a:xfrm>
          <a:prstGeom prst="rect">
            <a:avLst/>
          </a:prstGeom>
          <a:solidFill>
            <a:srgbClr val="00A040"/>
          </a:solidFill>
          <a:ln w="12700">
            <a:solidFill>
              <a:srgbClr val="00A040"/>
            </a:solidFill>
            <a:prstDash val="solid"/>
          </a:ln>
        </p:spPr>
      </p:sp>
      <p:sp>
        <p:nvSpPr>
          <p:cNvPr id="7" name="Text 5"/>
          <p:cNvSpPr/>
          <p:nvPr/>
        </p:nvSpPr>
        <p:spPr>
          <a:xfrm>
            <a:off x="749808" y="1508760"/>
            <a:ext cx="347472" cy="347472"/>
          </a:xfrm>
          <a:prstGeom prst="rect">
            <a:avLst/>
          </a:prstGeom>
          <a:noFill/>
          <a:ln/>
        </p:spPr>
        <p:txBody>
          <a:bodyPr wrap="square"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1</a:t>
            </a:r>
            <a:endParaRPr lang="en-US" sz="1500" dirty="0"/>
          </a:p>
        </p:txBody>
      </p:sp>
      <p:pic>
        <p:nvPicPr>
          <p:cNvPr id="8" name="Image 0" descr="preencoded.png">    </p:cNvPr>
          <p:cNvPicPr>
            <a:picLocks noChangeAspect="1"/>
          </p:cNvPicPr>
          <p:nvPr/>
        </p:nvPicPr>
        <p:blipFill>
          <a:blip r:embed="rId1"/>
          <a:stretch>
            <a:fillRect/>
          </a:stretch>
        </p:blipFill>
        <p:spPr>
          <a:xfrm>
            <a:off x="1508760" y="1664208"/>
            <a:ext cx="594360" cy="594360"/>
          </a:xfrm>
          <a:prstGeom prst="rect">
            <a:avLst/>
          </a:prstGeom>
        </p:spPr>
      </p:pic>
      <p:sp>
        <p:nvSpPr>
          <p:cNvPr id="9" name="Text 6"/>
          <p:cNvSpPr/>
          <p:nvPr/>
        </p:nvSpPr>
        <p:spPr>
          <a:xfrm>
            <a:off x="768096" y="2331720"/>
            <a:ext cx="2103120" cy="548640"/>
          </a:xfrm>
          <a:prstGeom prst="rect">
            <a:avLst/>
          </a:prstGeom>
          <a:noFill/>
          <a:ln/>
        </p:spPr>
        <p:txBody>
          <a:bodyPr wrap="square" rtlCol="0" anchor="ctr"/>
          <a:lstStyle/>
          <a:p>
            <a:pPr algn="ctr" indent="0" marL="0">
              <a:buNone/>
            </a:pPr>
            <a:r>
              <a:rPr lang="en-US" sz="1500" b="1" dirty="0">
                <a:solidFill>
                  <a:srgbClr val="222222"/>
                </a:solidFill>
                <a:latin typeface="Yu Gothic" pitchFamily="34" charset="0"/>
                <a:ea typeface="Yu Gothic" pitchFamily="34" charset="-122"/>
                <a:cs typeface="Yu Gothic" pitchFamily="34" charset="-120"/>
              </a:rPr>
              <a:t>新幹線到着</a:t>
            </a:r>
            <a:endParaRPr lang="en-US" sz="1500" dirty="0"/>
          </a:p>
        </p:txBody>
      </p:sp>
      <p:sp>
        <p:nvSpPr>
          <p:cNvPr id="10" name="Text 7"/>
          <p:cNvSpPr/>
          <p:nvPr/>
        </p:nvSpPr>
        <p:spPr>
          <a:xfrm>
            <a:off x="768096" y="2926080"/>
            <a:ext cx="2103120" cy="822960"/>
          </a:xfrm>
          <a:prstGeom prst="rect">
            <a:avLst/>
          </a:prstGeom>
          <a:noFill/>
          <a:ln/>
        </p:spPr>
        <p:txBody>
          <a:bodyPr wrap="square" rtlCol="0" anchor="ctr"/>
          <a:lstStyle/>
          <a:p>
            <a:pPr algn="ctr" indent="0" marL="0">
              <a:buNone/>
            </a:pPr>
            <a:r>
              <a:rPr lang="en-US" sz="1200" dirty="0">
                <a:solidFill>
                  <a:srgbClr val="555555"/>
                </a:solidFill>
                <a:latin typeface="Yu Gothic" pitchFamily="34" charset="0"/>
                <a:ea typeface="Yu Gothic" pitchFamily="34" charset="-122"/>
                <a:cs typeface="Yu Gothic" pitchFamily="34" charset="-120"/>
              </a:rPr>
              <a:t>停車タイミングに</a:t>
            </a:r>
            <a:endParaRPr lang="en-US" sz="1200" dirty="0"/>
          </a:p>
          <a:p>
            <a:pPr algn="ctr" indent="0" marL="0">
              <a:buNone/>
            </a:pPr>
            <a:r>
              <a:rPr lang="en-US" sz="1200" dirty="0">
                <a:solidFill>
                  <a:srgbClr val="555555"/>
                </a:solidFill>
                <a:latin typeface="Yu Gothic" pitchFamily="34" charset="0"/>
                <a:ea typeface="Yu Gothic" pitchFamily="34" charset="-122"/>
                <a:cs typeface="Yu Gothic" pitchFamily="34" charset="-120"/>
              </a:rPr>
              <a:t>来店が重なる</a:t>
            </a:r>
            <a:endParaRPr lang="en-US" sz="1200" dirty="0"/>
          </a:p>
        </p:txBody>
      </p:sp>
      <p:pic>
        <p:nvPicPr>
          <p:cNvPr id="11" name="Image 1" descr="preencoded.png">    </p:cNvPr>
          <p:cNvPicPr>
            <a:picLocks noChangeAspect="1"/>
          </p:cNvPicPr>
          <p:nvPr/>
        </p:nvPicPr>
        <p:blipFill>
          <a:blip r:embed="rId2"/>
          <a:stretch>
            <a:fillRect/>
          </a:stretch>
        </p:blipFill>
        <p:spPr>
          <a:xfrm>
            <a:off x="2990088" y="2651760"/>
            <a:ext cx="347472" cy="347472"/>
          </a:xfrm>
          <a:prstGeom prst="rect">
            <a:avLst/>
          </a:prstGeom>
        </p:spPr>
      </p:pic>
      <p:sp>
        <p:nvSpPr>
          <p:cNvPr id="12" name="Shape 8"/>
          <p:cNvSpPr/>
          <p:nvPr/>
        </p:nvSpPr>
        <p:spPr>
          <a:xfrm>
            <a:off x="3355848" y="1463040"/>
            <a:ext cx="2331720" cy="2926080"/>
          </a:xfrm>
          <a:prstGeom prst="rect">
            <a:avLst/>
          </a:prstGeom>
          <a:solidFill>
            <a:srgbClr val="F0FAF4"/>
          </a:solidFill>
          <a:ln w="19050">
            <a:solidFill>
              <a:srgbClr val="C5E8D1"/>
            </a:solidFill>
            <a:prstDash val="solid"/>
          </a:ln>
        </p:spPr>
      </p:sp>
      <p:sp>
        <p:nvSpPr>
          <p:cNvPr id="13" name="Shape 9"/>
          <p:cNvSpPr/>
          <p:nvPr/>
        </p:nvSpPr>
        <p:spPr>
          <a:xfrm>
            <a:off x="3355848" y="1463040"/>
            <a:ext cx="2331720" cy="91440"/>
          </a:xfrm>
          <a:prstGeom prst="rect">
            <a:avLst/>
          </a:prstGeom>
          <a:solidFill>
            <a:srgbClr val="00A040"/>
          </a:solidFill>
          <a:ln w="12700">
            <a:solidFill>
              <a:srgbClr val="00A040"/>
            </a:solidFill>
            <a:prstDash val="solid"/>
          </a:ln>
        </p:spPr>
      </p:sp>
      <p:sp>
        <p:nvSpPr>
          <p:cNvPr id="14" name="Text 10"/>
          <p:cNvSpPr/>
          <p:nvPr/>
        </p:nvSpPr>
        <p:spPr>
          <a:xfrm>
            <a:off x="3447288" y="1508760"/>
            <a:ext cx="347472" cy="347472"/>
          </a:xfrm>
          <a:prstGeom prst="rect">
            <a:avLst/>
          </a:prstGeom>
          <a:noFill/>
          <a:ln/>
        </p:spPr>
        <p:txBody>
          <a:bodyPr wrap="square"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2</a:t>
            </a:r>
            <a:endParaRPr lang="en-US" sz="1500" dirty="0"/>
          </a:p>
        </p:txBody>
      </p:sp>
      <p:pic>
        <p:nvPicPr>
          <p:cNvPr id="15" name="Image 2" descr="preencoded.png">    </p:cNvPr>
          <p:cNvPicPr>
            <a:picLocks noChangeAspect="1"/>
          </p:cNvPicPr>
          <p:nvPr/>
        </p:nvPicPr>
        <p:blipFill>
          <a:blip r:embed="rId3"/>
          <a:stretch>
            <a:fillRect/>
          </a:stretch>
        </p:blipFill>
        <p:spPr>
          <a:xfrm>
            <a:off x="4206240" y="1664208"/>
            <a:ext cx="594360" cy="594360"/>
          </a:xfrm>
          <a:prstGeom prst="rect">
            <a:avLst/>
          </a:prstGeom>
        </p:spPr>
      </p:pic>
      <p:sp>
        <p:nvSpPr>
          <p:cNvPr id="16" name="Text 11"/>
          <p:cNvSpPr/>
          <p:nvPr/>
        </p:nvSpPr>
        <p:spPr>
          <a:xfrm>
            <a:off x="3465576" y="2331720"/>
            <a:ext cx="2103120" cy="548640"/>
          </a:xfrm>
          <a:prstGeom prst="rect">
            <a:avLst/>
          </a:prstGeom>
          <a:noFill/>
          <a:ln/>
        </p:spPr>
        <p:txBody>
          <a:bodyPr wrap="square" rtlCol="0" anchor="ctr"/>
          <a:lstStyle/>
          <a:p>
            <a:pPr algn="ctr" indent="0" marL="0">
              <a:buNone/>
            </a:pPr>
            <a:r>
              <a:rPr lang="en-US" sz="1500" b="1" dirty="0">
                <a:solidFill>
                  <a:srgbClr val="222222"/>
                </a:solidFill>
                <a:latin typeface="Yu Gothic" pitchFamily="34" charset="0"/>
                <a:ea typeface="Yu Gothic" pitchFamily="34" charset="-122"/>
                <a:cs typeface="Yu Gothic" pitchFamily="34" charset="-120"/>
              </a:rPr>
              <a:t>短時間に来店が集中</a:t>
            </a:r>
            <a:endParaRPr lang="en-US" sz="1500" dirty="0"/>
          </a:p>
        </p:txBody>
      </p:sp>
      <p:sp>
        <p:nvSpPr>
          <p:cNvPr id="17" name="Text 12"/>
          <p:cNvSpPr/>
          <p:nvPr/>
        </p:nvSpPr>
        <p:spPr>
          <a:xfrm>
            <a:off x="3465576" y="2926080"/>
            <a:ext cx="2103120" cy="822960"/>
          </a:xfrm>
          <a:prstGeom prst="rect">
            <a:avLst/>
          </a:prstGeom>
          <a:noFill/>
          <a:ln/>
        </p:spPr>
        <p:txBody>
          <a:bodyPr wrap="square" rtlCol="0" anchor="ctr"/>
          <a:lstStyle/>
          <a:p>
            <a:pPr algn="ctr" indent="0" marL="0">
              <a:buNone/>
            </a:pPr>
            <a:r>
              <a:rPr lang="en-US" sz="1200" dirty="0">
                <a:solidFill>
                  <a:srgbClr val="555555"/>
                </a:solidFill>
                <a:latin typeface="Yu Gothic" pitchFamily="34" charset="0"/>
                <a:ea typeface="Yu Gothic" pitchFamily="34" charset="-122"/>
                <a:cs typeface="Yu Gothic" pitchFamily="34" charset="-120"/>
              </a:rPr>
              <a:t>複数のお客様が</a:t>
            </a:r>
            <a:endParaRPr lang="en-US" sz="1200" dirty="0"/>
          </a:p>
          <a:p>
            <a:pPr algn="ctr" indent="0" marL="0">
              <a:buNone/>
            </a:pPr>
            <a:r>
              <a:rPr lang="en-US" sz="1200" dirty="0">
                <a:solidFill>
                  <a:srgbClr val="555555"/>
                </a:solidFill>
                <a:latin typeface="Yu Gothic" pitchFamily="34" charset="0"/>
                <a:ea typeface="Yu Gothic" pitchFamily="34" charset="-122"/>
                <a:cs typeface="Yu Gothic" pitchFamily="34" charset="-120"/>
              </a:rPr>
              <a:t>ほぼ同時にご来店</a:t>
            </a:r>
            <a:endParaRPr lang="en-US" sz="1200" dirty="0"/>
          </a:p>
        </p:txBody>
      </p:sp>
      <p:pic>
        <p:nvPicPr>
          <p:cNvPr id="18" name="Image 3" descr="preencoded.png">    </p:cNvPr>
          <p:cNvPicPr>
            <a:picLocks noChangeAspect="1"/>
          </p:cNvPicPr>
          <p:nvPr/>
        </p:nvPicPr>
        <p:blipFill>
          <a:blip r:embed="rId4"/>
          <a:stretch>
            <a:fillRect/>
          </a:stretch>
        </p:blipFill>
        <p:spPr>
          <a:xfrm>
            <a:off x="5687568" y="2651760"/>
            <a:ext cx="347472" cy="347472"/>
          </a:xfrm>
          <a:prstGeom prst="rect">
            <a:avLst/>
          </a:prstGeom>
        </p:spPr>
      </p:pic>
      <p:sp>
        <p:nvSpPr>
          <p:cNvPr id="19" name="Shape 13"/>
          <p:cNvSpPr/>
          <p:nvPr/>
        </p:nvSpPr>
        <p:spPr>
          <a:xfrm>
            <a:off x="6053328" y="1463040"/>
            <a:ext cx="2331720" cy="2926080"/>
          </a:xfrm>
          <a:prstGeom prst="rect">
            <a:avLst/>
          </a:prstGeom>
          <a:solidFill>
            <a:srgbClr val="F0FAF4"/>
          </a:solidFill>
          <a:ln w="19050">
            <a:solidFill>
              <a:srgbClr val="C5E8D1"/>
            </a:solidFill>
            <a:prstDash val="solid"/>
          </a:ln>
        </p:spPr>
      </p:sp>
      <p:sp>
        <p:nvSpPr>
          <p:cNvPr id="20" name="Shape 14"/>
          <p:cNvSpPr/>
          <p:nvPr/>
        </p:nvSpPr>
        <p:spPr>
          <a:xfrm>
            <a:off x="6053328" y="1463040"/>
            <a:ext cx="2331720" cy="91440"/>
          </a:xfrm>
          <a:prstGeom prst="rect">
            <a:avLst/>
          </a:prstGeom>
          <a:solidFill>
            <a:srgbClr val="00A040"/>
          </a:solidFill>
          <a:ln w="12700">
            <a:solidFill>
              <a:srgbClr val="00A040"/>
            </a:solidFill>
            <a:prstDash val="solid"/>
          </a:ln>
        </p:spPr>
      </p:sp>
      <p:sp>
        <p:nvSpPr>
          <p:cNvPr id="21" name="Text 15"/>
          <p:cNvSpPr/>
          <p:nvPr/>
        </p:nvSpPr>
        <p:spPr>
          <a:xfrm>
            <a:off x="6144768" y="1508760"/>
            <a:ext cx="347472" cy="347472"/>
          </a:xfrm>
          <a:prstGeom prst="rect">
            <a:avLst/>
          </a:prstGeom>
          <a:noFill/>
          <a:ln/>
        </p:spPr>
        <p:txBody>
          <a:bodyPr wrap="square"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3</a:t>
            </a:r>
            <a:endParaRPr lang="en-US" sz="1500" dirty="0"/>
          </a:p>
        </p:txBody>
      </p:sp>
      <p:pic>
        <p:nvPicPr>
          <p:cNvPr id="22" name="Image 4" descr="preencoded.png">    </p:cNvPr>
          <p:cNvPicPr>
            <a:picLocks noChangeAspect="1"/>
          </p:cNvPicPr>
          <p:nvPr/>
        </p:nvPicPr>
        <p:blipFill>
          <a:blip r:embed="rId5"/>
          <a:stretch>
            <a:fillRect/>
          </a:stretch>
        </p:blipFill>
        <p:spPr>
          <a:xfrm>
            <a:off x="6903720" y="1664208"/>
            <a:ext cx="594360" cy="594360"/>
          </a:xfrm>
          <a:prstGeom prst="rect">
            <a:avLst/>
          </a:prstGeom>
        </p:spPr>
      </p:pic>
      <p:sp>
        <p:nvSpPr>
          <p:cNvPr id="23" name="Text 16"/>
          <p:cNvSpPr/>
          <p:nvPr/>
        </p:nvSpPr>
        <p:spPr>
          <a:xfrm>
            <a:off x="6163056" y="2331720"/>
            <a:ext cx="2103120" cy="548640"/>
          </a:xfrm>
          <a:prstGeom prst="rect">
            <a:avLst/>
          </a:prstGeom>
          <a:noFill/>
          <a:ln/>
        </p:spPr>
        <p:txBody>
          <a:bodyPr wrap="square" rtlCol="0" anchor="ctr"/>
          <a:lstStyle/>
          <a:p>
            <a:pPr algn="ctr" indent="0" marL="0">
              <a:buNone/>
            </a:pPr>
            <a:r>
              <a:rPr lang="en-US" sz="1500" b="1" dirty="0">
                <a:solidFill>
                  <a:srgbClr val="222222"/>
                </a:solidFill>
                <a:latin typeface="Yu Gothic" pitchFamily="34" charset="0"/>
                <a:ea typeface="Yu Gothic" pitchFamily="34" charset="-122"/>
                <a:cs typeface="Yu Gothic" pitchFamily="34" charset="-120"/>
              </a:rPr>
              <a:t>店頭対応が集中する</a:t>
            </a:r>
            <a:endParaRPr lang="en-US" sz="1500" dirty="0"/>
          </a:p>
        </p:txBody>
      </p:sp>
      <p:sp>
        <p:nvSpPr>
          <p:cNvPr id="24" name="Text 17"/>
          <p:cNvSpPr/>
          <p:nvPr/>
        </p:nvSpPr>
        <p:spPr>
          <a:xfrm>
            <a:off x="6163056" y="2926080"/>
            <a:ext cx="2103120" cy="822960"/>
          </a:xfrm>
          <a:prstGeom prst="rect">
            <a:avLst/>
          </a:prstGeom>
          <a:noFill/>
          <a:ln/>
        </p:spPr>
        <p:txBody>
          <a:bodyPr wrap="square" rtlCol="0" anchor="ctr"/>
          <a:lstStyle/>
          <a:p>
            <a:pPr algn="ctr" indent="0" marL="0">
              <a:buNone/>
            </a:pPr>
            <a:r>
              <a:rPr lang="en-US" sz="1200" dirty="0">
                <a:solidFill>
                  <a:srgbClr val="555555"/>
                </a:solidFill>
                <a:latin typeface="Yu Gothic" pitchFamily="34" charset="0"/>
                <a:ea typeface="Yu Gothic" pitchFamily="34" charset="-122"/>
                <a:cs typeface="Yu Gothic" pitchFamily="34" charset="-120"/>
              </a:rPr>
              <a:t>カウンター・出発準備が</a:t>
            </a:r>
            <a:endParaRPr lang="en-US" sz="1200" dirty="0"/>
          </a:p>
          <a:p>
            <a:pPr algn="ctr" indent="0" marL="0">
              <a:buNone/>
            </a:pPr>
            <a:r>
              <a:rPr lang="en-US" sz="1200" dirty="0">
                <a:solidFill>
                  <a:srgbClr val="555555"/>
                </a:solidFill>
                <a:latin typeface="Yu Gothic" pitchFamily="34" charset="0"/>
                <a:ea typeface="Yu Gothic" pitchFamily="34" charset="-122"/>
                <a:cs typeface="Yu Gothic" pitchFamily="34" charset="-120"/>
              </a:rPr>
              <a:t>同時進行</a:t>
            </a:r>
            <a:endParaRPr lang="en-US" sz="1200" dirty="0"/>
          </a:p>
        </p:txBody>
      </p:sp>
      <p:sp>
        <p:nvSpPr>
          <p:cNvPr id="25" name="Shape 18"/>
          <p:cNvSpPr/>
          <p:nvPr/>
        </p:nvSpPr>
        <p:spPr>
          <a:xfrm>
            <a:off x="365760" y="4572000"/>
            <a:ext cx="8412480" cy="411480"/>
          </a:xfrm>
          <a:prstGeom prst="rect">
            <a:avLst/>
          </a:prstGeom>
          <a:solidFill>
            <a:srgbClr val="FFF3E0"/>
          </a:solidFill>
          <a:ln w="12700">
            <a:solidFill>
              <a:srgbClr val="FFD9A0"/>
            </a:solidFill>
            <a:prstDash val="solid"/>
          </a:ln>
        </p:spPr>
      </p:sp>
      <p:sp>
        <p:nvSpPr>
          <p:cNvPr id="26" name="Text 19"/>
          <p:cNvSpPr/>
          <p:nvPr/>
        </p:nvSpPr>
        <p:spPr>
          <a:xfrm>
            <a:off x="457200" y="4617720"/>
            <a:ext cx="8229600" cy="320040"/>
          </a:xfrm>
          <a:prstGeom prst="rect">
            <a:avLst/>
          </a:prstGeom>
          <a:noFill/>
          <a:ln/>
        </p:spPr>
        <p:txBody>
          <a:bodyPr wrap="square" rtlCol="0" anchor="ctr"/>
          <a:lstStyle/>
          <a:p>
            <a:pPr algn="ctr" indent="0" marL="0">
              <a:buNone/>
            </a:pPr>
            <a:r>
              <a:rPr lang="en-US" sz="1200" dirty="0">
                <a:solidFill>
                  <a:srgbClr val="E65100"/>
                </a:solidFill>
                <a:latin typeface="Yu Gothic" pitchFamily="34" charset="0"/>
                <a:ea typeface="Yu Gothic" pitchFamily="34" charset="-122"/>
                <a:cs typeface="Yu Gothic" pitchFamily="34" charset="-120"/>
              </a:rPr>
              <a:t>すべての新幹線が停車するわけではないため、来店が特定の時間帯に集中しやすい</a:t>
            </a:r>
            <a:endParaRPr lang="en-US" sz="1200" dirty="0"/>
          </a:p>
        </p:txBody>
      </p:sp>
      <p:sp>
        <p:nvSpPr>
          <p:cNvPr id="27" name="Text 20"/>
          <p:cNvSpPr/>
          <p:nvPr/>
        </p:nvSpPr>
        <p:spPr>
          <a:xfrm>
            <a:off x="8778240" y="4846320"/>
            <a:ext cx="320040" cy="228600"/>
          </a:xfrm>
          <a:prstGeom prst="rect">
            <a:avLst/>
          </a:prstGeom>
          <a:noFill/>
          <a:ln/>
        </p:spPr>
        <p:txBody>
          <a:bodyPr wrap="square" rtlCol="0" anchor="ctr"/>
          <a:lstStyle/>
          <a:p>
            <a:pPr algn="r" indent="0" marL="0">
              <a:buNone/>
            </a:pPr>
            <a:r>
              <a:rPr lang="en-US" sz="1000" dirty="0">
                <a:solidFill>
                  <a:srgbClr val="999999"/>
                </a:solidFill>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502920"/>
            <a:ext cx="54864" cy="502920"/>
          </a:xfrm>
          <a:prstGeom prst="rect">
            <a:avLst/>
          </a:prstGeom>
          <a:solidFill>
            <a:srgbClr val="00A040"/>
          </a:solidFill>
          <a:ln w="12700">
            <a:solidFill>
              <a:srgbClr val="00A040"/>
            </a:solidFill>
            <a:prstDash val="solid"/>
          </a:ln>
        </p:spPr>
      </p:sp>
      <p:sp>
        <p:nvSpPr>
          <p:cNvPr id="3" name="Text 1"/>
          <p:cNvSpPr/>
          <p:nvPr/>
        </p:nvSpPr>
        <p:spPr>
          <a:xfrm>
            <a:off x="502920" y="457200"/>
            <a:ext cx="8321040" cy="594360"/>
          </a:xfrm>
          <a:prstGeom prst="rect">
            <a:avLst/>
          </a:prstGeom>
          <a:noFill/>
          <a:ln/>
        </p:spPr>
        <p:txBody>
          <a:bodyPr wrap="square" lIns="0" tIns="0" rIns="0" bIns="0" rtlCol="0" anchor="ctr"/>
          <a:lstStyle/>
          <a:p>
            <a:pPr indent="0" marL="0">
              <a:buNone/>
            </a:pPr>
            <a:r>
              <a:rPr lang="en-US" sz="2200" b="1" dirty="0">
                <a:solidFill>
                  <a:srgbClr val="222222"/>
                </a:solidFill>
                <a:latin typeface="Yu Gothic" pitchFamily="34" charset="0"/>
                <a:ea typeface="Yu Gothic" pitchFamily="34" charset="-122"/>
                <a:cs typeface="Yu Gothic" pitchFamily="34" charset="-120"/>
              </a:rPr>
              <a:t>今回の課題</a:t>
            </a:r>
            <a:endParaRPr lang="en-US" sz="2200" dirty="0"/>
          </a:p>
        </p:txBody>
      </p:sp>
      <p:sp>
        <p:nvSpPr>
          <p:cNvPr id="4" name="Shape 2"/>
          <p:cNvSpPr/>
          <p:nvPr/>
        </p:nvSpPr>
        <p:spPr>
          <a:xfrm>
            <a:off x="365760" y="1051560"/>
            <a:ext cx="8412480" cy="0"/>
          </a:xfrm>
          <a:prstGeom prst="line">
            <a:avLst/>
          </a:prstGeom>
          <a:noFill/>
          <a:ln w="12700">
            <a:solidFill>
              <a:srgbClr val="E0E0E0"/>
            </a:solidFill>
            <a:prstDash val="solid"/>
          </a:ln>
        </p:spPr>
      </p:sp>
      <p:sp>
        <p:nvSpPr>
          <p:cNvPr id="5" name="Shape 3"/>
          <p:cNvSpPr/>
          <p:nvPr/>
        </p:nvSpPr>
        <p:spPr>
          <a:xfrm>
            <a:off x="914400" y="1371600"/>
            <a:ext cx="7315200" cy="3429000"/>
          </a:xfrm>
          <a:prstGeom prst="rect">
            <a:avLst/>
          </a:prstGeom>
          <a:solidFill>
            <a:srgbClr val="FFF8F0"/>
          </a:solidFill>
          <a:ln w="19050">
            <a:solidFill>
              <a:srgbClr val="FFCC99"/>
            </a:solidFill>
            <a:prstDash val="solid"/>
          </a:ln>
        </p:spPr>
      </p:sp>
      <p:sp>
        <p:nvSpPr>
          <p:cNvPr id="6" name="Shape 4"/>
          <p:cNvSpPr/>
          <p:nvPr/>
        </p:nvSpPr>
        <p:spPr>
          <a:xfrm>
            <a:off x="914400" y="1371600"/>
            <a:ext cx="7315200" cy="109728"/>
          </a:xfrm>
          <a:prstGeom prst="rect">
            <a:avLst/>
          </a:prstGeom>
          <a:solidFill>
            <a:srgbClr val="FF8C00"/>
          </a:solidFill>
          <a:ln w="12700">
            <a:solidFill>
              <a:srgbClr val="FF8C00"/>
            </a:solidFill>
            <a:prstDash val="solid"/>
          </a:ln>
        </p:spPr>
      </p:sp>
      <p:pic>
        <p:nvPicPr>
          <p:cNvPr id="7" name="Image 0" descr="preencoded.png">    </p:cNvPr>
          <p:cNvPicPr>
            <a:picLocks noChangeAspect="1"/>
          </p:cNvPicPr>
          <p:nvPr/>
        </p:nvPicPr>
        <p:blipFill>
          <a:blip r:embed="rId1"/>
          <a:stretch>
            <a:fillRect/>
          </a:stretch>
        </p:blipFill>
        <p:spPr>
          <a:xfrm>
            <a:off x="4251960" y="1691640"/>
            <a:ext cx="640080" cy="640080"/>
          </a:xfrm>
          <a:prstGeom prst="rect">
            <a:avLst/>
          </a:prstGeom>
        </p:spPr>
      </p:pic>
      <p:sp>
        <p:nvSpPr>
          <p:cNvPr id="8" name="Text 5"/>
          <p:cNvSpPr/>
          <p:nvPr/>
        </p:nvSpPr>
        <p:spPr>
          <a:xfrm>
            <a:off x="1097280" y="2468880"/>
            <a:ext cx="6949440" cy="868680"/>
          </a:xfrm>
          <a:prstGeom prst="rect">
            <a:avLst/>
          </a:prstGeom>
          <a:noFill/>
          <a:ln/>
        </p:spPr>
        <p:txBody>
          <a:bodyPr wrap="square" rtlCol="0" anchor="ctr"/>
          <a:lstStyle/>
          <a:p>
            <a:pPr algn="ctr" indent="0" marL="0">
              <a:buNone/>
            </a:pPr>
            <a:r>
              <a:rPr lang="en-US" sz="3400" b="1" dirty="0">
                <a:solidFill>
                  <a:srgbClr val="CC6600"/>
                </a:solidFill>
                <a:latin typeface="Yu Gothic" pitchFamily="34" charset="0"/>
                <a:ea typeface="Yu Gothic" pitchFamily="34" charset="-122"/>
                <a:cs typeface="Yu Gothic" pitchFamily="34" charset="-120"/>
              </a:rPr>
              <a:t>オペレーションの詰まり</a:t>
            </a:r>
            <a:endParaRPr lang="en-US" sz="3400" dirty="0"/>
          </a:p>
        </p:txBody>
      </p:sp>
      <p:sp>
        <p:nvSpPr>
          <p:cNvPr id="9" name="Shape 6"/>
          <p:cNvSpPr/>
          <p:nvPr/>
        </p:nvSpPr>
        <p:spPr>
          <a:xfrm>
            <a:off x="2286000" y="3429000"/>
            <a:ext cx="4572000" cy="0"/>
          </a:xfrm>
          <a:prstGeom prst="line">
            <a:avLst/>
          </a:prstGeom>
          <a:noFill/>
          <a:ln w="12700">
            <a:solidFill>
              <a:srgbClr val="FFCC99"/>
            </a:solidFill>
            <a:prstDash val="solid"/>
          </a:ln>
        </p:spPr>
      </p:sp>
      <p:sp>
        <p:nvSpPr>
          <p:cNvPr id="10" name="Text 7"/>
          <p:cNvSpPr/>
          <p:nvPr/>
        </p:nvSpPr>
        <p:spPr>
          <a:xfrm>
            <a:off x="1097280" y="3566160"/>
            <a:ext cx="6949440" cy="640080"/>
          </a:xfrm>
          <a:prstGeom prst="rect">
            <a:avLst/>
          </a:prstGeom>
          <a:noFill/>
          <a:ln/>
        </p:spPr>
        <p:txBody>
          <a:bodyPr wrap="square" rtlCol="0" anchor="ctr"/>
          <a:lstStyle/>
          <a:p>
            <a:pPr algn="ctr" indent="0" marL="0">
              <a:buNone/>
            </a:pPr>
            <a:r>
              <a:rPr lang="en-US" sz="2000" dirty="0">
                <a:solidFill>
                  <a:srgbClr val="444444"/>
                </a:solidFill>
                <a:latin typeface="Yu Gothic" pitchFamily="34" charset="0"/>
                <a:ea typeface="Yu Gothic" pitchFamily="34" charset="-122"/>
                <a:cs typeface="Yu Gothic" pitchFamily="34" charset="-120"/>
              </a:rPr>
              <a:t>件数の問題ではなく、構造の問題</a:t>
            </a:r>
            <a:endParaRPr lang="en-US" sz="2000" dirty="0"/>
          </a:p>
        </p:txBody>
      </p:sp>
      <p:sp>
        <p:nvSpPr>
          <p:cNvPr id="11" name="Text 8"/>
          <p:cNvSpPr/>
          <p:nvPr/>
        </p:nvSpPr>
        <p:spPr>
          <a:xfrm>
            <a:off x="8778240" y="4846320"/>
            <a:ext cx="320040" cy="228600"/>
          </a:xfrm>
          <a:prstGeom prst="rect">
            <a:avLst/>
          </a:prstGeom>
          <a:noFill/>
          <a:ln/>
        </p:spPr>
        <p:txBody>
          <a:bodyPr wrap="square" rtlCol="0" anchor="ctr"/>
          <a:lstStyle/>
          <a:p>
            <a:pPr algn="r" indent="0" marL="0">
              <a:buNone/>
            </a:pPr>
            <a:r>
              <a:rPr lang="en-US" sz="1000" dirty="0">
                <a:solidFill>
                  <a:srgbClr val="999999"/>
                </a:solidFill>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502920"/>
            <a:ext cx="54864" cy="502920"/>
          </a:xfrm>
          <a:prstGeom prst="rect">
            <a:avLst/>
          </a:prstGeom>
          <a:solidFill>
            <a:srgbClr val="00A040"/>
          </a:solidFill>
          <a:ln w="12700">
            <a:solidFill>
              <a:srgbClr val="00A040"/>
            </a:solidFill>
            <a:prstDash val="solid"/>
          </a:ln>
        </p:spPr>
      </p:sp>
      <p:sp>
        <p:nvSpPr>
          <p:cNvPr id="3" name="Text 1"/>
          <p:cNvSpPr/>
          <p:nvPr/>
        </p:nvSpPr>
        <p:spPr>
          <a:xfrm>
            <a:off x="502920" y="457200"/>
            <a:ext cx="8321040" cy="594360"/>
          </a:xfrm>
          <a:prstGeom prst="rect">
            <a:avLst/>
          </a:prstGeom>
          <a:noFill/>
          <a:ln/>
        </p:spPr>
        <p:txBody>
          <a:bodyPr wrap="square" lIns="0" tIns="0" rIns="0" bIns="0" rtlCol="0" anchor="ctr"/>
          <a:lstStyle/>
          <a:p>
            <a:pPr indent="0" marL="0">
              <a:buNone/>
            </a:pPr>
            <a:r>
              <a:rPr lang="en-US" sz="2200" b="1" dirty="0">
                <a:solidFill>
                  <a:srgbClr val="222222"/>
                </a:solidFill>
                <a:latin typeface="Yu Gothic" pitchFamily="34" charset="0"/>
                <a:ea typeface="Yu Gothic" pitchFamily="34" charset="-122"/>
                <a:cs typeface="Yu Gothic" pitchFamily="34" charset="-120"/>
              </a:rPr>
              <a:t>カウンターの現場条件</a:t>
            </a:r>
            <a:endParaRPr lang="en-US" sz="2200" dirty="0"/>
          </a:p>
        </p:txBody>
      </p:sp>
      <p:sp>
        <p:nvSpPr>
          <p:cNvPr id="4" name="Shape 2"/>
          <p:cNvSpPr/>
          <p:nvPr/>
        </p:nvSpPr>
        <p:spPr>
          <a:xfrm>
            <a:off x="365760" y="1051560"/>
            <a:ext cx="8412480" cy="0"/>
          </a:xfrm>
          <a:prstGeom prst="line">
            <a:avLst/>
          </a:prstGeom>
          <a:noFill/>
          <a:ln w="12700">
            <a:solidFill>
              <a:srgbClr val="E0E0E0"/>
            </a:solidFill>
            <a:prstDash val="solid"/>
          </a:ln>
        </p:spPr>
      </p:sp>
      <p:sp>
        <p:nvSpPr>
          <p:cNvPr id="5" name="Shape 3"/>
          <p:cNvSpPr/>
          <p:nvPr/>
        </p:nvSpPr>
        <p:spPr>
          <a:xfrm>
            <a:off x="365760" y="1417320"/>
            <a:ext cx="2468880" cy="1234440"/>
          </a:xfrm>
          <a:prstGeom prst="rect">
            <a:avLst/>
          </a:prstGeom>
          <a:solidFill>
            <a:srgbClr val="E8F5ED"/>
          </a:solidFill>
          <a:ln w="25400">
            <a:solidFill>
              <a:srgbClr val="C5E8D1"/>
            </a:solidFill>
            <a:prstDash val="solid"/>
          </a:ln>
        </p:spPr>
      </p:sp>
      <p:sp>
        <p:nvSpPr>
          <p:cNvPr id="6" name="Text 4"/>
          <p:cNvSpPr/>
          <p:nvPr/>
        </p:nvSpPr>
        <p:spPr>
          <a:xfrm>
            <a:off x="457200" y="1490472"/>
            <a:ext cx="2286000" cy="411480"/>
          </a:xfrm>
          <a:prstGeom prst="rect">
            <a:avLst/>
          </a:prstGeom>
          <a:noFill/>
          <a:ln/>
        </p:spPr>
        <p:txBody>
          <a:bodyPr wrap="square" rtlCol="0" anchor="ctr"/>
          <a:lstStyle/>
          <a:p>
            <a:pPr algn="ctr" indent="0" marL="0">
              <a:buNone/>
            </a:pPr>
            <a:r>
              <a:rPr lang="en-US" sz="1600" b="1" dirty="0">
                <a:solidFill>
                  <a:srgbClr val="00A040"/>
                </a:solidFill>
                <a:latin typeface="Yu Gothic" pitchFamily="34" charset="0"/>
                <a:ea typeface="Yu Gothic" pitchFamily="34" charset="-122"/>
                <a:cs typeface="Yu Gothic" pitchFamily="34" charset="-120"/>
              </a:rPr>
              <a:t>NEO端末（1）</a:t>
            </a:r>
            <a:endParaRPr lang="en-US" sz="1600" dirty="0"/>
          </a:p>
        </p:txBody>
      </p:sp>
      <p:pic>
        <p:nvPicPr>
          <p:cNvPr id="7" name="Image 0" descr="preencoded.png">    </p:cNvPr>
          <p:cNvPicPr>
            <a:picLocks noChangeAspect="1"/>
          </p:cNvPicPr>
          <p:nvPr/>
        </p:nvPicPr>
        <p:blipFill>
          <a:blip r:embed="rId1"/>
          <a:stretch>
            <a:fillRect/>
          </a:stretch>
        </p:blipFill>
        <p:spPr>
          <a:xfrm>
            <a:off x="1371600" y="1965960"/>
            <a:ext cx="320040" cy="320040"/>
          </a:xfrm>
          <a:prstGeom prst="rect">
            <a:avLst/>
          </a:prstGeom>
        </p:spPr>
      </p:pic>
      <p:sp>
        <p:nvSpPr>
          <p:cNvPr id="8" name="Text 5"/>
          <p:cNvSpPr/>
          <p:nvPr/>
        </p:nvSpPr>
        <p:spPr>
          <a:xfrm>
            <a:off x="457200" y="2286000"/>
            <a:ext cx="2286000" cy="320040"/>
          </a:xfrm>
          <a:prstGeom prst="rect">
            <a:avLst/>
          </a:prstGeom>
          <a:noFill/>
          <a:ln/>
        </p:spPr>
        <p:txBody>
          <a:bodyPr wrap="square" rtlCol="0" anchor="ctr"/>
          <a:lstStyle/>
          <a:p>
            <a:pPr algn="ctr" indent="0" marL="0">
              <a:buNone/>
            </a:pPr>
            <a:r>
              <a:rPr lang="en-US" sz="1200" dirty="0">
                <a:solidFill>
                  <a:srgbClr val="444444"/>
                </a:solidFill>
                <a:latin typeface="Yu Gothic" pitchFamily="34" charset="0"/>
                <a:ea typeface="Yu Gothic" pitchFamily="34" charset="-122"/>
                <a:cs typeface="Yu Gothic" pitchFamily="34" charset="-120"/>
              </a:rPr>
              <a:t>対応中</a:t>
            </a:r>
            <a:endParaRPr lang="en-US" sz="1200" dirty="0"/>
          </a:p>
        </p:txBody>
      </p:sp>
      <p:sp>
        <p:nvSpPr>
          <p:cNvPr id="9" name="Shape 6"/>
          <p:cNvSpPr/>
          <p:nvPr/>
        </p:nvSpPr>
        <p:spPr>
          <a:xfrm>
            <a:off x="3063240" y="1417320"/>
            <a:ext cx="2468880" cy="1234440"/>
          </a:xfrm>
          <a:prstGeom prst="rect">
            <a:avLst/>
          </a:prstGeom>
          <a:solidFill>
            <a:srgbClr val="E8F5ED"/>
          </a:solidFill>
          <a:ln w="25400">
            <a:solidFill>
              <a:srgbClr val="C5E8D1"/>
            </a:solidFill>
            <a:prstDash val="solid"/>
          </a:ln>
        </p:spPr>
      </p:sp>
      <p:sp>
        <p:nvSpPr>
          <p:cNvPr id="10" name="Text 7"/>
          <p:cNvSpPr/>
          <p:nvPr/>
        </p:nvSpPr>
        <p:spPr>
          <a:xfrm>
            <a:off x="3154680" y="1490472"/>
            <a:ext cx="2286000" cy="411480"/>
          </a:xfrm>
          <a:prstGeom prst="rect">
            <a:avLst/>
          </a:prstGeom>
          <a:noFill/>
          <a:ln/>
        </p:spPr>
        <p:txBody>
          <a:bodyPr wrap="square" rtlCol="0" anchor="ctr"/>
          <a:lstStyle/>
          <a:p>
            <a:pPr algn="ctr" indent="0" marL="0">
              <a:buNone/>
            </a:pPr>
            <a:r>
              <a:rPr lang="en-US" sz="1600" b="1" dirty="0">
                <a:solidFill>
                  <a:srgbClr val="00A040"/>
                </a:solidFill>
                <a:latin typeface="Yu Gothic" pitchFamily="34" charset="0"/>
                <a:ea typeface="Yu Gothic" pitchFamily="34" charset="-122"/>
                <a:cs typeface="Yu Gothic" pitchFamily="34" charset="-120"/>
              </a:rPr>
              <a:t>NEO端末（2）</a:t>
            </a:r>
            <a:endParaRPr lang="en-US" sz="1600" dirty="0"/>
          </a:p>
        </p:txBody>
      </p:sp>
      <p:pic>
        <p:nvPicPr>
          <p:cNvPr id="11" name="Image 1" descr="preencoded.png">    </p:cNvPr>
          <p:cNvPicPr>
            <a:picLocks noChangeAspect="1"/>
          </p:cNvPicPr>
          <p:nvPr/>
        </p:nvPicPr>
        <p:blipFill>
          <a:blip r:embed="rId2"/>
          <a:stretch>
            <a:fillRect/>
          </a:stretch>
        </p:blipFill>
        <p:spPr>
          <a:xfrm>
            <a:off x="4069080" y="1965960"/>
            <a:ext cx="320040" cy="320040"/>
          </a:xfrm>
          <a:prstGeom prst="rect">
            <a:avLst/>
          </a:prstGeom>
        </p:spPr>
      </p:pic>
      <p:sp>
        <p:nvSpPr>
          <p:cNvPr id="12" name="Text 8"/>
          <p:cNvSpPr/>
          <p:nvPr/>
        </p:nvSpPr>
        <p:spPr>
          <a:xfrm>
            <a:off x="3154680" y="2286000"/>
            <a:ext cx="2286000" cy="320040"/>
          </a:xfrm>
          <a:prstGeom prst="rect">
            <a:avLst/>
          </a:prstGeom>
          <a:noFill/>
          <a:ln/>
        </p:spPr>
        <p:txBody>
          <a:bodyPr wrap="square" rtlCol="0" anchor="ctr"/>
          <a:lstStyle/>
          <a:p>
            <a:pPr algn="ctr" indent="0" marL="0">
              <a:buNone/>
            </a:pPr>
            <a:r>
              <a:rPr lang="en-US" sz="1200" dirty="0">
                <a:solidFill>
                  <a:srgbClr val="444444"/>
                </a:solidFill>
                <a:latin typeface="Yu Gothic" pitchFamily="34" charset="0"/>
                <a:ea typeface="Yu Gothic" pitchFamily="34" charset="-122"/>
                <a:cs typeface="Yu Gothic" pitchFamily="34" charset="-120"/>
              </a:rPr>
              <a:t>対応中</a:t>
            </a:r>
            <a:endParaRPr lang="en-US" sz="1200" dirty="0"/>
          </a:p>
        </p:txBody>
      </p:sp>
      <p:sp>
        <p:nvSpPr>
          <p:cNvPr id="13" name="Shape 9"/>
          <p:cNvSpPr/>
          <p:nvPr/>
        </p:nvSpPr>
        <p:spPr>
          <a:xfrm>
            <a:off x="5760720" y="1417320"/>
            <a:ext cx="3108960" cy="1234440"/>
          </a:xfrm>
          <a:prstGeom prst="rect">
            <a:avLst/>
          </a:prstGeom>
          <a:solidFill>
            <a:srgbClr val="FFF3E0"/>
          </a:solidFill>
          <a:ln w="25400">
            <a:solidFill>
              <a:srgbClr val="FFD9A0"/>
            </a:solidFill>
            <a:prstDash val="solid"/>
          </a:ln>
        </p:spPr>
      </p:sp>
      <p:sp>
        <p:nvSpPr>
          <p:cNvPr id="14" name="Text 10"/>
          <p:cNvSpPr/>
          <p:nvPr/>
        </p:nvSpPr>
        <p:spPr>
          <a:xfrm>
            <a:off x="5852160" y="1490472"/>
            <a:ext cx="2926080" cy="411480"/>
          </a:xfrm>
          <a:prstGeom prst="rect">
            <a:avLst/>
          </a:prstGeom>
          <a:noFill/>
          <a:ln/>
        </p:spPr>
        <p:txBody>
          <a:bodyPr wrap="square" rtlCol="0" anchor="ctr"/>
          <a:lstStyle/>
          <a:p>
            <a:pPr algn="ctr" indent="0" marL="0">
              <a:buNone/>
            </a:pPr>
            <a:r>
              <a:rPr lang="en-US" sz="1500" b="1" dirty="0">
                <a:solidFill>
                  <a:srgbClr val="CC6600"/>
                </a:solidFill>
                <a:latin typeface="Yu Gothic" pitchFamily="34" charset="0"/>
                <a:ea typeface="Yu Gothic" pitchFamily="34" charset="-122"/>
                <a:cs typeface="Yu Gothic" pitchFamily="34" charset="-120"/>
              </a:rPr>
              <a:t>次のお客様</a:t>
            </a:r>
            <a:endParaRPr lang="en-US" sz="1500" dirty="0"/>
          </a:p>
        </p:txBody>
      </p:sp>
      <p:pic>
        <p:nvPicPr>
          <p:cNvPr id="15" name="Image 2" descr="preencoded.png">    </p:cNvPr>
          <p:cNvPicPr>
            <a:picLocks noChangeAspect="1"/>
          </p:cNvPicPr>
          <p:nvPr/>
        </p:nvPicPr>
        <p:blipFill>
          <a:blip r:embed="rId3"/>
          <a:stretch>
            <a:fillRect/>
          </a:stretch>
        </p:blipFill>
        <p:spPr>
          <a:xfrm>
            <a:off x="6858000" y="1965960"/>
            <a:ext cx="320040" cy="320040"/>
          </a:xfrm>
          <a:prstGeom prst="rect">
            <a:avLst/>
          </a:prstGeom>
        </p:spPr>
      </p:pic>
      <p:sp>
        <p:nvSpPr>
          <p:cNvPr id="16" name="Text 11"/>
          <p:cNvSpPr/>
          <p:nvPr/>
        </p:nvSpPr>
        <p:spPr>
          <a:xfrm>
            <a:off x="5852160" y="2286000"/>
            <a:ext cx="2926080" cy="320040"/>
          </a:xfrm>
          <a:prstGeom prst="rect">
            <a:avLst/>
          </a:prstGeom>
          <a:noFill/>
          <a:ln/>
        </p:spPr>
        <p:txBody>
          <a:bodyPr wrap="square" rtlCol="0" anchor="ctr"/>
          <a:lstStyle/>
          <a:p>
            <a:pPr algn="ctr" indent="0" marL="0">
              <a:buNone/>
            </a:pPr>
            <a:r>
              <a:rPr lang="en-US" sz="1200" dirty="0">
                <a:solidFill>
                  <a:srgbClr val="CC6600"/>
                </a:solidFill>
                <a:latin typeface="Yu Gothic" pitchFamily="34" charset="0"/>
                <a:ea typeface="Yu Gothic" pitchFamily="34" charset="-122"/>
                <a:cs typeface="Yu Gothic" pitchFamily="34" charset="-120"/>
              </a:rPr>
              <a:t>待機中</a:t>
            </a:r>
            <a:endParaRPr lang="en-US" sz="1200" dirty="0"/>
          </a:p>
        </p:txBody>
      </p:sp>
      <p:sp>
        <p:nvSpPr>
          <p:cNvPr id="17" name="Shape 12"/>
          <p:cNvSpPr/>
          <p:nvPr/>
        </p:nvSpPr>
        <p:spPr>
          <a:xfrm>
            <a:off x="365760" y="2971800"/>
            <a:ext cx="4114800" cy="0"/>
          </a:xfrm>
          <a:prstGeom prst="line">
            <a:avLst/>
          </a:prstGeom>
          <a:noFill/>
          <a:ln w="19050">
            <a:solidFill>
              <a:srgbClr val="C5E8D1"/>
            </a:solidFill>
            <a:prstDash val="solid"/>
          </a:ln>
        </p:spPr>
      </p:sp>
      <p:sp>
        <p:nvSpPr>
          <p:cNvPr id="18" name="Text 13"/>
          <p:cNvSpPr/>
          <p:nvPr/>
        </p:nvSpPr>
        <p:spPr>
          <a:xfrm>
            <a:off x="365760" y="3063240"/>
            <a:ext cx="4114800" cy="502920"/>
          </a:xfrm>
          <a:prstGeom prst="rect">
            <a:avLst/>
          </a:prstGeom>
          <a:noFill/>
          <a:ln/>
        </p:spPr>
        <p:txBody>
          <a:bodyPr wrap="square" rtlCol="0" anchor="ctr"/>
          <a:lstStyle/>
          <a:p>
            <a:pPr indent="0" marL="0">
              <a:buNone/>
            </a:pPr>
            <a:r>
              <a:rPr lang="en-US" sz="2600" b="1" dirty="0">
                <a:solidFill>
                  <a:srgbClr val="00A040"/>
                </a:solidFill>
                <a:latin typeface="Yu Gothic" pitchFamily="34" charset="0"/>
                <a:ea typeface="Yu Gothic" pitchFamily="34" charset="-122"/>
                <a:cs typeface="Yu Gothic" pitchFamily="34" charset="-120"/>
              </a:rPr>
              <a:t>NEO端末　2台</a:t>
            </a:r>
            <a:endParaRPr lang="en-US" sz="2600" dirty="0"/>
          </a:p>
        </p:txBody>
      </p:sp>
      <p:sp>
        <p:nvSpPr>
          <p:cNvPr id="19" name="Text 14"/>
          <p:cNvSpPr/>
          <p:nvPr/>
        </p:nvSpPr>
        <p:spPr>
          <a:xfrm>
            <a:off x="365760" y="3566160"/>
            <a:ext cx="4114800" cy="411480"/>
          </a:xfrm>
          <a:prstGeom prst="rect">
            <a:avLst/>
          </a:prstGeom>
          <a:noFill/>
          <a:ln/>
        </p:spPr>
        <p:txBody>
          <a:bodyPr wrap="square" rtlCol="0" anchor="ctr"/>
          <a:lstStyle/>
          <a:p>
            <a:pPr indent="0" marL="0">
              <a:buNone/>
            </a:pPr>
            <a:r>
              <a:rPr lang="en-US" sz="1600" dirty="0">
                <a:solidFill>
                  <a:srgbClr val="444444"/>
                </a:solidFill>
                <a:latin typeface="Yu Gothic" pitchFamily="34" charset="0"/>
                <a:ea typeface="Yu Gothic" pitchFamily="34" charset="-122"/>
                <a:cs typeface="Yu Gothic" pitchFamily="34" charset="-120"/>
              </a:rPr>
              <a:t>同時対応　最大 2組まで</a:t>
            </a:r>
            <a:endParaRPr lang="en-US" sz="1600" dirty="0"/>
          </a:p>
        </p:txBody>
      </p:sp>
      <p:sp>
        <p:nvSpPr>
          <p:cNvPr id="20" name="Shape 15"/>
          <p:cNvSpPr/>
          <p:nvPr/>
        </p:nvSpPr>
        <p:spPr>
          <a:xfrm>
            <a:off x="4572000" y="2971800"/>
            <a:ext cx="0" cy="1005840"/>
          </a:xfrm>
          <a:prstGeom prst="line">
            <a:avLst/>
          </a:prstGeom>
          <a:noFill/>
          <a:ln w="12700">
            <a:solidFill>
              <a:srgbClr val="DDDDDD"/>
            </a:solidFill>
            <a:prstDash val="solid"/>
          </a:ln>
        </p:spPr>
      </p:sp>
      <p:sp>
        <p:nvSpPr>
          <p:cNvPr id="21" name="Shape 16"/>
          <p:cNvSpPr/>
          <p:nvPr/>
        </p:nvSpPr>
        <p:spPr>
          <a:xfrm>
            <a:off x="4709160" y="2971800"/>
            <a:ext cx="4023360" cy="0"/>
          </a:xfrm>
          <a:prstGeom prst="line">
            <a:avLst/>
          </a:prstGeom>
          <a:noFill/>
          <a:ln w="19050">
            <a:solidFill>
              <a:srgbClr val="C5E8D1"/>
            </a:solidFill>
            <a:prstDash val="solid"/>
          </a:ln>
        </p:spPr>
      </p:sp>
      <p:sp>
        <p:nvSpPr>
          <p:cNvPr id="22" name="Text 17"/>
          <p:cNvSpPr/>
          <p:nvPr/>
        </p:nvSpPr>
        <p:spPr>
          <a:xfrm>
            <a:off x="4709160" y="3063240"/>
            <a:ext cx="4023360" cy="411480"/>
          </a:xfrm>
          <a:prstGeom prst="rect">
            <a:avLst/>
          </a:prstGeom>
          <a:noFill/>
          <a:ln/>
        </p:spPr>
        <p:txBody>
          <a:bodyPr wrap="square" rtlCol="0" anchor="ctr"/>
          <a:lstStyle/>
          <a:p>
            <a:pPr indent="0" marL="0">
              <a:buNone/>
            </a:pPr>
            <a:r>
              <a:rPr lang="en-US" sz="1400" dirty="0">
                <a:solidFill>
                  <a:srgbClr val="444444"/>
                </a:solidFill>
                <a:latin typeface="Yu Gothic" pitchFamily="34" charset="0"/>
                <a:ea typeface="Yu Gothic" pitchFamily="34" charset="-122"/>
                <a:cs typeface="Yu Gothic" pitchFamily="34" charset="-120"/>
              </a:rPr>
              <a:t>店内手続きの目安</a:t>
            </a:r>
            <a:endParaRPr lang="en-US" sz="1400" dirty="0"/>
          </a:p>
        </p:txBody>
      </p:sp>
      <p:sp>
        <p:nvSpPr>
          <p:cNvPr id="23" name="Text 18"/>
          <p:cNvSpPr/>
          <p:nvPr/>
        </p:nvSpPr>
        <p:spPr>
          <a:xfrm>
            <a:off x="4709160" y="3474720"/>
            <a:ext cx="4023360" cy="548640"/>
          </a:xfrm>
          <a:prstGeom prst="rect">
            <a:avLst/>
          </a:prstGeom>
          <a:noFill/>
          <a:ln/>
        </p:spPr>
        <p:txBody>
          <a:bodyPr wrap="square" rtlCol="0" anchor="ctr"/>
          <a:lstStyle/>
          <a:p>
            <a:pPr indent="0" marL="0">
              <a:buNone/>
            </a:pPr>
            <a:r>
              <a:rPr lang="en-US" sz="2400" b="1" dirty="0">
                <a:solidFill>
                  <a:srgbClr val="222222"/>
                </a:solidFill>
                <a:latin typeface="Yu Gothic" pitchFamily="34" charset="0"/>
                <a:ea typeface="Yu Gothic" pitchFamily="34" charset="-122"/>
                <a:cs typeface="Yu Gothic" pitchFamily="34" charset="-120"/>
              </a:rPr>
              <a:t>最大　約 6分30秒</a:t>
            </a:r>
            <a:endParaRPr lang="en-US" sz="2400" dirty="0"/>
          </a:p>
        </p:txBody>
      </p:sp>
      <p:sp>
        <p:nvSpPr>
          <p:cNvPr id="24" name="Text 19"/>
          <p:cNvSpPr/>
          <p:nvPr/>
        </p:nvSpPr>
        <p:spPr>
          <a:xfrm>
            <a:off x="4709160" y="4023360"/>
            <a:ext cx="4023360" cy="274320"/>
          </a:xfrm>
          <a:prstGeom prst="rect">
            <a:avLst/>
          </a:prstGeom>
          <a:noFill/>
          <a:ln/>
        </p:spPr>
        <p:txBody>
          <a:bodyPr wrap="square" rtlCol="0" anchor="ctr"/>
          <a:lstStyle/>
          <a:p>
            <a:pPr indent="0" marL="0">
              <a:buNone/>
            </a:pPr>
            <a:r>
              <a:rPr lang="en-US" sz="1100" i="1" dirty="0">
                <a:solidFill>
                  <a:srgbClr val="999999"/>
                </a:solidFill>
                <a:latin typeface="Yu Gothic" pitchFamily="34" charset="0"/>
                <a:ea typeface="Yu Gothic" pitchFamily="34" charset="-122"/>
                <a:cs typeface="Yu Gothic" pitchFamily="34" charset="-120"/>
              </a:rPr>
              <a:t>業務マニュアル</a:t>
            </a:r>
            <a:endParaRPr lang="en-US" sz="1100" dirty="0"/>
          </a:p>
        </p:txBody>
      </p:sp>
      <p:sp>
        <p:nvSpPr>
          <p:cNvPr id="25" name="Text 20"/>
          <p:cNvSpPr/>
          <p:nvPr/>
        </p:nvSpPr>
        <p:spPr>
          <a:xfrm>
            <a:off x="8778240" y="4846320"/>
            <a:ext cx="320040" cy="228600"/>
          </a:xfrm>
          <a:prstGeom prst="rect">
            <a:avLst/>
          </a:prstGeom>
          <a:noFill/>
          <a:ln/>
        </p:spPr>
        <p:txBody>
          <a:bodyPr wrap="square" rtlCol="0" anchor="ctr"/>
          <a:lstStyle/>
          <a:p>
            <a:pPr algn="r" indent="0" marL="0">
              <a:buNone/>
            </a:pPr>
            <a:r>
              <a:rPr lang="en-US" sz="1000" dirty="0">
                <a:solidFill>
                  <a:srgbClr val="999999"/>
                </a:solidFill>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502920"/>
            <a:ext cx="54864" cy="502920"/>
          </a:xfrm>
          <a:prstGeom prst="rect">
            <a:avLst/>
          </a:prstGeom>
          <a:solidFill>
            <a:srgbClr val="00A040"/>
          </a:solidFill>
          <a:ln w="12700">
            <a:solidFill>
              <a:srgbClr val="00A040"/>
            </a:solidFill>
            <a:prstDash val="solid"/>
          </a:ln>
        </p:spPr>
      </p:sp>
      <p:sp>
        <p:nvSpPr>
          <p:cNvPr id="3" name="Text 1"/>
          <p:cNvSpPr/>
          <p:nvPr/>
        </p:nvSpPr>
        <p:spPr>
          <a:xfrm>
            <a:off x="502920" y="457200"/>
            <a:ext cx="8321040" cy="594360"/>
          </a:xfrm>
          <a:prstGeom prst="rect">
            <a:avLst/>
          </a:prstGeom>
          <a:noFill/>
          <a:ln/>
        </p:spPr>
        <p:txBody>
          <a:bodyPr wrap="square" lIns="0" tIns="0" rIns="0" bIns="0" rtlCol="0" anchor="ctr"/>
          <a:lstStyle/>
          <a:p>
            <a:pPr indent="0" marL="0">
              <a:buNone/>
            </a:pPr>
            <a:r>
              <a:rPr lang="en-US" sz="2200" b="1" dirty="0">
                <a:solidFill>
                  <a:srgbClr val="222222"/>
                </a:solidFill>
                <a:latin typeface="Yu Gothic" pitchFamily="34" charset="0"/>
                <a:ea typeface="Yu Gothic" pitchFamily="34" charset="-122"/>
                <a:cs typeface="Yu Gothic" pitchFamily="34" charset="-120"/>
              </a:rPr>
              <a:t>カウンターで発生する「詰まり」</a:t>
            </a:r>
            <a:endParaRPr lang="en-US" sz="2200" dirty="0"/>
          </a:p>
        </p:txBody>
      </p:sp>
      <p:sp>
        <p:nvSpPr>
          <p:cNvPr id="4" name="Shape 2"/>
          <p:cNvSpPr/>
          <p:nvPr/>
        </p:nvSpPr>
        <p:spPr>
          <a:xfrm>
            <a:off x="365760" y="1051560"/>
            <a:ext cx="8412480" cy="0"/>
          </a:xfrm>
          <a:prstGeom prst="line">
            <a:avLst/>
          </a:prstGeom>
          <a:noFill/>
          <a:ln w="12700">
            <a:solidFill>
              <a:srgbClr val="E0E0E0"/>
            </a:solidFill>
            <a:prstDash val="solid"/>
          </a:ln>
        </p:spPr>
      </p:sp>
      <p:sp>
        <p:nvSpPr>
          <p:cNvPr id="5" name="Shape 3"/>
          <p:cNvSpPr/>
          <p:nvPr/>
        </p:nvSpPr>
        <p:spPr>
          <a:xfrm>
            <a:off x="1371600" y="1280160"/>
            <a:ext cx="6400800" cy="685800"/>
          </a:xfrm>
          <a:prstGeom prst="rect">
            <a:avLst/>
          </a:prstGeom>
          <a:solidFill>
            <a:srgbClr val="E8F5ED"/>
          </a:solidFill>
          <a:ln w="19050">
            <a:solidFill>
              <a:srgbClr val="C5E8D1"/>
            </a:solidFill>
            <a:prstDash val="solid"/>
          </a:ln>
        </p:spPr>
      </p:sp>
      <p:sp>
        <p:nvSpPr>
          <p:cNvPr id="6" name="Text 4"/>
          <p:cNvSpPr/>
          <p:nvPr/>
        </p:nvSpPr>
        <p:spPr>
          <a:xfrm>
            <a:off x="1554480" y="1280160"/>
            <a:ext cx="6035040" cy="685800"/>
          </a:xfrm>
          <a:prstGeom prst="rect">
            <a:avLst/>
          </a:prstGeom>
          <a:noFill/>
          <a:ln/>
        </p:spPr>
        <p:txBody>
          <a:bodyPr wrap="square" rtlCol="0" anchor="ctr"/>
          <a:lstStyle/>
          <a:p>
            <a:pPr indent="0" marL="0">
              <a:buNone/>
            </a:pPr>
            <a:r>
              <a:rPr lang="en-US" sz="2000" b="1" dirty="0">
                <a:solidFill>
                  <a:srgbClr val="00A040"/>
                </a:solidFill>
                <a:latin typeface="Yu Gothic" pitchFamily="34" charset="0"/>
                <a:ea typeface="Yu Gothic" pitchFamily="34" charset="-122"/>
                <a:cs typeface="Yu Gothic" pitchFamily="34" charset="-120"/>
              </a:rPr>
              <a:t>✓　端末手続きは完了</a:t>
            </a:r>
            <a:endParaRPr lang="en-US" sz="2000" dirty="0"/>
          </a:p>
        </p:txBody>
      </p:sp>
      <p:pic>
        <p:nvPicPr>
          <p:cNvPr id="7" name="Image 0" descr="preencoded.png">    </p:cNvPr>
          <p:cNvPicPr>
            <a:picLocks noChangeAspect="1"/>
          </p:cNvPicPr>
          <p:nvPr/>
        </p:nvPicPr>
        <p:blipFill>
          <a:blip r:embed="rId1"/>
          <a:stretch>
            <a:fillRect/>
          </a:stretch>
        </p:blipFill>
        <p:spPr>
          <a:xfrm rot="5400000">
            <a:off x="4389120" y="2029968"/>
            <a:ext cx="365760" cy="365760"/>
          </a:xfrm>
          <a:prstGeom prst="rect">
            <a:avLst/>
          </a:prstGeom>
        </p:spPr>
      </p:pic>
      <p:sp>
        <p:nvSpPr>
          <p:cNvPr id="8" name="Shape 5"/>
          <p:cNvSpPr/>
          <p:nvPr/>
        </p:nvSpPr>
        <p:spPr>
          <a:xfrm>
            <a:off x="1371600" y="2487168"/>
            <a:ext cx="6400800" cy="685800"/>
          </a:xfrm>
          <a:prstGeom prst="rect">
            <a:avLst/>
          </a:prstGeom>
          <a:solidFill>
            <a:srgbClr val="FFF8F0"/>
          </a:solidFill>
          <a:ln w="19050">
            <a:solidFill>
              <a:srgbClr val="FFCC99"/>
            </a:solidFill>
            <a:prstDash val="solid"/>
          </a:ln>
        </p:spPr>
      </p:sp>
      <p:sp>
        <p:nvSpPr>
          <p:cNvPr id="9" name="Shape 6"/>
          <p:cNvSpPr/>
          <p:nvPr/>
        </p:nvSpPr>
        <p:spPr>
          <a:xfrm>
            <a:off x="1371600" y="2487168"/>
            <a:ext cx="6400800" cy="73152"/>
          </a:xfrm>
          <a:prstGeom prst="rect">
            <a:avLst/>
          </a:prstGeom>
          <a:solidFill>
            <a:srgbClr val="FF8C00"/>
          </a:solidFill>
          <a:ln w="12700">
            <a:solidFill>
              <a:srgbClr val="FF8C00"/>
            </a:solidFill>
            <a:prstDash val="solid"/>
          </a:ln>
        </p:spPr>
      </p:sp>
      <p:sp>
        <p:nvSpPr>
          <p:cNvPr id="10" name="Text 7"/>
          <p:cNvSpPr/>
          <p:nvPr/>
        </p:nvSpPr>
        <p:spPr>
          <a:xfrm>
            <a:off x="1600200" y="2560320"/>
            <a:ext cx="1859280" cy="548640"/>
          </a:xfrm>
          <a:prstGeom prst="rect">
            <a:avLst/>
          </a:prstGeom>
          <a:noFill/>
          <a:ln/>
        </p:spPr>
        <p:txBody>
          <a:bodyPr wrap="square" rtlCol="0" anchor="ctr"/>
          <a:lstStyle/>
          <a:p>
            <a:pPr algn="ctr" indent="0" marL="0">
              <a:buNone/>
            </a:pPr>
            <a:r>
              <a:rPr lang="en-US" sz="1600" dirty="0">
                <a:solidFill>
                  <a:srgbClr val="CC6600"/>
                </a:solidFill>
                <a:latin typeface="Yu Gothic" pitchFamily="34" charset="0"/>
                <a:ea typeface="Yu Gothic" pitchFamily="34" charset="-122"/>
                <a:cs typeface="Yu Gothic" pitchFamily="34" charset="-120"/>
              </a:rPr>
              <a:t>観光地の案内</a:t>
            </a:r>
            <a:endParaRPr lang="en-US" sz="1600" dirty="0"/>
          </a:p>
        </p:txBody>
      </p:sp>
      <p:sp>
        <p:nvSpPr>
          <p:cNvPr id="11" name="Shape 8"/>
          <p:cNvSpPr/>
          <p:nvPr/>
        </p:nvSpPr>
        <p:spPr>
          <a:xfrm>
            <a:off x="3505200" y="2560320"/>
            <a:ext cx="0" cy="548640"/>
          </a:xfrm>
          <a:prstGeom prst="line">
            <a:avLst/>
          </a:prstGeom>
          <a:noFill/>
          <a:ln w="12700">
            <a:solidFill>
              <a:srgbClr val="FFCC99"/>
            </a:solidFill>
            <a:prstDash val="solid"/>
          </a:ln>
        </p:spPr>
      </p:sp>
      <p:sp>
        <p:nvSpPr>
          <p:cNvPr id="12" name="Text 9"/>
          <p:cNvSpPr/>
          <p:nvPr/>
        </p:nvSpPr>
        <p:spPr>
          <a:xfrm>
            <a:off x="3733800" y="2560320"/>
            <a:ext cx="1859280" cy="548640"/>
          </a:xfrm>
          <a:prstGeom prst="rect">
            <a:avLst/>
          </a:prstGeom>
          <a:noFill/>
          <a:ln/>
        </p:spPr>
        <p:txBody>
          <a:bodyPr wrap="square" rtlCol="0" anchor="ctr"/>
          <a:lstStyle/>
          <a:p>
            <a:pPr algn="ctr" indent="0" marL="0">
              <a:buNone/>
            </a:pPr>
            <a:r>
              <a:rPr lang="en-US" sz="1600" dirty="0">
                <a:solidFill>
                  <a:srgbClr val="CC6600"/>
                </a:solidFill>
                <a:latin typeface="Yu Gothic" pitchFamily="34" charset="0"/>
                <a:ea typeface="Yu Gothic" pitchFamily="34" charset="-122"/>
                <a:cs typeface="Yu Gothic" pitchFamily="34" charset="-120"/>
              </a:rPr>
              <a:t>道路状況の確認</a:t>
            </a:r>
            <a:endParaRPr lang="en-US" sz="1600" dirty="0"/>
          </a:p>
        </p:txBody>
      </p:sp>
      <p:sp>
        <p:nvSpPr>
          <p:cNvPr id="13" name="Shape 10"/>
          <p:cNvSpPr/>
          <p:nvPr/>
        </p:nvSpPr>
        <p:spPr>
          <a:xfrm>
            <a:off x="5638800" y="2560320"/>
            <a:ext cx="0" cy="548640"/>
          </a:xfrm>
          <a:prstGeom prst="line">
            <a:avLst/>
          </a:prstGeom>
          <a:noFill/>
          <a:ln w="12700">
            <a:solidFill>
              <a:srgbClr val="FFCC99"/>
            </a:solidFill>
            <a:prstDash val="solid"/>
          </a:ln>
        </p:spPr>
      </p:sp>
      <p:sp>
        <p:nvSpPr>
          <p:cNvPr id="14" name="Text 11"/>
          <p:cNvSpPr/>
          <p:nvPr/>
        </p:nvSpPr>
        <p:spPr>
          <a:xfrm>
            <a:off x="5867400" y="2560320"/>
            <a:ext cx="1859280" cy="548640"/>
          </a:xfrm>
          <a:prstGeom prst="rect">
            <a:avLst/>
          </a:prstGeom>
          <a:noFill/>
          <a:ln/>
        </p:spPr>
        <p:txBody>
          <a:bodyPr wrap="square" rtlCol="0" anchor="ctr"/>
          <a:lstStyle/>
          <a:p>
            <a:pPr algn="ctr" indent="0" marL="0">
              <a:buNone/>
            </a:pPr>
            <a:r>
              <a:rPr lang="en-US" sz="1600" dirty="0">
                <a:solidFill>
                  <a:srgbClr val="CC6600"/>
                </a:solidFill>
                <a:latin typeface="Yu Gothic" pitchFamily="34" charset="0"/>
                <a:ea typeface="Yu Gothic" pitchFamily="34" charset="-122"/>
                <a:cs typeface="Yu Gothic" pitchFamily="34" charset="-120"/>
              </a:rPr>
              <a:t>出発方向の説明</a:t>
            </a:r>
            <a:endParaRPr lang="en-US" sz="1600" dirty="0"/>
          </a:p>
        </p:txBody>
      </p:sp>
      <p:pic>
        <p:nvPicPr>
          <p:cNvPr id="15" name="Image 1" descr="preencoded.png">    </p:cNvPr>
          <p:cNvPicPr>
            <a:picLocks noChangeAspect="1"/>
          </p:cNvPicPr>
          <p:nvPr/>
        </p:nvPicPr>
        <p:blipFill>
          <a:blip r:embed="rId2"/>
          <a:stretch>
            <a:fillRect/>
          </a:stretch>
        </p:blipFill>
        <p:spPr>
          <a:xfrm rot="5400000">
            <a:off x="4389120" y="3246120"/>
            <a:ext cx="365760" cy="365760"/>
          </a:xfrm>
          <a:prstGeom prst="rect">
            <a:avLst/>
          </a:prstGeom>
        </p:spPr>
      </p:pic>
      <p:sp>
        <p:nvSpPr>
          <p:cNvPr id="16" name="Shape 12"/>
          <p:cNvSpPr/>
          <p:nvPr/>
        </p:nvSpPr>
        <p:spPr>
          <a:xfrm>
            <a:off x="1371600" y="3703320"/>
            <a:ext cx="6400800" cy="822960"/>
          </a:xfrm>
          <a:prstGeom prst="rect">
            <a:avLst/>
          </a:prstGeom>
          <a:solidFill>
            <a:srgbClr val="FFF3E0"/>
          </a:solidFill>
          <a:ln w="19050">
            <a:solidFill>
              <a:srgbClr val="FFD9A0"/>
            </a:solidFill>
            <a:prstDash val="solid"/>
          </a:ln>
        </p:spPr>
      </p:sp>
      <p:sp>
        <p:nvSpPr>
          <p:cNvPr id="17" name="Text 13"/>
          <p:cNvSpPr/>
          <p:nvPr/>
        </p:nvSpPr>
        <p:spPr>
          <a:xfrm>
            <a:off x="1554480" y="3703320"/>
            <a:ext cx="6035040" cy="822960"/>
          </a:xfrm>
          <a:prstGeom prst="rect">
            <a:avLst/>
          </a:prstGeom>
          <a:noFill/>
          <a:ln/>
        </p:spPr>
        <p:txBody>
          <a:bodyPr wrap="square" rtlCol="0" anchor="ctr"/>
          <a:lstStyle/>
          <a:p>
            <a:pPr algn="ctr" indent="0" marL="0">
              <a:buNone/>
            </a:pPr>
            <a:r>
              <a:rPr lang="en-US" sz="1900" b="1" dirty="0">
                <a:solidFill>
                  <a:srgbClr val="CC6600"/>
                </a:solidFill>
                <a:latin typeface="Yu Gothic" pitchFamily="34" charset="0"/>
                <a:ea typeface="Yu Gothic" pitchFamily="34" charset="-122"/>
                <a:cs typeface="Yu Gothic" pitchFamily="34" charset="-120"/>
              </a:rPr>
              <a:t>端末が空いていても、次のお客様の手続きに入れない</a:t>
            </a:r>
            <a:endParaRPr lang="en-US" sz="1900" dirty="0"/>
          </a:p>
        </p:txBody>
      </p:sp>
      <p:sp>
        <p:nvSpPr>
          <p:cNvPr id="18" name="Text 14"/>
          <p:cNvSpPr/>
          <p:nvPr/>
        </p:nvSpPr>
        <p:spPr>
          <a:xfrm>
            <a:off x="8778240" y="4846320"/>
            <a:ext cx="320040" cy="228600"/>
          </a:xfrm>
          <a:prstGeom prst="rect">
            <a:avLst/>
          </a:prstGeom>
          <a:noFill/>
          <a:ln/>
        </p:spPr>
        <p:txBody>
          <a:bodyPr wrap="square" rtlCol="0" anchor="ctr"/>
          <a:lstStyle/>
          <a:p>
            <a:pPr algn="r" indent="0" marL="0">
              <a:buNone/>
            </a:pPr>
            <a:r>
              <a:rPr lang="en-US" sz="1000" dirty="0">
                <a:solidFill>
                  <a:srgbClr val="999999"/>
                </a:solidFill>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502920"/>
            <a:ext cx="54864" cy="502920"/>
          </a:xfrm>
          <a:prstGeom prst="rect">
            <a:avLst/>
          </a:prstGeom>
          <a:solidFill>
            <a:srgbClr val="00A040"/>
          </a:solidFill>
          <a:ln w="12700">
            <a:solidFill>
              <a:srgbClr val="00A040"/>
            </a:solidFill>
            <a:prstDash val="solid"/>
          </a:ln>
        </p:spPr>
      </p:sp>
      <p:sp>
        <p:nvSpPr>
          <p:cNvPr id="3" name="Text 1"/>
          <p:cNvSpPr/>
          <p:nvPr/>
        </p:nvSpPr>
        <p:spPr>
          <a:xfrm>
            <a:off x="502920" y="457200"/>
            <a:ext cx="8321040" cy="594360"/>
          </a:xfrm>
          <a:prstGeom prst="rect">
            <a:avLst/>
          </a:prstGeom>
          <a:noFill/>
          <a:ln/>
        </p:spPr>
        <p:txBody>
          <a:bodyPr wrap="square" lIns="0" tIns="0" rIns="0" bIns="0" rtlCol="0" anchor="ctr"/>
          <a:lstStyle/>
          <a:p>
            <a:pPr indent="0" marL="0">
              <a:buNone/>
            </a:pPr>
            <a:r>
              <a:rPr lang="en-US" sz="2200" b="1" dirty="0">
                <a:solidFill>
                  <a:srgbClr val="222222"/>
                </a:solidFill>
                <a:latin typeface="Yu Gothic" pitchFamily="34" charset="0"/>
                <a:ea typeface="Yu Gothic" pitchFamily="34" charset="-122"/>
                <a:cs typeface="Yu Gothic" pitchFamily="34" charset="-120"/>
              </a:rPr>
              <a:t>見直しの視点</a:t>
            </a:r>
            <a:endParaRPr lang="en-US" sz="2200" dirty="0"/>
          </a:p>
        </p:txBody>
      </p:sp>
      <p:sp>
        <p:nvSpPr>
          <p:cNvPr id="4" name="Shape 2"/>
          <p:cNvSpPr/>
          <p:nvPr/>
        </p:nvSpPr>
        <p:spPr>
          <a:xfrm>
            <a:off x="365760" y="1051560"/>
            <a:ext cx="8412480" cy="0"/>
          </a:xfrm>
          <a:prstGeom prst="line">
            <a:avLst/>
          </a:prstGeom>
          <a:noFill/>
          <a:ln w="12700">
            <a:solidFill>
              <a:srgbClr val="E0E0E0"/>
            </a:solidFill>
            <a:prstDash val="solid"/>
          </a:ln>
        </p:spPr>
      </p:sp>
      <p:sp>
        <p:nvSpPr>
          <p:cNvPr id="5" name="Shape 3"/>
          <p:cNvSpPr/>
          <p:nvPr/>
        </p:nvSpPr>
        <p:spPr>
          <a:xfrm>
            <a:off x="457200" y="1554480"/>
            <a:ext cx="8229600" cy="1371600"/>
          </a:xfrm>
          <a:prstGeom prst="rect">
            <a:avLst/>
          </a:prstGeom>
          <a:solidFill>
            <a:srgbClr val="F0FAF4"/>
          </a:solidFill>
          <a:ln w="19050">
            <a:solidFill>
              <a:srgbClr val="C5E8D1"/>
            </a:solidFill>
            <a:prstDash val="solid"/>
          </a:ln>
        </p:spPr>
      </p:sp>
      <p:sp>
        <p:nvSpPr>
          <p:cNvPr id="6" name="Shape 4"/>
          <p:cNvSpPr/>
          <p:nvPr/>
        </p:nvSpPr>
        <p:spPr>
          <a:xfrm>
            <a:off x="457200" y="1554480"/>
            <a:ext cx="548640" cy="1371600"/>
          </a:xfrm>
          <a:prstGeom prst="rect">
            <a:avLst/>
          </a:prstGeom>
          <a:solidFill>
            <a:srgbClr val="00A040"/>
          </a:solidFill>
          <a:ln w="12700">
            <a:solidFill>
              <a:srgbClr val="00A040"/>
            </a:solidFill>
            <a:prstDash val="solid"/>
          </a:ln>
        </p:spPr>
      </p:sp>
      <p:sp>
        <p:nvSpPr>
          <p:cNvPr id="7" name="Text 5"/>
          <p:cNvSpPr/>
          <p:nvPr/>
        </p:nvSpPr>
        <p:spPr>
          <a:xfrm>
            <a:off x="457200" y="1828800"/>
            <a:ext cx="548640" cy="777240"/>
          </a:xfrm>
          <a:prstGeom prst="rect">
            <a:avLst/>
          </a:prstGeom>
          <a:noFill/>
          <a:ln/>
        </p:spPr>
        <p:txBody>
          <a:bodyPr wrap="square" lIns="0" tIns="0" rIns="0" bIns="0" rtlCol="0" anchor="ctr"/>
          <a:lstStyle/>
          <a:p>
            <a:pPr algn="ctr" indent="0" marL="0">
              <a:buNone/>
            </a:pPr>
            <a:r>
              <a:rPr lang="en-US" sz="3600" b="1" dirty="0">
                <a:solidFill>
                  <a:srgbClr val="FFFFFF"/>
                </a:solidFill>
                <a:latin typeface="Yu Gothic" pitchFamily="34" charset="0"/>
                <a:ea typeface="Yu Gothic" pitchFamily="34" charset="-122"/>
                <a:cs typeface="Yu Gothic" pitchFamily="34" charset="-120"/>
              </a:rPr>
              <a:t>1</a:t>
            </a:r>
            <a:endParaRPr lang="en-US" sz="3600" dirty="0"/>
          </a:p>
        </p:txBody>
      </p:sp>
      <p:pic>
        <p:nvPicPr>
          <p:cNvPr id="8" name="Image 0" descr="preencoded.png">    </p:cNvPr>
          <p:cNvPicPr>
            <a:picLocks noChangeAspect="1"/>
          </p:cNvPicPr>
          <p:nvPr/>
        </p:nvPicPr>
        <p:blipFill>
          <a:blip r:embed="rId1"/>
          <a:stretch>
            <a:fillRect/>
          </a:stretch>
        </p:blipFill>
        <p:spPr>
          <a:xfrm>
            <a:off x="1143000" y="2011680"/>
            <a:ext cx="457200" cy="457200"/>
          </a:xfrm>
          <a:prstGeom prst="rect">
            <a:avLst/>
          </a:prstGeom>
        </p:spPr>
      </p:pic>
      <p:sp>
        <p:nvSpPr>
          <p:cNvPr id="9" name="Text 6"/>
          <p:cNvSpPr/>
          <p:nvPr/>
        </p:nvSpPr>
        <p:spPr>
          <a:xfrm>
            <a:off x="1691640" y="1874520"/>
            <a:ext cx="6858000" cy="685800"/>
          </a:xfrm>
          <a:prstGeom prst="rect">
            <a:avLst/>
          </a:prstGeom>
          <a:noFill/>
          <a:ln/>
        </p:spPr>
        <p:txBody>
          <a:bodyPr wrap="square" lIns="0" tIns="0" rIns="0" bIns="0" rtlCol="0" anchor="ctr"/>
          <a:lstStyle/>
          <a:p>
            <a:pPr indent="0" marL="0">
              <a:buNone/>
            </a:pPr>
            <a:r>
              <a:rPr lang="en-US" sz="2600" b="1" dirty="0">
                <a:solidFill>
                  <a:srgbClr val="222222"/>
                </a:solidFill>
                <a:latin typeface="Yu Gothic" pitchFamily="34" charset="0"/>
                <a:ea typeface="Yu Gothic" pitchFamily="34" charset="-122"/>
                <a:cs typeface="Yu Gothic" pitchFamily="34" charset="-120"/>
              </a:rPr>
              <a:t>カウンター手続きを止めない</a:t>
            </a:r>
            <a:endParaRPr lang="en-US" sz="2600" dirty="0"/>
          </a:p>
        </p:txBody>
      </p:sp>
      <p:sp>
        <p:nvSpPr>
          <p:cNvPr id="10" name="Shape 7"/>
          <p:cNvSpPr/>
          <p:nvPr/>
        </p:nvSpPr>
        <p:spPr>
          <a:xfrm>
            <a:off x="457200" y="3200400"/>
            <a:ext cx="8229600" cy="1371600"/>
          </a:xfrm>
          <a:prstGeom prst="rect">
            <a:avLst/>
          </a:prstGeom>
          <a:solidFill>
            <a:srgbClr val="F0FAF4"/>
          </a:solidFill>
          <a:ln w="19050">
            <a:solidFill>
              <a:srgbClr val="C5E8D1"/>
            </a:solidFill>
            <a:prstDash val="solid"/>
          </a:ln>
        </p:spPr>
      </p:sp>
      <p:sp>
        <p:nvSpPr>
          <p:cNvPr id="11" name="Shape 8"/>
          <p:cNvSpPr/>
          <p:nvPr/>
        </p:nvSpPr>
        <p:spPr>
          <a:xfrm>
            <a:off x="457200" y="3200400"/>
            <a:ext cx="548640" cy="1371600"/>
          </a:xfrm>
          <a:prstGeom prst="rect">
            <a:avLst/>
          </a:prstGeom>
          <a:solidFill>
            <a:srgbClr val="00A040"/>
          </a:solidFill>
          <a:ln w="12700">
            <a:solidFill>
              <a:srgbClr val="00A040"/>
            </a:solidFill>
            <a:prstDash val="solid"/>
          </a:ln>
        </p:spPr>
      </p:sp>
      <p:sp>
        <p:nvSpPr>
          <p:cNvPr id="12" name="Text 9"/>
          <p:cNvSpPr/>
          <p:nvPr/>
        </p:nvSpPr>
        <p:spPr>
          <a:xfrm>
            <a:off x="457200" y="3474720"/>
            <a:ext cx="548640" cy="777240"/>
          </a:xfrm>
          <a:prstGeom prst="rect">
            <a:avLst/>
          </a:prstGeom>
          <a:noFill/>
          <a:ln/>
        </p:spPr>
        <p:txBody>
          <a:bodyPr wrap="square" lIns="0" tIns="0" rIns="0" bIns="0" rtlCol="0" anchor="ctr"/>
          <a:lstStyle/>
          <a:p>
            <a:pPr algn="ctr" indent="0" marL="0">
              <a:buNone/>
            </a:pPr>
            <a:r>
              <a:rPr lang="en-US" sz="3600" b="1" dirty="0">
                <a:solidFill>
                  <a:srgbClr val="FFFFFF"/>
                </a:solidFill>
                <a:latin typeface="Yu Gothic" pitchFamily="34" charset="0"/>
                <a:ea typeface="Yu Gothic" pitchFamily="34" charset="-122"/>
                <a:cs typeface="Yu Gothic" pitchFamily="34" charset="-120"/>
              </a:rPr>
              <a:t>2</a:t>
            </a:r>
            <a:endParaRPr lang="en-US" sz="3600" dirty="0"/>
          </a:p>
        </p:txBody>
      </p:sp>
      <p:pic>
        <p:nvPicPr>
          <p:cNvPr id="13" name="Image 1" descr="preencoded.png">    </p:cNvPr>
          <p:cNvPicPr>
            <a:picLocks noChangeAspect="1"/>
          </p:cNvPicPr>
          <p:nvPr/>
        </p:nvPicPr>
        <p:blipFill>
          <a:blip r:embed="rId2"/>
          <a:stretch>
            <a:fillRect/>
          </a:stretch>
        </p:blipFill>
        <p:spPr>
          <a:xfrm>
            <a:off x="1143000" y="3657600"/>
            <a:ext cx="457200" cy="457200"/>
          </a:xfrm>
          <a:prstGeom prst="rect">
            <a:avLst/>
          </a:prstGeom>
        </p:spPr>
      </p:pic>
      <p:sp>
        <p:nvSpPr>
          <p:cNvPr id="14" name="Text 10"/>
          <p:cNvSpPr/>
          <p:nvPr/>
        </p:nvSpPr>
        <p:spPr>
          <a:xfrm>
            <a:off x="1691640" y="3520440"/>
            <a:ext cx="6858000" cy="685800"/>
          </a:xfrm>
          <a:prstGeom prst="rect">
            <a:avLst/>
          </a:prstGeom>
          <a:noFill/>
          <a:ln/>
        </p:spPr>
        <p:txBody>
          <a:bodyPr wrap="square" lIns="0" tIns="0" rIns="0" bIns="0" rtlCol="0" anchor="ctr"/>
          <a:lstStyle/>
          <a:p>
            <a:pPr indent="0" marL="0">
              <a:buNone/>
            </a:pPr>
            <a:r>
              <a:rPr lang="en-US" sz="2600" b="1" dirty="0">
                <a:solidFill>
                  <a:srgbClr val="222222"/>
                </a:solidFill>
                <a:latin typeface="Yu Gothic" pitchFamily="34" charset="0"/>
                <a:ea typeface="Yu Gothic" pitchFamily="34" charset="-122"/>
                <a:cs typeface="Yu Gothic" pitchFamily="34" charset="-120"/>
              </a:rPr>
              <a:t>お待ちのお客様へ状況を伝える</a:t>
            </a:r>
            <a:endParaRPr lang="en-US" sz="2600" dirty="0"/>
          </a:p>
        </p:txBody>
      </p:sp>
      <p:sp>
        <p:nvSpPr>
          <p:cNvPr id="15" name="Text 11"/>
          <p:cNvSpPr/>
          <p:nvPr/>
        </p:nvSpPr>
        <p:spPr>
          <a:xfrm>
            <a:off x="457200" y="4828032"/>
            <a:ext cx="8229600" cy="274320"/>
          </a:xfrm>
          <a:prstGeom prst="rect">
            <a:avLst/>
          </a:prstGeom>
          <a:noFill/>
          <a:ln/>
        </p:spPr>
        <p:txBody>
          <a:bodyPr wrap="square" rtlCol="0" anchor="ctr"/>
          <a:lstStyle/>
          <a:p>
            <a:pPr algn="ctr" indent="0" marL="0">
              <a:buNone/>
            </a:pPr>
            <a:r>
              <a:rPr lang="en-US" sz="1200" i="1" dirty="0">
                <a:solidFill>
                  <a:srgbClr val="888888"/>
                </a:solidFill>
                <a:latin typeface="Yu Gothic" pitchFamily="34" charset="0"/>
                <a:ea typeface="Yu Gothic" pitchFamily="34" charset="-122"/>
                <a:cs typeface="Yu Gothic" pitchFamily="34" charset="-120"/>
              </a:rPr>
              <a:t>この2点を軸に、次の実演でご確認ください。</a:t>
            </a:r>
            <a:endParaRPr lang="en-US" sz="1200" dirty="0"/>
          </a:p>
        </p:txBody>
      </p:sp>
      <p:sp>
        <p:nvSpPr>
          <p:cNvPr id="16" name="Text 12"/>
          <p:cNvSpPr/>
          <p:nvPr/>
        </p:nvSpPr>
        <p:spPr>
          <a:xfrm>
            <a:off x="8778240" y="4846320"/>
            <a:ext cx="320040" cy="228600"/>
          </a:xfrm>
          <a:prstGeom prst="rect">
            <a:avLst/>
          </a:prstGeom>
          <a:noFill/>
          <a:ln/>
        </p:spPr>
        <p:txBody>
          <a:bodyPr wrap="square" rtlCol="0" anchor="ctr"/>
          <a:lstStyle/>
          <a:p>
            <a:pPr algn="r" indent="0" marL="0">
              <a:buNone/>
            </a:pPr>
            <a:r>
              <a:rPr lang="en-US" sz="1000" dirty="0">
                <a:solidFill>
                  <a:srgbClr val="999999"/>
                </a:solidFill>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2F5"/>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D6DFE8"/>
          </a:solidFill>
          <a:ln w="12700">
            <a:solidFill>
              <a:srgbClr val="D6DFE8"/>
            </a:solidFill>
            <a:prstDash val="solid"/>
          </a:ln>
        </p:spPr>
      </p:sp>
      <p:sp>
        <p:nvSpPr>
          <p:cNvPr id="3" name="Shape 1"/>
          <p:cNvSpPr/>
          <p:nvPr/>
        </p:nvSpPr>
        <p:spPr>
          <a:xfrm>
            <a:off x="0" y="0"/>
            <a:ext cx="457200" cy="1005840"/>
          </a:xfrm>
          <a:prstGeom prst="rect">
            <a:avLst/>
          </a:prstGeom>
          <a:solidFill>
            <a:srgbClr val="00A040"/>
          </a:solidFill>
          <a:ln w="12700">
            <a:solidFill>
              <a:srgbClr val="00A040"/>
            </a:solidFill>
            <a:prstDash val="solid"/>
          </a:ln>
        </p:spPr>
      </p:sp>
      <p:sp>
        <p:nvSpPr>
          <p:cNvPr id="4" name="Text 2"/>
          <p:cNvSpPr/>
          <p:nvPr/>
        </p:nvSpPr>
        <p:spPr>
          <a:xfrm>
            <a:off x="594360" y="91440"/>
            <a:ext cx="8321040" cy="822960"/>
          </a:xfrm>
          <a:prstGeom prst="rect">
            <a:avLst/>
          </a:prstGeom>
          <a:noFill/>
          <a:ln/>
        </p:spPr>
        <p:txBody>
          <a:bodyPr wrap="square" lIns="0" tIns="0" rIns="0" bIns="0" rtlCol="0" anchor="ctr"/>
          <a:lstStyle/>
          <a:p>
            <a:pPr indent="0" marL="0">
              <a:buNone/>
            </a:pPr>
            <a:r>
              <a:rPr lang="en-US" sz="2400" b="1" dirty="0">
                <a:solidFill>
                  <a:srgbClr val="222222"/>
                </a:solidFill>
                <a:latin typeface="Yu Gothic" pitchFamily="34" charset="0"/>
                <a:ea typeface="Yu Gothic" pitchFamily="34" charset="-122"/>
                <a:cs typeface="Yu Gothic" pitchFamily="34" charset="-120"/>
              </a:rPr>
              <a:t>実演①　従来起こりがちな場面</a:t>
            </a:r>
            <a:endParaRPr lang="en-US" sz="2400" dirty="0"/>
          </a:p>
        </p:txBody>
      </p:sp>
      <p:sp>
        <p:nvSpPr>
          <p:cNvPr id="5" name="Shape 3"/>
          <p:cNvSpPr/>
          <p:nvPr/>
        </p:nvSpPr>
        <p:spPr>
          <a:xfrm>
            <a:off x="1371600" y="1371600"/>
            <a:ext cx="6400800" cy="3108960"/>
          </a:xfrm>
          <a:prstGeom prst="rect">
            <a:avLst/>
          </a:prstGeom>
          <a:solidFill>
            <a:srgbClr val="FFFFFF"/>
          </a:solidFill>
          <a:ln w="19050">
            <a:solidFill>
              <a:srgbClr val="C8D4DE"/>
            </a:solidFill>
            <a:prstDash val="solid"/>
          </a:ln>
        </p:spPr>
      </p:sp>
      <p:sp>
        <p:nvSpPr>
          <p:cNvPr id="6" name="Shape 4"/>
          <p:cNvSpPr/>
          <p:nvPr/>
        </p:nvSpPr>
        <p:spPr>
          <a:xfrm>
            <a:off x="1371600" y="1371600"/>
            <a:ext cx="6400800" cy="91440"/>
          </a:xfrm>
          <a:prstGeom prst="rect">
            <a:avLst/>
          </a:prstGeom>
          <a:solidFill>
            <a:srgbClr val="00A040"/>
          </a:solidFill>
          <a:ln w="12700">
            <a:solidFill>
              <a:srgbClr val="00A040"/>
            </a:solidFill>
            <a:prstDash val="solid"/>
          </a:ln>
        </p:spPr>
      </p:sp>
      <p:sp>
        <p:nvSpPr>
          <p:cNvPr id="7" name="Text 5"/>
          <p:cNvSpPr/>
          <p:nvPr/>
        </p:nvSpPr>
        <p:spPr>
          <a:xfrm>
            <a:off x="1463040" y="1920240"/>
            <a:ext cx="6217920" cy="640080"/>
          </a:xfrm>
          <a:prstGeom prst="rect">
            <a:avLst/>
          </a:prstGeom>
          <a:noFill/>
          <a:ln/>
        </p:spPr>
        <p:txBody>
          <a:bodyPr wrap="square" rtlCol="0" anchor="ctr"/>
          <a:lstStyle/>
          <a:p>
            <a:pPr algn="ctr" indent="0" marL="0">
              <a:buNone/>
            </a:pPr>
            <a:r>
              <a:rPr lang="en-US" sz="2600" b="1" dirty="0">
                <a:solidFill>
                  <a:srgbClr val="222222"/>
                </a:solidFill>
                <a:latin typeface="Yu Gothic" pitchFamily="34" charset="0"/>
                <a:ea typeface="Yu Gothic" pitchFamily="34" charset="-122"/>
                <a:cs typeface="Yu Gothic" pitchFamily="34" charset="-120"/>
              </a:rPr>
              <a:t>カウンター対応が長引く場面</a:t>
            </a:r>
            <a:endParaRPr lang="en-US" sz="2600" dirty="0"/>
          </a:p>
        </p:txBody>
      </p:sp>
      <p:sp>
        <p:nvSpPr>
          <p:cNvPr id="8" name="Shape 6"/>
          <p:cNvSpPr/>
          <p:nvPr/>
        </p:nvSpPr>
        <p:spPr>
          <a:xfrm>
            <a:off x="2286000" y="2743200"/>
            <a:ext cx="4572000" cy="0"/>
          </a:xfrm>
          <a:prstGeom prst="line">
            <a:avLst/>
          </a:prstGeom>
          <a:noFill/>
          <a:ln w="12700">
            <a:solidFill>
              <a:srgbClr val="C8D4DE"/>
            </a:solidFill>
            <a:prstDash val="solid"/>
          </a:ln>
        </p:spPr>
      </p:sp>
      <p:sp>
        <p:nvSpPr>
          <p:cNvPr id="9" name="Shape 7"/>
          <p:cNvSpPr/>
          <p:nvPr/>
        </p:nvSpPr>
        <p:spPr>
          <a:xfrm>
            <a:off x="1828800" y="2926080"/>
            <a:ext cx="5486400" cy="1280160"/>
          </a:xfrm>
          <a:prstGeom prst="rect">
            <a:avLst/>
          </a:prstGeom>
          <a:solidFill>
            <a:srgbClr val="FFF8F0"/>
          </a:solidFill>
          <a:ln w="12700">
            <a:solidFill>
              <a:srgbClr val="FFCC99"/>
            </a:solidFill>
            <a:prstDash val="solid"/>
          </a:ln>
        </p:spPr>
      </p:sp>
      <p:sp>
        <p:nvSpPr>
          <p:cNvPr id="10" name="Text 8"/>
          <p:cNvSpPr/>
          <p:nvPr/>
        </p:nvSpPr>
        <p:spPr>
          <a:xfrm>
            <a:off x="1920240" y="2971800"/>
            <a:ext cx="5303520" cy="1188720"/>
          </a:xfrm>
          <a:prstGeom prst="rect">
            <a:avLst/>
          </a:prstGeom>
          <a:noFill/>
          <a:ln/>
        </p:spPr>
        <p:txBody>
          <a:bodyPr wrap="square" rtlCol="0" anchor="ctr"/>
          <a:lstStyle/>
          <a:p>
            <a:pPr algn="ctr" indent="0" marL="0">
              <a:buNone/>
            </a:pPr>
            <a:r>
              <a:rPr lang="en-US" sz="1400" dirty="0">
                <a:solidFill>
                  <a:srgbClr val="CC6600"/>
                </a:solidFill>
                <a:latin typeface="Yu Gothic" pitchFamily="34" charset="0"/>
                <a:ea typeface="Yu Gothic" pitchFamily="34" charset="-122"/>
                <a:cs typeface="Yu Gothic" pitchFamily="34" charset="-120"/>
              </a:rPr>
              <a:t>※悪い応対の例ではありません</a:t>
            </a:r>
            <a:endParaRPr lang="en-US" sz="1400" dirty="0"/>
          </a:p>
          <a:p>
            <a:pPr algn="ctr" indent="0" marL="0">
              <a:buNone/>
            </a:pPr>
            <a:r>
              <a:rPr lang="en-US" sz="1400" dirty="0">
                <a:solidFill>
                  <a:srgbClr val="CC6600"/>
                </a:solidFill>
                <a:latin typeface="Yu Gothic" pitchFamily="34" charset="0"/>
                <a:ea typeface="Yu Gothic" pitchFamily="34" charset="-122"/>
                <a:cs typeface="Yu Gothic" pitchFamily="34" charset="-120"/>
              </a:rPr>
              <a:t>お客様への対応は丁寧ですが、</a:t>
            </a:r>
            <a:endParaRPr lang="en-US" sz="1400" dirty="0"/>
          </a:p>
          <a:p>
            <a:pPr algn="ctr" indent="0" marL="0">
              <a:buNone/>
            </a:pPr>
            <a:r>
              <a:rPr lang="en-US" sz="1400" dirty="0">
                <a:solidFill>
                  <a:srgbClr val="CC6600"/>
                </a:solidFill>
                <a:latin typeface="Yu Gothic" pitchFamily="34" charset="0"/>
                <a:ea typeface="Yu Gothic" pitchFamily="34" charset="-122"/>
                <a:cs typeface="Yu Gothic" pitchFamily="34" charset="-120"/>
              </a:rPr>
              <a:t>説明がカウンターに残ることで次の着手が遅れる場面です</a:t>
            </a:r>
            <a:endParaRPr lang="en-US" sz="1400" dirty="0"/>
          </a:p>
        </p:txBody>
      </p:sp>
      <p:sp>
        <p:nvSpPr>
          <p:cNvPr id="11" name="Text 9"/>
          <p:cNvSpPr/>
          <p:nvPr/>
        </p:nvSpPr>
        <p:spPr>
          <a:xfrm>
            <a:off x="8778240" y="4846320"/>
            <a:ext cx="320040" cy="228600"/>
          </a:xfrm>
          <a:prstGeom prst="rect">
            <a:avLst/>
          </a:prstGeom>
          <a:noFill/>
          <a:ln/>
        </p:spPr>
        <p:txBody>
          <a:bodyPr wrap="square" rtlCol="0" anchor="ctr"/>
          <a:lstStyle/>
          <a:p>
            <a:pPr algn="r" indent="0" marL="0">
              <a:buNone/>
            </a:pPr>
            <a:r>
              <a:rPr lang="en-US" sz="1000" dirty="0">
                <a:solidFill>
                  <a:srgbClr val="999999"/>
                </a:solidFill>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F2F5"/>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D6DFE8"/>
          </a:solidFill>
          <a:ln w="12700">
            <a:solidFill>
              <a:srgbClr val="D6DFE8"/>
            </a:solidFill>
            <a:prstDash val="solid"/>
          </a:ln>
        </p:spPr>
      </p:sp>
      <p:sp>
        <p:nvSpPr>
          <p:cNvPr id="3" name="Shape 1"/>
          <p:cNvSpPr/>
          <p:nvPr/>
        </p:nvSpPr>
        <p:spPr>
          <a:xfrm>
            <a:off x="0" y="0"/>
            <a:ext cx="457200" cy="1005840"/>
          </a:xfrm>
          <a:prstGeom prst="rect">
            <a:avLst/>
          </a:prstGeom>
          <a:solidFill>
            <a:srgbClr val="00A040"/>
          </a:solidFill>
          <a:ln w="12700">
            <a:solidFill>
              <a:srgbClr val="00A040"/>
            </a:solidFill>
            <a:prstDash val="solid"/>
          </a:ln>
        </p:spPr>
      </p:sp>
      <p:sp>
        <p:nvSpPr>
          <p:cNvPr id="4" name="Text 2"/>
          <p:cNvSpPr/>
          <p:nvPr/>
        </p:nvSpPr>
        <p:spPr>
          <a:xfrm>
            <a:off x="594360" y="91440"/>
            <a:ext cx="8321040" cy="822960"/>
          </a:xfrm>
          <a:prstGeom prst="rect">
            <a:avLst/>
          </a:prstGeom>
          <a:noFill/>
          <a:ln/>
        </p:spPr>
        <p:txBody>
          <a:bodyPr wrap="square" lIns="0" tIns="0" rIns="0" bIns="0" rtlCol="0" anchor="ctr"/>
          <a:lstStyle/>
          <a:p>
            <a:pPr indent="0" marL="0">
              <a:buNone/>
            </a:pPr>
            <a:r>
              <a:rPr lang="en-US" sz="2400" b="1" dirty="0">
                <a:solidFill>
                  <a:srgbClr val="222222"/>
                </a:solidFill>
                <a:latin typeface="Yu Gothic" pitchFamily="34" charset="0"/>
                <a:ea typeface="Yu Gothic" pitchFamily="34" charset="-122"/>
                <a:cs typeface="Yu Gothic" pitchFamily="34" charset="-120"/>
              </a:rPr>
              <a:t>実演①　登場人物と見るポイント</a:t>
            </a:r>
            <a:endParaRPr lang="en-US" sz="2400" dirty="0"/>
          </a:p>
        </p:txBody>
      </p:sp>
      <p:sp>
        <p:nvSpPr>
          <p:cNvPr id="5" name="Text 3"/>
          <p:cNvSpPr/>
          <p:nvPr/>
        </p:nvSpPr>
        <p:spPr>
          <a:xfrm>
            <a:off x="457200" y="1188720"/>
            <a:ext cx="3931920" cy="347472"/>
          </a:xfrm>
          <a:prstGeom prst="rect">
            <a:avLst/>
          </a:prstGeom>
          <a:noFill/>
          <a:ln/>
        </p:spPr>
        <p:txBody>
          <a:bodyPr wrap="square" rtlCol="0" anchor="ctr"/>
          <a:lstStyle/>
          <a:p>
            <a:pPr indent="0" marL="0">
              <a:buNone/>
            </a:pPr>
            <a:r>
              <a:rPr lang="en-US" sz="1300" b="1" dirty="0">
                <a:solidFill>
                  <a:srgbClr val="666666"/>
                </a:solidFill>
                <a:latin typeface="Yu Gothic" pitchFamily="34" charset="0"/>
                <a:ea typeface="Yu Gothic" pitchFamily="34" charset="-122"/>
                <a:cs typeface="Yu Gothic" pitchFamily="34" charset="-120"/>
              </a:rPr>
              <a:t>登場人物</a:t>
            </a:r>
            <a:endParaRPr lang="en-US" sz="1300" dirty="0"/>
          </a:p>
        </p:txBody>
      </p:sp>
      <p:sp>
        <p:nvSpPr>
          <p:cNvPr id="6" name="Shape 4"/>
          <p:cNvSpPr/>
          <p:nvPr/>
        </p:nvSpPr>
        <p:spPr>
          <a:xfrm>
            <a:off x="457200" y="1600200"/>
            <a:ext cx="3931920" cy="502920"/>
          </a:xfrm>
          <a:prstGeom prst="rect">
            <a:avLst/>
          </a:prstGeom>
          <a:solidFill>
            <a:srgbClr val="E8F5ED"/>
          </a:solidFill>
          <a:ln w="12700">
            <a:solidFill>
              <a:srgbClr val="C5E8D1"/>
            </a:solidFill>
            <a:prstDash val="solid"/>
          </a:ln>
        </p:spPr>
      </p:sp>
      <p:sp>
        <p:nvSpPr>
          <p:cNvPr id="7" name="Text 5"/>
          <p:cNvSpPr/>
          <p:nvPr/>
        </p:nvSpPr>
        <p:spPr>
          <a:xfrm>
            <a:off x="594360" y="1645920"/>
            <a:ext cx="1371600" cy="411480"/>
          </a:xfrm>
          <a:prstGeom prst="rect">
            <a:avLst/>
          </a:prstGeom>
          <a:noFill/>
          <a:ln/>
        </p:spPr>
        <p:txBody>
          <a:bodyPr wrap="square" lIns="0" tIns="0" rIns="0" bIns="0" rtlCol="0" anchor="ctr"/>
          <a:lstStyle/>
          <a:p>
            <a:pPr indent="0" marL="0">
              <a:buNone/>
            </a:pPr>
            <a:r>
              <a:rPr lang="en-US" sz="1500" b="1" dirty="0">
                <a:solidFill>
                  <a:srgbClr val="00A040"/>
                </a:solidFill>
                <a:latin typeface="Yu Gothic" pitchFamily="34" charset="0"/>
                <a:ea typeface="Yu Gothic" pitchFamily="34" charset="-122"/>
                <a:cs typeface="Yu Gothic" pitchFamily="34" charset="-120"/>
              </a:rPr>
              <a:t>スタッフA</a:t>
            </a:r>
            <a:endParaRPr lang="en-US" sz="1500" dirty="0"/>
          </a:p>
        </p:txBody>
      </p:sp>
      <p:sp>
        <p:nvSpPr>
          <p:cNvPr id="8" name="Shape 6"/>
          <p:cNvSpPr/>
          <p:nvPr/>
        </p:nvSpPr>
        <p:spPr>
          <a:xfrm>
            <a:off x="1920240" y="1847088"/>
            <a:ext cx="0" cy="228600"/>
          </a:xfrm>
          <a:prstGeom prst="line">
            <a:avLst/>
          </a:prstGeom>
          <a:noFill/>
          <a:ln w="12700">
            <a:solidFill>
              <a:srgbClr val="CCCCCC"/>
            </a:solidFill>
            <a:prstDash val="solid"/>
          </a:ln>
        </p:spPr>
      </p:sp>
      <p:sp>
        <p:nvSpPr>
          <p:cNvPr id="9" name="Text 7"/>
          <p:cNvSpPr/>
          <p:nvPr/>
        </p:nvSpPr>
        <p:spPr>
          <a:xfrm>
            <a:off x="2011680" y="1645920"/>
            <a:ext cx="2194560" cy="411480"/>
          </a:xfrm>
          <a:prstGeom prst="rect">
            <a:avLst/>
          </a:prstGeom>
          <a:noFill/>
          <a:ln/>
        </p:spPr>
        <p:txBody>
          <a:bodyPr wrap="square" lIns="0" tIns="0" rIns="0" bIns="0" rtlCol="0" anchor="ctr"/>
          <a:lstStyle/>
          <a:p>
            <a:pPr indent="0" marL="0">
              <a:buNone/>
            </a:pPr>
            <a:r>
              <a:rPr lang="en-US" sz="1400" dirty="0">
                <a:solidFill>
                  <a:srgbClr val="444444"/>
                </a:solidFill>
                <a:latin typeface="Yu Gothic" pitchFamily="34" charset="0"/>
                <a:ea typeface="Yu Gothic" pitchFamily="34" charset="-122"/>
                <a:cs typeface="Yu Gothic" pitchFamily="34" charset="-120"/>
              </a:rPr>
              <a:t>カウンター担当</a:t>
            </a:r>
            <a:endParaRPr lang="en-US" sz="1400" dirty="0"/>
          </a:p>
        </p:txBody>
      </p:sp>
      <p:sp>
        <p:nvSpPr>
          <p:cNvPr id="10" name="Shape 8"/>
          <p:cNvSpPr/>
          <p:nvPr/>
        </p:nvSpPr>
        <p:spPr>
          <a:xfrm>
            <a:off x="457200" y="2194560"/>
            <a:ext cx="3931920" cy="502920"/>
          </a:xfrm>
          <a:prstGeom prst="rect">
            <a:avLst/>
          </a:prstGeom>
          <a:solidFill>
            <a:srgbClr val="FFFFFF"/>
          </a:solidFill>
          <a:ln w="12700">
            <a:solidFill>
              <a:srgbClr val="C8D4DE"/>
            </a:solidFill>
            <a:prstDash val="solid"/>
          </a:ln>
        </p:spPr>
      </p:sp>
      <p:sp>
        <p:nvSpPr>
          <p:cNvPr id="11" name="Text 9"/>
          <p:cNvSpPr/>
          <p:nvPr/>
        </p:nvSpPr>
        <p:spPr>
          <a:xfrm>
            <a:off x="594360" y="2240280"/>
            <a:ext cx="1371600" cy="411480"/>
          </a:xfrm>
          <a:prstGeom prst="rect">
            <a:avLst/>
          </a:prstGeom>
          <a:noFill/>
          <a:ln/>
        </p:spPr>
        <p:txBody>
          <a:bodyPr wrap="square" lIns="0" tIns="0" rIns="0" bIns="0" rtlCol="0" anchor="ctr"/>
          <a:lstStyle/>
          <a:p>
            <a:pPr indent="0" marL="0">
              <a:buNone/>
            </a:pPr>
            <a:r>
              <a:rPr lang="en-US" sz="1500" b="1" dirty="0">
                <a:solidFill>
                  <a:srgbClr val="222222"/>
                </a:solidFill>
                <a:latin typeface="Yu Gothic" pitchFamily="34" charset="0"/>
                <a:ea typeface="Yu Gothic" pitchFamily="34" charset="-122"/>
                <a:cs typeface="Yu Gothic" pitchFamily="34" charset="-120"/>
              </a:rPr>
              <a:t>お客様1</a:t>
            </a:r>
            <a:endParaRPr lang="en-US" sz="1500" dirty="0"/>
          </a:p>
        </p:txBody>
      </p:sp>
      <p:sp>
        <p:nvSpPr>
          <p:cNvPr id="12" name="Shape 10"/>
          <p:cNvSpPr/>
          <p:nvPr/>
        </p:nvSpPr>
        <p:spPr>
          <a:xfrm>
            <a:off x="1920240" y="2441448"/>
            <a:ext cx="0" cy="228600"/>
          </a:xfrm>
          <a:prstGeom prst="line">
            <a:avLst/>
          </a:prstGeom>
          <a:noFill/>
          <a:ln w="12700">
            <a:solidFill>
              <a:srgbClr val="CCCCCC"/>
            </a:solidFill>
            <a:prstDash val="solid"/>
          </a:ln>
        </p:spPr>
      </p:sp>
      <p:sp>
        <p:nvSpPr>
          <p:cNvPr id="13" name="Text 11"/>
          <p:cNvSpPr/>
          <p:nvPr/>
        </p:nvSpPr>
        <p:spPr>
          <a:xfrm>
            <a:off x="2011680" y="2240280"/>
            <a:ext cx="2194560" cy="411480"/>
          </a:xfrm>
          <a:prstGeom prst="rect">
            <a:avLst/>
          </a:prstGeom>
          <a:noFill/>
          <a:ln/>
        </p:spPr>
        <p:txBody>
          <a:bodyPr wrap="square" lIns="0" tIns="0" rIns="0" bIns="0" rtlCol="0" anchor="ctr"/>
          <a:lstStyle/>
          <a:p>
            <a:pPr indent="0" marL="0">
              <a:buNone/>
            </a:pPr>
            <a:r>
              <a:rPr lang="en-US" sz="1400" dirty="0">
                <a:solidFill>
                  <a:srgbClr val="444444"/>
                </a:solidFill>
                <a:latin typeface="Yu Gothic" pitchFamily="34" charset="0"/>
                <a:ea typeface="Yu Gothic" pitchFamily="34" charset="-122"/>
                <a:cs typeface="Yu Gothic" pitchFamily="34" charset="-120"/>
              </a:rPr>
              <a:t>レジャー利用（県外）</a:t>
            </a:r>
            <a:endParaRPr lang="en-US" sz="1400" dirty="0"/>
          </a:p>
        </p:txBody>
      </p:sp>
      <p:sp>
        <p:nvSpPr>
          <p:cNvPr id="14" name="Shape 12"/>
          <p:cNvSpPr/>
          <p:nvPr/>
        </p:nvSpPr>
        <p:spPr>
          <a:xfrm>
            <a:off x="457200" y="2788920"/>
            <a:ext cx="3931920" cy="502920"/>
          </a:xfrm>
          <a:prstGeom prst="rect">
            <a:avLst/>
          </a:prstGeom>
          <a:solidFill>
            <a:srgbClr val="FFFFFF"/>
          </a:solidFill>
          <a:ln w="12700">
            <a:solidFill>
              <a:srgbClr val="C8D4DE"/>
            </a:solidFill>
            <a:prstDash val="solid"/>
          </a:ln>
        </p:spPr>
      </p:sp>
      <p:sp>
        <p:nvSpPr>
          <p:cNvPr id="15" name="Text 13"/>
          <p:cNvSpPr/>
          <p:nvPr/>
        </p:nvSpPr>
        <p:spPr>
          <a:xfrm>
            <a:off x="594360" y="2834640"/>
            <a:ext cx="1371600" cy="411480"/>
          </a:xfrm>
          <a:prstGeom prst="rect">
            <a:avLst/>
          </a:prstGeom>
          <a:noFill/>
          <a:ln/>
        </p:spPr>
        <p:txBody>
          <a:bodyPr wrap="square" lIns="0" tIns="0" rIns="0" bIns="0" rtlCol="0" anchor="ctr"/>
          <a:lstStyle/>
          <a:p>
            <a:pPr indent="0" marL="0">
              <a:buNone/>
            </a:pPr>
            <a:r>
              <a:rPr lang="en-US" sz="1500" b="1" dirty="0">
                <a:solidFill>
                  <a:srgbClr val="222222"/>
                </a:solidFill>
                <a:latin typeface="Yu Gothic" pitchFamily="34" charset="0"/>
                <a:ea typeface="Yu Gothic" pitchFamily="34" charset="-122"/>
                <a:cs typeface="Yu Gothic" pitchFamily="34" charset="-120"/>
              </a:rPr>
              <a:t>お客様2</a:t>
            </a:r>
            <a:endParaRPr lang="en-US" sz="1500" dirty="0"/>
          </a:p>
        </p:txBody>
      </p:sp>
      <p:sp>
        <p:nvSpPr>
          <p:cNvPr id="16" name="Shape 14"/>
          <p:cNvSpPr/>
          <p:nvPr/>
        </p:nvSpPr>
        <p:spPr>
          <a:xfrm>
            <a:off x="1920240" y="3035808"/>
            <a:ext cx="0" cy="228600"/>
          </a:xfrm>
          <a:prstGeom prst="line">
            <a:avLst/>
          </a:prstGeom>
          <a:noFill/>
          <a:ln w="12700">
            <a:solidFill>
              <a:srgbClr val="CCCCCC"/>
            </a:solidFill>
            <a:prstDash val="solid"/>
          </a:ln>
        </p:spPr>
      </p:sp>
      <p:sp>
        <p:nvSpPr>
          <p:cNvPr id="17" name="Text 15"/>
          <p:cNvSpPr/>
          <p:nvPr/>
        </p:nvSpPr>
        <p:spPr>
          <a:xfrm>
            <a:off x="2011680" y="2834640"/>
            <a:ext cx="2194560" cy="411480"/>
          </a:xfrm>
          <a:prstGeom prst="rect">
            <a:avLst/>
          </a:prstGeom>
          <a:noFill/>
          <a:ln/>
        </p:spPr>
        <p:txBody>
          <a:bodyPr wrap="square" lIns="0" tIns="0" rIns="0" bIns="0" rtlCol="0" anchor="ctr"/>
          <a:lstStyle/>
          <a:p>
            <a:pPr indent="0" marL="0">
              <a:buNone/>
            </a:pPr>
            <a:r>
              <a:rPr lang="en-US" sz="1400" dirty="0">
                <a:solidFill>
                  <a:srgbClr val="444444"/>
                </a:solidFill>
                <a:latin typeface="Yu Gothic" pitchFamily="34" charset="0"/>
                <a:ea typeface="Yu Gothic" pitchFamily="34" charset="-122"/>
                <a:cs typeface="Yu Gothic" pitchFamily="34" charset="-120"/>
              </a:rPr>
              <a:t>ビジネス利用（県外）</a:t>
            </a:r>
            <a:endParaRPr lang="en-US" sz="1400" dirty="0"/>
          </a:p>
        </p:txBody>
      </p:sp>
      <p:sp>
        <p:nvSpPr>
          <p:cNvPr id="18" name="Shape 16"/>
          <p:cNvSpPr/>
          <p:nvPr/>
        </p:nvSpPr>
        <p:spPr>
          <a:xfrm>
            <a:off x="4663440" y="1188720"/>
            <a:ext cx="4114800" cy="3566160"/>
          </a:xfrm>
          <a:prstGeom prst="rect">
            <a:avLst/>
          </a:prstGeom>
          <a:solidFill>
            <a:srgbClr val="FFFFFF"/>
          </a:solidFill>
          <a:ln w="19050">
            <a:solidFill>
              <a:srgbClr val="C8D4DE"/>
            </a:solidFill>
            <a:prstDash val="solid"/>
          </a:ln>
        </p:spPr>
      </p:sp>
      <p:sp>
        <p:nvSpPr>
          <p:cNvPr id="19" name="Shape 17"/>
          <p:cNvSpPr/>
          <p:nvPr/>
        </p:nvSpPr>
        <p:spPr>
          <a:xfrm>
            <a:off x="4663440" y="1188720"/>
            <a:ext cx="4114800" cy="109728"/>
          </a:xfrm>
          <a:prstGeom prst="rect">
            <a:avLst/>
          </a:prstGeom>
          <a:solidFill>
            <a:srgbClr val="00A040"/>
          </a:solidFill>
          <a:ln w="12700">
            <a:solidFill>
              <a:srgbClr val="00A040"/>
            </a:solidFill>
            <a:prstDash val="solid"/>
          </a:ln>
        </p:spPr>
      </p:sp>
      <p:sp>
        <p:nvSpPr>
          <p:cNvPr id="20" name="Text 18"/>
          <p:cNvSpPr/>
          <p:nvPr/>
        </p:nvSpPr>
        <p:spPr>
          <a:xfrm>
            <a:off x="4754880" y="1353312"/>
            <a:ext cx="3840480" cy="365760"/>
          </a:xfrm>
          <a:prstGeom prst="rect">
            <a:avLst/>
          </a:prstGeom>
          <a:noFill/>
          <a:ln/>
        </p:spPr>
        <p:txBody>
          <a:bodyPr wrap="square" rtlCol="0" anchor="ctr"/>
          <a:lstStyle/>
          <a:p>
            <a:pPr indent="0" marL="0">
              <a:buNone/>
            </a:pPr>
            <a:r>
              <a:rPr lang="en-US" sz="1500" b="1" dirty="0">
                <a:solidFill>
                  <a:srgbClr val="00A040"/>
                </a:solidFill>
                <a:latin typeface="Yu Gothic" pitchFamily="34" charset="0"/>
                <a:ea typeface="Yu Gothic" pitchFamily="34" charset="-122"/>
                <a:cs typeface="Yu Gothic" pitchFamily="34" charset="-120"/>
              </a:rPr>
              <a:t>見るポイント</a:t>
            </a:r>
            <a:endParaRPr lang="en-US" sz="1500" dirty="0"/>
          </a:p>
        </p:txBody>
      </p:sp>
      <p:sp>
        <p:nvSpPr>
          <p:cNvPr id="21" name="Text 19"/>
          <p:cNvSpPr/>
          <p:nvPr/>
        </p:nvSpPr>
        <p:spPr>
          <a:xfrm>
            <a:off x="4754880" y="1828800"/>
            <a:ext cx="3840480" cy="1097280"/>
          </a:xfrm>
          <a:prstGeom prst="rect">
            <a:avLst/>
          </a:prstGeom>
          <a:noFill/>
          <a:ln/>
        </p:spPr>
        <p:txBody>
          <a:bodyPr wrap="square" rtlCol="0" anchor="ctr"/>
          <a:lstStyle/>
          <a:p>
            <a:pPr indent="0" marL="0">
              <a:buNone/>
            </a:pPr>
            <a:r>
              <a:rPr lang="en-US" sz="1900" b="1" dirty="0">
                <a:solidFill>
                  <a:srgbClr val="222222"/>
                </a:solidFill>
                <a:latin typeface="Yu Gothic" pitchFamily="34" charset="0"/>
                <a:ea typeface="Yu Gothic" pitchFamily="34" charset="-122"/>
                <a:cs typeface="Yu Gothic" pitchFamily="34" charset="-120"/>
              </a:rPr>
              <a:t>説明がカウンター上に残ると、</a:t>
            </a:r>
            <a:endParaRPr lang="en-US" sz="1900" dirty="0"/>
          </a:p>
          <a:p>
            <a:pPr indent="0" marL="0">
              <a:buNone/>
            </a:pPr>
            <a:r>
              <a:rPr lang="en-US" sz="1900" b="1" dirty="0">
                <a:solidFill>
                  <a:srgbClr val="222222"/>
                </a:solidFill>
                <a:latin typeface="Yu Gothic" pitchFamily="34" charset="0"/>
                <a:ea typeface="Yu Gothic" pitchFamily="34" charset="-122"/>
                <a:cs typeface="Yu Gothic" pitchFamily="34" charset="-120"/>
              </a:rPr>
              <a:t>次のお客様への着手が遅れる</a:t>
            </a:r>
            <a:endParaRPr lang="en-US" sz="1900" dirty="0"/>
          </a:p>
        </p:txBody>
      </p:sp>
      <p:sp>
        <p:nvSpPr>
          <p:cNvPr id="22" name="Shape 20"/>
          <p:cNvSpPr/>
          <p:nvPr/>
        </p:nvSpPr>
        <p:spPr>
          <a:xfrm>
            <a:off x="4754880" y="3017520"/>
            <a:ext cx="3749040" cy="0"/>
          </a:xfrm>
          <a:prstGeom prst="line">
            <a:avLst/>
          </a:prstGeom>
          <a:noFill/>
          <a:ln w="12700">
            <a:solidFill>
              <a:srgbClr val="C8D4DE"/>
            </a:solidFill>
            <a:prstDash val="solid"/>
          </a:ln>
        </p:spPr>
      </p:sp>
      <p:sp>
        <p:nvSpPr>
          <p:cNvPr id="23" name="Text 21"/>
          <p:cNvSpPr/>
          <p:nvPr/>
        </p:nvSpPr>
        <p:spPr>
          <a:xfrm>
            <a:off x="4754880" y="3154680"/>
            <a:ext cx="3840480" cy="1097280"/>
          </a:xfrm>
          <a:prstGeom prst="rect">
            <a:avLst/>
          </a:prstGeom>
          <a:noFill/>
          <a:ln/>
        </p:spPr>
        <p:txBody>
          <a:bodyPr wrap="square" rtlCol="0" anchor="ctr"/>
          <a:lstStyle/>
          <a:p>
            <a:pPr indent="0" marL="0">
              <a:buNone/>
            </a:pPr>
            <a:r>
              <a:rPr lang="en-US" sz="1500" dirty="0">
                <a:solidFill>
                  <a:srgbClr val="CC6600"/>
                </a:solidFill>
                <a:latin typeface="Yu Gothic" pitchFamily="34" charset="0"/>
                <a:ea typeface="Yu Gothic" pitchFamily="34" charset="-122"/>
                <a:cs typeface="Yu Gothic" pitchFamily="34" charset="-120"/>
              </a:rPr>
              <a:t>端末が空いていても</a:t>
            </a:r>
            <a:endParaRPr lang="en-US" sz="1500" dirty="0"/>
          </a:p>
          <a:p>
            <a:pPr indent="0" marL="0">
              <a:buNone/>
            </a:pPr>
            <a:r>
              <a:rPr lang="en-US" sz="1500" dirty="0">
                <a:solidFill>
                  <a:srgbClr val="CC6600"/>
                </a:solidFill>
                <a:latin typeface="Yu Gothic" pitchFamily="34" charset="0"/>
                <a:ea typeface="Yu Gothic" pitchFamily="34" charset="-122"/>
                <a:cs typeface="Yu Gothic" pitchFamily="34" charset="-120"/>
              </a:rPr>
              <a:t>次に入れない状況に注目</a:t>
            </a:r>
            <a:endParaRPr lang="en-US" sz="1500" dirty="0"/>
          </a:p>
        </p:txBody>
      </p:sp>
      <p:sp>
        <p:nvSpPr>
          <p:cNvPr id="24" name="Text 22"/>
          <p:cNvSpPr/>
          <p:nvPr/>
        </p:nvSpPr>
        <p:spPr>
          <a:xfrm>
            <a:off x="8778240" y="4846320"/>
            <a:ext cx="320040" cy="228600"/>
          </a:xfrm>
          <a:prstGeom prst="rect">
            <a:avLst/>
          </a:prstGeom>
          <a:noFill/>
          <a:ln/>
        </p:spPr>
        <p:txBody>
          <a:bodyPr wrap="square" rtlCol="0" anchor="ctr"/>
          <a:lstStyle/>
          <a:p>
            <a:pPr algn="r" indent="0" marL="0">
              <a:buNone/>
            </a:pPr>
            <a:r>
              <a:rPr lang="en-US" sz="1000" dirty="0">
                <a:solidFill>
                  <a:srgbClr val="999999"/>
                </a:solidFill>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F2F5"/>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D6DFE8"/>
          </a:solidFill>
          <a:ln w="12700">
            <a:solidFill>
              <a:srgbClr val="D6DFE8"/>
            </a:solidFill>
            <a:prstDash val="solid"/>
          </a:ln>
        </p:spPr>
      </p:sp>
      <p:sp>
        <p:nvSpPr>
          <p:cNvPr id="3" name="Shape 1"/>
          <p:cNvSpPr/>
          <p:nvPr/>
        </p:nvSpPr>
        <p:spPr>
          <a:xfrm>
            <a:off x="0" y="0"/>
            <a:ext cx="457200" cy="1005840"/>
          </a:xfrm>
          <a:prstGeom prst="rect">
            <a:avLst/>
          </a:prstGeom>
          <a:solidFill>
            <a:srgbClr val="00A040"/>
          </a:solidFill>
          <a:ln w="12700">
            <a:solidFill>
              <a:srgbClr val="00A040"/>
            </a:solidFill>
            <a:prstDash val="solid"/>
          </a:ln>
        </p:spPr>
      </p:sp>
      <p:sp>
        <p:nvSpPr>
          <p:cNvPr id="4" name="Text 2"/>
          <p:cNvSpPr/>
          <p:nvPr/>
        </p:nvSpPr>
        <p:spPr>
          <a:xfrm>
            <a:off x="594360" y="91440"/>
            <a:ext cx="8321040" cy="822960"/>
          </a:xfrm>
          <a:prstGeom prst="rect">
            <a:avLst/>
          </a:prstGeom>
          <a:noFill/>
          <a:ln/>
        </p:spPr>
        <p:txBody>
          <a:bodyPr wrap="square" lIns="0" tIns="0" rIns="0" bIns="0" rtlCol="0" anchor="ctr"/>
          <a:lstStyle/>
          <a:p>
            <a:pPr indent="0" marL="0">
              <a:buNone/>
            </a:pPr>
            <a:r>
              <a:rPr lang="en-US" sz="2400" b="1" dirty="0">
                <a:solidFill>
                  <a:srgbClr val="222222"/>
                </a:solidFill>
                <a:latin typeface="Yu Gothic" pitchFamily="34" charset="0"/>
                <a:ea typeface="Yu Gothic" pitchFamily="34" charset="-122"/>
                <a:cs typeface="Yu Gothic" pitchFamily="34" charset="-120"/>
              </a:rPr>
              <a:t>実演①　振り返り</a:t>
            </a:r>
            <a:endParaRPr lang="en-US" sz="2400" dirty="0"/>
          </a:p>
        </p:txBody>
      </p:sp>
      <p:sp>
        <p:nvSpPr>
          <p:cNvPr id="5" name="Shape 3"/>
          <p:cNvSpPr/>
          <p:nvPr/>
        </p:nvSpPr>
        <p:spPr>
          <a:xfrm>
            <a:off x="457200" y="1234440"/>
            <a:ext cx="8229600" cy="822960"/>
          </a:xfrm>
          <a:prstGeom prst="rect">
            <a:avLst/>
          </a:prstGeom>
          <a:solidFill>
            <a:srgbClr val="F0FAF4"/>
          </a:solidFill>
          <a:ln w="12700">
            <a:solidFill>
              <a:srgbClr val="C5E8D1"/>
            </a:solidFill>
            <a:prstDash val="solid"/>
          </a:ln>
        </p:spPr>
      </p:sp>
      <p:sp>
        <p:nvSpPr>
          <p:cNvPr id="6" name="Text 4"/>
          <p:cNvSpPr/>
          <p:nvPr/>
        </p:nvSpPr>
        <p:spPr>
          <a:xfrm>
            <a:off x="548640" y="1298448"/>
            <a:ext cx="8046720" cy="685800"/>
          </a:xfrm>
          <a:prstGeom prst="rect">
            <a:avLst/>
          </a:prstGeom>
          <a:noFill/>
          <a:ln/>
        </p:spPr>
        <p:txBody>
          <a:bodyPr wrap="square" rtlCol="0" anchor="ctr"/>
          <a:lstStyle/>
          <a:p>
            <a:pPr algn="ctr" indent="0" marL="0">
              <a:buNone/>
            </a:pPr>
            <a:r>
              <a:rPr lang="en-US" sz="2200" b="1" dirty="0">
                <a:solidFill>
                  <a:srgbClr val="00A040"/>
                </a:solidFill>
                <a:latin typeface="Yu Gothic" pitchFamily="34" charset="0"/>
                <a:ea typeface="Yu Gothic" pitchFamily="34" charset="-122"/>
                <a:cs typeface="Yu Gothic" pitchFamily="34" charset="-120"/>
              </a:rPr>
              <a:t>問題は丁寧な対応そのものではない</a:t>
            </a:r>
            <a:endParaRPr lang="en-US" sz="2200" dirty="0"/>
          </a:p>
        </p:txBody>
      </p:sp>
      <p:sp>
        <p:nvSpPr>
          <p:cNvPr id="7" name="Text 5"/>
          <p:cNvSpPr/>
          <p:nvPr/>
        </p:nvSpPr>
        <p:spPr>
          <a:xfrm>
            <a:off x="457200" y="2240280"/>
            <a:ext cx="3657600" cy="320040"/>
          </a:xfrm>
          <a:prstGeom prst="rect">
            <a:avLst/>
          </a:prstGeom>
          <a:noFill/>
          <a:ln/>
        </p:spPr>
        <p:txBody>
          <a:bodyPr wrap="square" rtlCol="0" anchor="ctr"/>
          <a:lstStyle/>
          <a:p>
            <a:pPr indent="0" marL="0">
              <a:buNone/>
            </a:pPr>
            <a:r>
              <a:rPr lang="en-US" sz="1200" b="1" dirty="0">
                <a:solidFill>
                  <a:srgbClr val="888888"/>
                </a:solidFill>
                <a:latin typeface="Yu Gothic" pitchFamily="34" charset="0"/>
                <a:ea typeface="Yu Gothic" pitchFamily="34" charset="-122"/>
                <a:cs typeface="Yu Gothic" pitchFamily="34" charset="-120"/>
              </a:rPr>
              <a:t>カウンターに集中しているもの</a:t>
            </a:r>
            <a:endParaRPr lang="en-US" sz="1200" dirty="0"/>
          </a:p>
        </p:txBody>
      </p:sp>
      <p:sp>
        <p:nvSpPr>
          <p:cNvPr id="8" name="Shape 6"/>
          <p:cNvSpPr/>
          <p:nvPr/>
        </p:nvSpPr>
        <p:spPr>
          <a:xfrm>
            <a:off x="457200" y="2606040"/>
            <a:ext cx="3200400" cy="548640"/>
          </a:xfrm>
          <a:prstGeom prst="rect">
            <a:avLst/>
          </a:prstGeom>
          <a:solidFill>
            <a:srgbClr val="E8F5ED"/>
          </a:solidFill>
          <a:ln w="12700">
            <a:solidFill>
              <a:srgbClr val="C5E8D1"/>
            </a:solidFill>
            <a:prstDash val="solid"/>
          </a:ln>
        </p:spPr>
      </p:sp>
      <p:sp>
        <p:nvSpPr>
          <p:cNvPr id="9" name="Text 7"/>
          <p:cNvSpPr/>
          <p:nvPr/>
        </p:nvSpPr>
        <p:spPr>
          <a:xfrm>
            <a:off x="548640" y="2606040"/>
            <a:ext cx="3017520" cy="548640"/>
          </a:xfrm>
          <a:prstGeom prst="rect">
            <a:avLst/>
          </a:prstGeom>
          <a:noFill/>
          <a:ln/>
        </p:spPr>
        <p:txBody>
          <a:bodyPr wrap="square" rtlCol="0" anchor="ctr"/>
          <a:lstStyle/>
          <a:p>
            <a:pPr algn="ctr" indent="0" marL="0">
              <a:buNone/>
            </a:pPr>
            <a:r>
              <a:rPr lang="en-US" sz="1500" b="1" dirty="0">
                <a:solidFill>
                  <a:srgbClr val="00A040"/>
                </a:solidFill>
                <a:latin typeface="Yu Gothic" pitchFamily="34" charset="0"/>
                <a:ea typeface="Yu Gothic" pitchFamily="34" charset="-122"/>
                <a:cs typeface="Yu Gothic" pitchFamily="34" charset="-120"/>
              </a:rPr>
              <a:t>端末手続き</a:t>
            </a:r>
            <a:endParaRPr lang="en-US" sz="1500" dirty="0"/>
          </a:p>
        </p:txBody>
      </p:sp>
      <p:sp>
        <p:nvSpPr>
          <p:cNvPr id="10" name="Shape 8"/>
          <p:cNvSpPr/>
          <p:nvPr/>
        </p:nvSpPr>
        <p:spPr>
          <a:xfrm>
            <a:off x="457200" y="3291840"/>
            <a:ext cx="3200400" cy="548640"/>
          </a:xfrm>
          <a:prstGeom prst="rect">
            <a:avLst/>
          </a:prstGeom>
          <a:solidFill>
            <a:srgbClr val="FFF8F0"/>
          </a:solidFill>
          <a:ln w="12700">
            <a:solidFill>
              <a:srgbClr val="FFCC99"/>
            </a:solidFill>
            <a:prstDash val="solid"/>
          </a:ln>
        </p:spPr>
      </p:sp>
      <p:sp>
        <p:nvSpPr>
          <p:cNvPr id="11" name="Text 9"/>
          <p:cNvSpPr/>
          <p:nvPr/>
        </p:nvSpPr>
        <p:spPr>
          <a:xfrm>
            <a:off x="548640" y="3291840"/>
            <a:ext cx="3017520" cy="548640"/>
          </a:xfrm>
          <a:prstGeom prst="rect">
            <a:avLst/>
          </a:prstGeom>
          <a:noFill/>
          <a:ln/>
        </p:spPr>
        <p:txBody>
          <a:bodyPr wrap="square" rtlCol="0" anchor="ctr"/>
          <a:lstStyle/>
          <a:p>
            <a:pPr algn="ctr" indent="0" marL="0">
              <a:buNone/>
            </a:pPr>
            <a:r>
              <a:rPr lang="en-US" sz="1500" dirty="0">
                <a:solidFill>
                  <a:srgbClr val="CC6600"/>
                </a:solidFill>
                <a:latin typeface="Yu Gothic" pitchFamily="34" charset="0"/>
                <a:ea typeface="Yu Gothic" pitchFamily="34" charset="-122"/>
                <a:cs typeface="Yu Gothic" pitchFamily="34" charset="-120"/>
              </a:rPr>
              <a:t>観光地案内</a:t>
            </a:r>
            <a:endParaRPr lang="en-US" sz="1500" dirty="0"/>
          </a:p>
        </p:txBody>
      </p:sp>
      <p:sp>
        <p:nvSpPr>
          <p:cNvPr id="12" name="Shape 10"/>
          <p:cNvSpPr/>
          <p:nvPr/>
        </p:nvSpPr>
        <p:spPr>
          <a:xfrm>
            <a:off x="457200" y="3977640"/>
            <a:ext cx="3200400" cy="548640"/>
          </a:xfrm>
          <a:prstGeom prst="rect">
            <a:avLst/>
          </a:prstGeom>
          <a:solidFill>
            <a:srgbClr val="FFF8F0"/>
          </a:solidFill>
          <a:ln w="12700">
            <a:solidFill>
              <a:srgbClr val="FFCC99"/>
            </a:solidFill>
            <a:prstDash val="solid"/>
          </a:ln>
        </p:spPr>
      </p:sp>
      <p:sp>
        <p:nvSpPr>
          <p:cNvPr id="13" name="Text 11"/>
          <p:cNvSpPr/>
          <p:nvPr/>
        </p:nvSpPr>
        <p:spPr>
          <a:xfrm>
            <a:off x="548640" y="3977640"/>
            <a:ext cx="3017520" cy="548640"/>
          </a:xfrm>
          <a:prstGeom prst="rect">
            <a:avLst/>
          </a:prstGeom>
          <a:noFill/>
          <a:ln/>
        </p:spPr>
        <p:txBody>
          <a:bodyPr wrap="square" rtlCol="0" anchor="ctr"/>
          <a:lstStyle/>
          <a:p>
            <a:pPr algn="ctr" indent="0" marL="0">
              <a:buNone/>
            </a:pPr>
            <a:r>
              <a:rPr lang="en-US" sz="1500" dirty="0">
                <a:solidFill>
                  <a:srgbClr val="CC6600"/>
                </a:solidFill>
                <a:latin typeface="Yu Gothic" pitchFamily="34" charset="0"/>
                <a:ea typeface="Yu Gothic" pitchFamily="34" charset="-122"/>
                <a:cs typeface="Yu Gothic" pitchFamily="34" charset="-120"/>
              </a:rPr>
              <a:t>道路案内</a:t>
            </a:r>
            <a:endParaRPr lang="en-US" sz="1500" dirty="0"/>
          </a:p>
        </p:txBody>
      </p:sp>
      <p:pic>
        <p:nvPicPr>
          <p:cNvPr id="14" name="Image 0" descr="preencoded.png">    </p:cNvPr>
          <p:cNvPicPr>
            <a:picLocks noChangeAspect="1"/>
          </p:cNvPicPr>
          <p:nvPr/>
        </p:nvPicPr>
        <p:blipFill>
          <a:blip r:embed="rId1"/>
          <a:stretch>
            <a:fillRect/>
          </a:stretch>
        </p:blipFill>
        <p:spPr>
          <a:xfrm>
            <a:off x="3794760" y="3017520"/>
            <a:ext cx="411480" cy="411480"/>
          </a:xfrm>
          <a:prstGeom prst="rect">
            <a:avLst/>
          </a:prstGeom>
        </p:spPr>
      </p:pic>
      <p:pic>
        <p:nvPicPr>
          <p:cNvPr id="15" name="Image 1" descr="preencoded.png">    </p:cNvPr>
          <p:cNvPicPr>
            <a:picLocks noChangeAspect="1"/>
          </p:cNvPicPr>
          <p:nvPr/>
        </p:nvPicPr>
        <p:blipFill>
          <a:blip r:embed="rId2"/>
          <a:stretch>
            <a:fillRect/>
          </a:stretch>
        </p:blipFill>
        <p:spPr>
          <a:xfrm>
            <a:off x="3794760" y="3566160"/>
            <a:ext cx="411480" cy="411480"/>
          </a:xfrm>
          <a:prstGeom prst="rect">
            <a:avLst/>
          </a:prstGeom>
        </p:spPr>
      </p:pic>
      <p:sp>
        <p:nvSpPr>
          <p:cNvPr id="16" name="Shape 12"/>
          <p:cNvSpPr/>
          <p:nvPr/>
        </p:nvSpPr>
        <p:spPr>
          <a:xfrm>
            <a:off x="4343400" y="2240280"/>
            <a:ext cx="4297680" cy="2606040"/>
          </a:xfrm>
          <a:prstGeom prst="rect">
            <a:avLst/>
          </a:prstGeom>
          <a:solidFill>
            <a:srgbClr val="FFFFFF"/>
          </a:solidFill>
          <a:ln w="19050">
            <a:solidFill>
              <a:srgbClr val="C8D4DE"/>
            </a:solidFill>
            <a:prstDash val="solid"/>
          </a:ln>
        </p:spPr>
      </p:sp>
      <p:sp>
        <p:nvSpPr>
          <p:cNvPr id="17" name="Text 13"/>
          <p:cNvSpPr/>
          <p:nvPr/>
        </p:nvSpPr>
        <p:spPr>
          <a:xfrm>
            <a:off x="4480560" y="2423160"/>
            <a:ext cx="4023360" cy="2286000"/>
          </a:xfrm>
          <a:prstGeom prst="rect">
            <a:avLst/>
          </a:prstGeom>
          <a:noFill/>
          <a:ln/>
        </p:spPr>
        <p:txBody>
          <a:bodyPr wrap="square" rtlCol="0" anchor="ctr"/>
          <a:lstStyle/>
          <a:p>
            <a:pPr indent="0" marL="0">
              <a:buNone/>
            </a:pPr>
            <a:r>
              <a:rPr lang="en-US" sz="1700" b="1" dirty="0">
                <a:solidFill>
                  <a:srgbClr val="CC6600"/>
                </a:solidFill>
                <a:latin typeface="Yu Gothic" pitchFamily="34" charset="0"/>
                <a:ea typeface="Yu Gothic" pitchFamily="34" charset="-122"/>
                <a:cs typeface="Yu Gothic" pitchFamily="34" charset="-120"/>
              </a:rPr>
              <a:t>端末手続きと説明案内が</a:t>
            </a:r>
            <a:endParaRPr lang="en-US" sz="1700" dirty="0"/>
          </a:p>
          <a:p>
            <a:pPr indent="0" marL="0">
              <a:buNone/>
            </a:pPr>
            <a:r>
              <a:rPr lang="en-US" sz="1700" b="1" dirty="0">
                <a:solidFill>
                  <a:srgbClr val="CC6600"/>
                </a:solidFill>
                <a:latin typeface="Yu Gothic" pitchFamily="34" charset="0"/>
                <a:ea typeface="Yu Gothic" pitchFamily="34" charset="-122"/>
                <a:cs typeface="Yu Gothic" pitchFamily="34" charset="-120"/>
              </a:rPr>
              <a:t>同じ場所・同じ担当者に残る</a:t>
            </a:r>
            <a:endParaRPr lang="en-US" sz="1700" dirty="0"/>
          </a:p>
          <a:p>
            <a:pPr indent="0" marL="0">
              <a:buNone/>
            </a:pPr>
            <a:endParaRPr lang="en-US" sz="1700" dirty="0"/>
          </a:p>
          <a:p>
            <a:pPr indent="0" marL="0">
              <a:buNone/>
            </a:pPr>
            <a:r>
              <a:rPr lang="en-US" sz="1700" b="1" dirty="0">
                <a:solidFill>
                  <a:srgbClr val="CC6600"/>
                </a:solidFill>
                <a:latin typeface="Yu Gothic" pitchFamily="34" charset="0"/>
                <a:ea typeface="Yu Gothic" pitchFamily="34" charset="-122"/>
                <a:cs typeface="Yu Gothic" pitchFamily="34" charset="-120"/>
              </a:rPr>
              <a:t>→　次の着手が遅れる</a:t>
            </a:r>
            <a:endParaRPr lang="en-US" sz="1700" dirty="0"/>
          </a:p>
        </p:txBody>
      </p:sp>
      <p:sp>
        <p:nvSpPr>
          <p:cNvPr id="18" name="Text 14"/>
          <p:cNvSpPr/>
          <p:nvPr/>
        </p:nvSpPr>
        <p:spPr>
          <a:xfrm>
            <a:off x="8778240" y="4846320"/>
            <a:ext cx="320040" cy="228600"/>
          </a:xfrm>
          <a:prstGeom prst="rect">
            <a:avLst/>
          </a:prstGeom>
          <a:noFill/>
          <a:ln/>
        </p:spPr>
        <p:txBody>
          <a:bodyPr wrap="square" rtlCol="0" anchor="ctr"/>
          <a:lstStyle/>
          <a:p>
            <a:pPr algn="r" indent="0" marL="0">
              <a:buNone/>
            </a:pPr>
            <a:r>
              <a:rPr lang="en-US" sz="1000" dirty="0">
                <a:solidFill>
                  <a:srgbClr val="999999"/>
                </a:solidFill>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502920"/>
            <a:ext cx="54864" cy="502920"/>
          </a:xfrm>
          <a:prstGeom prst="rect">
            <a:avLst/>
          </a:prstGeom>
          <a:solidFill>
            <a:srgbClr val="00A040"/>
          </a:solidFill>
          <a:ln w="12700">
            <a:solidFill>
              <a:srgbClr val="00A040"/>
            </a:solidFill>
            <a:prstDash val="solid"/>
          </a:ln>
        </p:spPr>
      </p:sp>
      <p:sp>
        <p:nvSpPr>
          <p:cNvPr id="3" name="Text 1"/>
          <p:cNvSpPr/>
          <p:nvPr/>
        </p:nvSpPr>
        <p:spPr>
          <a:xfrm>
            <a:off x="502920" y="457200"/>
            <a:ext cx="8321040" cy="594360"/>
          </a:xfrm>
          <a:prstGeom prst="rect">
            <a:avLst/>
          </a:prstGeom>
          <a:noFill/>
          <a:ln/>
        </p:spPr>
        <p:txBody>
          <a:bodyPr wrap="square" lIns="0" tIns="0" rIns="0" bIns="0" rtlCol="0" anchor="ctr"/>
          <a:lstStyle/>
          <a:p>
            <a:pPr indent="0" marL="0">
              <a:buNone/>
            </a:pPr>
            <a:r>
              <a:rPr lang="en-US" sz="2200" b="1" dirty="0">
                <a:solidFill>
                  <a:srgbClr val="222222"/>
                </a:solidFill>
                <a:latin typeface="Yu Gothic" pitchFamily="34" charset="0"/>
                <a:ea typeface="Yu Gothic" pitchFamily="34" charset="-122"/>
                <a:cs typeface="Yu Gothic" pitchFamily="34" charset="-120"/>
              </a:rPr>
              <a:t>改善策の考え方</a:t>
            </a:r>
            <a:endParaRPr lang="en-US" sz="2200" dirty="0"/>
          </a:p>
        </p:txBody>
      </p:sp>
      <p:sp>
        <p:nvSpPr>
          <p:cNvPr id="4" name="Shape 2"/>
          <p:cNvSpPr/>
          <p:nvPr/>
        </p:nvSpPr>
        <p:spPr>
          <a:xfrm>
            <a:off x="365760" y="1051560"/>
            <a:ext cx="8412480" cy="0"/>
          </a:xfrm>
          <a:prstGeom prst="line">
            <a:avLst/>
          </a:prstGeom>
          <a:noFill/>
          <a:ln w="12700">
            <a:solidFill>
              <a:srgbClr val="E0E0E0"/>
            </a:solidFill>
            <a:prstDash val="solid"/>
          </a:ln>
        </p:spPr>
      </p:sp>
      <p:sp>
        <p:nvSpPr>
          <p:cNvPr id="5" name="Shape 3"/>
          <p:cNvSpPr/>
          <p:nvPr/>
        </p:nvSpPr>
        <p:spPr>
          <a:xfrm>
            <a:off x="365760" y="1280160"/>
            <a:ext cx="4114800" cy="3520440"/>
          </a:xfrm>
          <a:prstGeom prst="rect">
            <a:avLst/>
          </a:prstGeom>
          <a:solidFill>
            <a:srgbClr val="F0FAF4"/>
          </a:solidFill>
          <a:ln w="25400">
            <a:solidFill>
              <a:srgbClr val="C5E8D1"/>
            </a:solidFill>
            <a:prstDash val="solid"/>
          </a:ln>
        </p:spPr>
      </p:sp>
      <p:sp>
        <p:nvSpPr>
          <p:cNvPr id="6" name="Shape 4"/>
          <p:cNvSpPr/>
          <p:nvPr/>
        </p:nvSpPr>
        <p:spPr>
          <a:xfrm>
            <a:off x="365760" y="1280160"/>
            <a:ext cx="4114800" cy="548640"/>
          </a:xfrm>
          <a:prstGeom prst="rect">
            <a:avLst/>
          </a:prstGeom>
          <a:solidFill>
            <a:srgbClr val="00A040"/>
          </a:solidFill>
          <a:ln w="12700">
            <a:solidFill>
              <a:srgbClr val="00A040"/>
            </a:solidFill>
            <a:prstDash val="solid"/>
          </a:ln>
        </p:spPr>
      </p:sp>
      <p:sp>
        <p:nvSpPr>
          <p:cNvPr id="7" name="Text 5"/>
          <p:cNvSpPr/>
          <p:nvPr/>
        </p:nvSpPr>
        <p:spPr>
          <a:xfrm>
            <a:off x="457200" y="1280160"/>
            <a:ext cx="3931920" cy="548640"/>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店内カウンター</a:t>
            </a:r>
            <a:endParaRPr lang="en-US" sz="2000" dirty="0"/>
          </a:p>
        </p:txBody>
      </p:sp>
      <p:sp>
        <p:nvSpPr>
          <p:cNvPr id="8" name="Text 6"/>
          <p:cNvSpPr/>
          <p:nvPr/>
        </p:nvSpPr>
        <p:spPr>
          <a:xfrm>
            <a:off x="457200" y="1920240"/>
            <a:ext cx="3931920" cy="502920"/>
          </a:xfrm>
          <a:prstGeom prst="rect">
            <a:avLst/>
          </a:prstGeom>
          <a:noFill/>
          <a:ln/>
        </p:spPr>
        <p:txBody>
          <a:bodyPr wrap="square" rtlCol="0" anchor="ctr"/>
          <a:lstStyle/>
          <a:p>
            <a:pPr algn="ctr" indent="0" marL="0">
              <a:buNone/>
            </a:pPr>
            <a:r>
              <a:rPr lang="en-US" sz="1700" b="1" dirty="0">
                <a:solidFill>
                  <a:srgbClr val="222222"/>
                </a:solidFill>
                <a:latin typeface="Yu Gothic" pitchFamily="34" charset="0"/>
                <a:ea typeface="Yu Gothic" pitchFamily="34" charset="-122"/>
                <a:cs typeface="Yu Gothic" pitchFamily="34" charset="-120"/>
              </a:rPr>
              <a:t>端末手続きに集中</a:t>
            </a:r>
            <a:endParaRPr lang="en-US" sz="1700" dirty="0"/>
          </a:p>
        </p:txBody>
      </p:sp>
      <p:sp>
        <p:nvSpPr>
          <p:cNvPr id="9" name="Shape 7"/>
          <p:cNvSpPr/>
          <p:nvPr/>
        </p:nvSpPr>
        <p:spPr>
          <a:xfrm>
            <a:off x="548640" y="2514600"/>
            <a:ext cx="3749040" cy="548640"/>
          </a:xfrm>
          <a:prstGeom prst="rect">
            <a:avLst/>
          </a:prstGeom>
          <a:solidFill>
            <a:srgbClr val="FFFFFF"/>
          </a:solidFill>
          <a:ln w="12700">
            <a:solidFill>
              <a:srgbClr val="C5E8D1"/>
            </a:solidFill>
            <a:prstDash val="solid"/>
          </a:ln>
        </p:spPr>
      </p:sp>
      <p:pic>
        <p:nvPicPr>
          <p:cNvPr id="10" name="Image 0" descr="preencoded.png">    </p:cNvPr>
          <p:cNvPicPr>
            <a:picLocks noChangeAspect="1"/>
          </p:cNvPicPr>
          <p:nvPr/>
        </p:nvPicPr>
        <p:blipFill>
          <a:blip r:embed="rId1"/>
          <a:stretch>
            <a:fillRect/>
          </a:stretch>
        </p:blipFill>
        <p:spPr>
          <a:xfrm>
            <a:off x="640080" y="2560320"/>
            <a:ext cx="320040" cy="320040"/>
          </a:xfrm>
          <a:prstGeom prst="rect">
            <a:avLst/>
          </a:prstGeom>
        </p:spPr>
      </p:pic>
      <p:sp>
        <p:nvSpPr>
          <p:cNvPr id="11" name="Text 8"/>
          <p:cNvSpPr/>
          <p:nvPr/>
        </p:nvSpPr>
        <p:spPr>
          <a:xfrm>
            <a:off x="1051560" y="2542032"/>
            <a:ext cx="3108960" cy="438912"/>
          </a:xfrm>
          <a:prstGeom prst="rect">
            <a:avLst/>
          </a:prstGeom>
          <a:noFill/>
          <a:ln/>
        </p:spPr>
        <p:txBody>
          <a:bodyPr wrap="square" lIns="0" tIns="0" rIns="0" bIns="0" rtlCol="0" anchor="ctr"/>
          <a:lstStyle/>
          <a:p>
            <a:pPr indent="0" marL="0">
              <a:buNone/>
            </a:pPr>
            <a:r>
              <a:rPr lang="en-US" sz="1400" dirty="0">
                <a:solidFill>
                  <a:srgbClr val="444444"/>
                </a:solidFill>
                <a:latin typeface="Yu Gothic" pitchFamily="34" charset="0"/>
                <a:ea typeface="Yu Gothic" pitchFamily="34" charset="-122"/>
                <a:cs typeface="Yu Gothic" pitchFamily="34" charset="-120"/>
              </a:rPr>
              <a:t>予約確認・契約書作成</a:t>
            </a:r>
            <a:endParaRPr lang="en-US" sz="1400" dirty="0"/>
          </a:p>
        </p:txBody>
      </p:sp>
      <p:sp>
        <p:nvSpPr>
          <p:cNvPr id="12" name="Shape 9"/>
          <p:cNvSpPr/>
          <p:nvPr/>
        </p:nvSpPr>
        <p:spPr>
          <a:xfrm>
            <a:off x="548640" y="3172968"/>
            <a:ext cx="3749040" cy="548640"/>
          </a:xfrm>
          <a:prstGeom prst="rect">
            <a:avLst/>
          </a:prstGeom>
          <a:solidFill>
            <a:srgbClr val="FFFFFF"/>
          </a:solidFill>
          <a:ln w="12700">
            <a:solidFill>
              <a:srgbClr val="C5E8D1"/>
            </a:solidFill>
            <a:prstDash val="solid"/>
          </a:ln>
        </p:spPr>
      </p:sp>
      <p:pic>
        <p:nvPicPr>
          <p:cNvPr id="13" name="Image 1" descr="preencoded.png">    </p:cNvPr>
          <p:cNvPicPr>
            <a:picLocks noChangeAspect="1"/>
          </p:cNvPicPr>
          <p:nvPr/>
        </p:nvPicPr>
        <p:blipFill>
          <a:blip r:embed="rId2"/>
          <a:stretch>
            <a:fillRect/>
          </a:stretch>
        </p:blipFill>
        <p:spPr>
          <a:xfrm>
            <a:off x="640080" y="3218688"/>
            <a:ext cx="320040" cy="320040"/>
          </a:xfrm>
          <a:prstGeom prst="rect">
            <a:avLst/>
          </a:prstGeom>
        </p:spPr>
      </p:pic>
      <p:sp>
        <p:nvSpPr>
          <p:cNvPr id="14" name="Text 10"/>
          <p:cNvSpPr/>
          <p:nvPr/>
        </p:nvSpPr>
        <p:spPr>
          <a:xfrm>
            <a:off x="1051560" y="3200400"/>
            <a:ext cx="3108960" cy="438912"/>
          </a:xfrm>
          <a:prstGeom prst="rect">
            <a:avLst/>
          </a:prstGeom>
          <a:noFill/>
          <a:ln/>
        </p:spPr>
        <p:txBody>
          <a:bodyPr wrap="square" lIns="0" tIns="0" rIns="0" bIns="0" rtlCol="0" anchor="ctr"/>
          <a:lstStyle/>
          <a:p>
            <a:pPr indent="0" marL="0">
              <a:buNone/>
            </a:pPr>
            <a:r>
              <a:rPr lang="en-US" sz="1400" dirty="0">
                <a:solidFill>
                  <a:srgbClr val="444444"/>
                </a:solidFill>
                <a:latin typeface="Yu Gothic" pitchFamily="34" charset="0"/>
                <a:ea typeface="Yu Gothic" pitchFamily="34" charset="-122"/>
                <a:cs typeface="Yu Gothic" pitchFamily="34" charset="-120"/>
              </a:rPr>
              <a:t>料金・補償の説明</a:t>
            </a:r>
            <a:endParaRPr lang="en-US" sz="1400" dirty="0"/>
          </a:p>
        </p:txBody>
      </p:sp>
      <p:sp>
        <p:nvSpPr>
          <p:cNvPr id="15" name="Shape 11"/>
          <p:cNvSpPr/>
          <p:nvPr/>
        </p:nvSpPr>
        <p:spPr>
          <a:xfrm>
            <a:off x="548640" y="3831336"/>
            <a:ext cx="3749040" cy="548640"/>
          </a:xfrm>
          <a:prstGeom prst="rect">
            <a:avLst/>
          </a:prstGeom>
          <a:solidFill>
            <a:srgbClr val="FFFFFF"/>
          </a:solidFill>
          <a:ln w="12700">
            <a:solidFill>
              <a:srgbClr val="C5E8D1"/>
            </a:solidFill>
            <a:prstDash val="solid"/>
          </a:ln>
        </p:spPr>
      </p:sp>
      <p:pic>
        <p:nvPicPr>
          <p:cNvPr id="16" name="Image 2" descr="preencoded.png">    </p:cNvPr>
          <p:cNvPicPr>
            <a:picLocks noChangeAspect="1"/>
          </p:cNvPicPr>
          <p:nvPr/>
        </p:nvPicPr>
        <p:blipFill>
          <a:blip r:embed="rId3"/>
          <a:stretch>
            <a:fillRect/>
          </a:stretch>
        </p:blipFill>
        <p:spPr>
          <a:xfrm>
            <a:off x="640080" y="3877056"/>
            <a:ext cx="320040" cy="320040"/>
          </a:xfrm>
          <a:prstGeom prst="rect">
            <a:avLst/>
          </a:prstGeom>
        </p:spPr>
      </p:pic>
      <p:sp>
        <p:nvSpPr>
          <p:cNvPr id="17" name="Text 12"/>
          <p:cNvSpPr/>
          <p:nvPr/>
        </p:nvSpPr>
        <p:spPr>
          <a:xfrm>
            <a:off x="1051560" y="3858768"/>
            <a:ext cx="3108960" cy="438912"/>
          </a:xfrm>
          <a:prstGeom prst="rect">
            <a:avLst/>
          </a:prstGeom>
          <a:noFill/>
          <a:ln/>
        </p:spPr>
        <p:txBody>
          <a:bodyPr wrap="square" lIns="0" tIns="0" rIns="0" bIns="0" rtlCol="0" anchor="ctr"/>
          <a:lstStyle/>
          <a:p>
            <a:pPr indent="0" marL="0">
              <a:buNone/>
            </a:pPr>
            <a:r>
              <a:rPr lang="en-US" sz="1400" dirty="0">
                <a:solidFill>
                  <a:srgbClr val="444444"/>
                </a:solidFill>
                <a:latin typeface="Yu Gothic" pitchFamily="34" charset="0"/>
                <a:ea typeface="Yu Gothic" pitchFamily="34" charset="-122"/>
                <a:cs typeface="Yu Gothic" pitchFamily="34" charset="-120"/>
              </a:rPr>
              <a:t>返却方法の確認</a:t>
            </a:r>
            <a:endParaRPr lang="en-US" sz="1400" dirty="0"/>
          </a:p>
        </p:txBody>
      </p:sp>
      <p:sp>
        <p:nvSpPr>
          <p:cNvPr id="18" name="Shape 13"/>
          <p:cNvSpPr/>
          <p:nvPr/>
        </p:nvSpPr>
        <p:spPr>
          <a:xfrm>
            <a:off x="4937760" y="1280160"/>
            <a:ext cx="4114800" cy="3520440"/>
          </a:xfrm>
          <a:prstGeom prst="rect">
            <a:avLst/>
          </a:prstGeom>
          <a:solidFill>
            <a:srgbClr val="F0FAF4"/>
          </a:solidFill>
          <a:ln w="25400">
            <a:solidFill>
              <a:srgbClr val="C5E8D1"/>
            </a:solidFill>
            <a:prstDash val="solid"/>
          </a:ln>
        </p:spPr>
      </p:sp>
      <p:sp>
        <p:nvSpPr>
          <p:cNvPr id="19" name="Shape 14"/>
          <p:cNvSpPr/>
          <p:nvPr/>
        </p:nvSpPr>
        <p:spPr>
          <a:xfrm>
            <a:off x="4937760" y="1280160"/>
            <a:ext cx="4114800" cy="548640"/>
          </a:xfrm>
          <a:prstGeom prst="rect">
            <a:avLst/>
          </a:prstGeom>
          <a:solidFill>
            <a:srgbClr val="00A040"/>
          </a:solidFill>
          <a:ln w="12700">
            <a:solidFill>
              <a:srgbClr val="00A040"/>
            </a:solidFill>
            <a:prstDash val="solid"/>
          </a:ln>
        </p:spPr>
      </p:sp>
      <p:sp>
        <p:nvSpPr>
          <p:cNvPr id="20" name="Text 15"/>
          <p:cNvSpPr/>
          <p:nvPr/>
        </p:nvSpPr>
        <p:spPr>
          <a:xfrm>
            <a:off x="5029200" y="1280160"/>
            <a:ext cx="3931920" cy="548640"/>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車両前</a:t>
            </a:r>
            <a:endParaRPr lang="en-US" sz="2000" dirty="0"/>
          </a:p>
        </p:txBody>
      </p:sp>
      <p:sp>
        <p:nvSpPr>
          <p:cNvPr id="21" name="Text 16"/>
          <p:cNvSpPr/>
          <p:nvPr/>
        </p:nvSpPr>
        <p:spPr>
          <a:xfrm>
            <a:off x="5029200" y="1920240"/>
            <a:ext cx="3931920" cy="502920"/>
          </a:xfrm>
          <a:prstGeom prst="rect">
            <a:avLst/>
          </a:prstGeom>
          <a:noFill/>
          <a:ln/>
        </p:spPr>
        <p:txBody>
          <a:bodyPr wrap="square" rtlCol="0" anchor="ctr"/>
          <a:lstStyle/>
          <a:p>
            <a:pPr algn="ctr" indent="0" marL="0">
              <a:buNone/>
            </a:pPr>
            <a:r>
              <a:rPr lang="en-US" sz="1700" b="1" dirty="0">
                <a:solidFill>
                  <a:srgbClr val="222222"/>
                </a:solidFill>
                <a:latin typeface="Yu Gothic" pitchFamily="34" charset="0"/>
                <a:ea typeface="Yu Gothic" pitchFamily="34" charset="-122"/>
                <a:cs typeface="Yu Gothic" pitchFamily="34" charset="-120"/>
              </a:rPr>
              <a:t>引き継いで案内</a:t>
            </a:r>
            <a:endParaRPr lang="en-US" sz="1700" dirty="0"/>
          </a:p>
        </p:txBody>
      </p:sp>
      <p:sp>
        <p:nvSpPr>
          <p:cNvPr id="22" name="Shape 17"/>
          <p:cNvSpPr/>
          <p:nvPr/>
        </p:nvSpPr>
        <p:spPr>
          <a:xfrm>
            <a:off x="5120640" y="2514600"/>
            <a:ext cx="3749040" cy="548640"/>
          </a:xfrm>
          <a:prstGeom prst="rect">
            <a:avLst/>
          </a:prstGeom>
          <a:solidFill>
            <a:srgbClr val="FFFFFF"/>
          </a:solidFill>
          <a:ln w="12700">
            <a:solidFill>
              <a:srgbClr val="C5E8D1"/>
            </a:solidFill>
            <a:prstDash val="solid"/>
          </a:ln>
        </p:spPr>
      </p:sp>
      <p:pic>
        <p:nvPicPr>
          <p:cNvPr id="23" name="Image 3" descr="preencoded.png">    </p:cNvPr>
          <p:cNvPicPr>
            <a:picLocks noChangeAspect="1"/>
          </p:cNvPicPr>
          <p:nvPr/>
        </p:nvPicPr>
        <p:blipFill>
          <a:blip r:embed="rId4"/>
          <a:stretch>
            <a:fillRect/>
          </a:stretch>
        </p:blipFill>
        <p:spPr>
          <a:xfrm>
            <a:off x="5212080" y="2560320"/>
            <a:ext cx="320040" cy="320040"/>
          </a:xfrm>
          <a:prstGeom prst="rect">
            <a:avLst/>
          </a:prstGeom>
        </p:spPr>
      </p:pic>
      <p:sp>
        <p:nvSpPr>
          <p:cNvPr id="24" name="Text 18"/>
          <p:cNvSpPr/>
          <p:nvPr/>
        </p:nvSpPr>
        <p:spPr>
          <a:xfrm>
            <a:off x="5623560" y="2542032"/>
            <a:ext cx="3108960" cy="438912"/>
          </a:xfrm>
          <a:prstGeom prst="rect">
            <a:avLst/>
          </a:prstGeom>
          <a:noFill/>
          <a:ln/>
        </p:spPr>
        <p:txBody>
          <a:bodyPr wrap="square" lIns="0" tIns="0" rIns="0" bIns="0" rtlCol="0" anchor="ctr"/>
          <a:lstStyle/>
          <a:p>
            <a:pPr indent="0" marL="0">
              <a:buNone/>
            </a:pPr>
            <a:r>
              <a:rPr lang="en-US" sz="1400" dirty="0">
                <a:solidFill>
                  <a:srgbClr val="444444"/>
                </a:solidFill>
                <a:latin typeface="Yu Gothic" pitchFamily="34" charset="0"/>
                <a:ea typeface="Yu Gothic" pitchFamily="34" charset="-122"/>
                <a:cs typeface="Yu Gothic" pitchFamily="34" charset="-120"/>
              </a:rPr>
              <a:t>車両キズ確認</a:t>
            </a:r>
            <a:endParaRPr lang="en-US" sz="1400" dirty="0"/>
          </a:p>
        </p:txBody>
      </p:sp>
      <p:sp>
        <p:nvSpPr>
          <p:cNvPr id="25" name="Shape 19"/>
          <p:cNvSpPr/>
          <p:nvPr/>
        </p:nvSpPr>
        <p:spPr>
          <a:xfrm>
            <a:off x="5120640" y="3172968"/>
            <a:ext cx="3749040" cy="548640"/>
          </a:xfrm>
          <a:prstGeom prst="rect">
            <a:avLst/>
          </a:prstGeom>
          <a:solidFill>
            <a:srgbClr val="FFFFFF"/>
          </a:solidFill>
          <a:ln w="12700">
            <a:solidFill>
              <a:srgbClr val="C5E8D1"/>
            </a:solidFill>
            <a:prstDash val="solid"/>
          </a:ln>
        </p:spPr>
      </p:sp>
      <p:pic>
        <p:nvPicPr>
          <p:cNvPr id="26" name="Image 4" descr="preencoded.png">    </p:cNvPr>
          <p:cNvPicPr>
            <a:picLocks noChangeAspect="1"/>
          </p:cNvPicPr>
          <p:nvPr/>
        </p:nvPicPr>
        <p:blipFill>
          <a:blip r:embed="rId5"/>
          <a:stretch>
            <a:fillRect/>
          </a:stretch>
        </p:blipFill>
        <p:spPr>
          <a:xfrm>
            <a:off x="5212080" y="3218688"/>
            <a:ext cx="320040" cy="320040"/>
          </a:xfrm>
          <a:prstGeom prst="rect">
            <a:avLst/>
          </a:prstGeom>
        </p:spPr>
      </p:pic>
      <p:sp>
        <p:nvSpPr>
          <p:cNvPr id="27" name="Text 20"/>
          <p:cNvSpPr/>
          <p:nvPr/>
        </p:nvSpPr>
        <p:spPr>
          <a:xfrm>
            <a:off x="5623560" y="3200400"/>
            <a:ext cx="3108960" cy="438912"/>
          </a:xfrm>
          <a:prstGeom prst="rect">
            <a:avLst/>
          </a:prstGeom>
          <a:noFill/>
          <a:ln/>
        </p:spPr>
        <p:txBody>
          <a:bodyPr wrap="square" lIns="0" tIns="0" rIns="0" bIns="0" rtlCol="0" anchor="ctr"/>
          <a:lstStyle/>
          <a:p>
            <a:pPr indent="0" marL="0">
              <a:buNone/>
            </a:pPr>
            <a:r>
              <a:rPr lang="en-US" sz="1400" dirty="0">
                <a:solidFill>
                  <a:srgbClr val="444444"/>
                </a:solidFill>
                <a:latin typeface="Yu Gothic" pitchFamily="34" charset="0"/>
                <a:ea typeface="Yu Gothic" pitchFamily="34" charset="-122"/>
                <a:cs typeface="Yu Gothic" pitchFamily="34" charset="-120"/>
              </a:rPr>
              <a:t>基本操作の説明</a:t>
            </a:r>
            <a:endParaRPr lang="en-US" sz="1400" dirty="0"/>
          </a:p>
        </p:txBody>
      </p:sp>
      <p:sp>
        <p:nvSpPr>
          <p:cNvPr id="28" name="Shape 21"/>
          <p:cNvSpPr/>
          <p:nvPr/>
        </p:nvSpPr>
        <p:spPr>
          <a:xfrm>
            <a:off x="5120640" y="3831336"/>
            <a:ext cx="3749040" cy="548640"/>
          </a:xfrm>
          <a:prstGeom prst="rect">
            <a:avLst/>
          </a:prstGeom>
          <a:solidFill>
            <a:srgbClr val="FFFFFF"/>
          </a:solidFill>
          <a:ln w="12700">
            <a:solidFill>
              <a:srgbClr val="C5E8D1"/>
            </a:solidFill>
            <a:prstDash val="solid"/>
          </a:ln>
        </p:spPr>
      </p:sp>
      <p:pic>
        <p:nvPicPr>
          <p:cNvPr id="29" name="Image 5" descr="preencoded.png">    </p:cNvPr>
          <p:cNvPicPr>
            <a:picLocks noChangeAspect="1"/>
          </p:cNvPicPr>
          <p:nvPr/>
        </p:nvPicPr>
        <p:blipFill>
          <a:blip r:embed="rId6"/>
          <a:stretch>
            <a:fillRect/>
          </a:stretch>
        </p:blipFill>
        <p:spPr>
          <a:xfrm>
            <a:off x="5212080" y="3877056"/>
            <a:ext cx="320040" cy="320040"/>
          </a:xfrm>
          <a:prstGeom prst="rect">
            <a:avLst/>
          </a:prstGeom>
        </p:spPr>
      </p:pic>
      <p:sp>
        <p:nvSpPr>
          <p:cNvPr id="30" name="Text 22"/>
          <p:cNvSpPr/>
          <p:nvPr/>
        </p:nvSpPr>
        <p:spPr>
          <a:xfrm>
            <a:off x="5623560" y="3858768"/>
            <a:ext cx="3108960" cy="438912"/>
          </a:xfrm>
          <a:prstGeom prst="rect">
            <a:avLst/>
          </a:prstGeom>
          <a:noFill/>
          <a:ln/>
        </p:spPr>
        <p:txBody>
          <a:bodyPr wrap="square" lIns="0" tIns="0" rIns="0" bIns="0" rtlCol="0" anchor="ctr"/>
          <a:lstStyle/>
          <a:p>
            <a:pPr indent="0" marL="0">
              <a:buNone/>
            </a:pPr>
            <a:r>
              <a:rPr lang="en-US" sz="1400" dirty="0">
                <a:solidFill>
                  <a:srgbClr val="444444"/>
                </a:solidFill>
                <a:latin typeface="Yu Gothic" pitchFamily="34" charset="0"/>
                <a:ea typeface="Yu Gothic" pitchFamily="34" charset="-122"/>
                <a:cs typeface="Yu Gothic" pitchFamily="34" charset="-120"/>
              </a:rPr>
              <a:t>出発方向・給油場所</a:t>
            </a:r>
            <a:endParaRPr lang="en-US" sz="1400" dirty="0"/>
          </a:p>
        </p:txBody>
      </p:sp>
      <p:pic>
        <p:nvPicPr>
          <p:cNvPr id="31" name="Image 6" descr="preencoded.png">    </p:cNvPr>
          <p:cNvPicPr>
            <a:picLocks noChangeAspect="1"/>
          </p:cNvPicPr>
          <p:nvPr/>
        </p:nvPicPr>
        <p:blipFill>
          <a:blip r:embed="rId7"/>
          <a:stretch>
            <a:fillRect/>
          </a:stretch>
        </p:blipFill>
        <p:spPr>
          <a:xfrm>
            <a:off x="4407408" y="2743200"/>
            <a:ext cx="457200" cy="457200"/>
          </a:xfrm>
          <a:prstGeom prst="rect">
            <a:avLst/>
          </a:prstGeom>
        </p:spPr>
      </p:pic>
      <p:sp>
        <p:nvSpPr>
          <p:cNvPr id="32" name="Text 23"/>
          <p:cNvSpPr/>
          <p:nvPr/>
        </p:nvSpPr>
        <p:spPr>
          <a:xfrm>
            <a:off x="8778240" y="4846320"/>
            <a:ext cx="320040" cy="228600"/>
          </a:xfrm>
          <a:prstGeom prst="rect">
            <a:avLst/>
          </a:prstGeom>
          <a:noFill/>
          <a:ln/>
        </p:spPr>
        <p:txBody>
          <a:bodyPr wrap="square" rtlCol="0" anchor="ctr"/>
          <a:lstStyle/>
          <a:p>
            <a:pPr algn="r" indent="0" marL="0">
              <a:buNone/>
            </a:pPr>
            <a:r>
              <a:rPr lang="en-US" sz="1000" dirty="0">
                <a:solidFill>
                  <a:srgbClr val="999999"/>
                </a:solidFill>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EF2F5"/>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D6DFE8"/>
          </a:solidFill>
          <a:ln w="12700">
            <a:solidFill>
              <a:srgbClr val="D6DFE8"/>
            </a:solidFill>
            <a:prstDash val="solid"/>
          </a:ln>
        </p:spPr>
      </p:sp>
      <p:sp>
        <p:nvSpPr>
          <p:cNvPr id="3" name="Shape 1"/>
          <p:cNvSpPr/>
          <p:nvPr/>
        </p:nvSpPr>
        <p:spPr>
          <a:xfrm>
            <a:off x="0" y="0"/>
            <a:ext cx="457200" cy="1005840"/>
          </a:xfrm>
          <a:prstGeom prst="rect">
            <a:avLst/>
          </a:prstGeom>
          <a:solidFill>
            <a:srgbClr val="00A040"/>
          </a:solidFill>
          <a:ln w="12700">
            <a:solidFill>
              <a:srgbClr val="00A040"/>
            </a:solidFill>
            <a:prstDash val="solid"/>
          </a:ln>
        </p:spPr>
      </p:sp>
      <p:sp>
        <p:nvSpPr>
          <p:cNvPr id="4" name="Text 2"/>
          <p:cNvSpPr/>
          <p:nvPr/>
        </p:nvSpPr>
        <p:spPr>
          <a:xfrm>
            <a:off x="594360" y="91440"/>
            <a:ext cx="8321040" cy="822960"/>
          </a:xfrm>
          <a:prstGeom prst="rect">
            <a:avLst/>
          </a:prstGeom>
          <a:noFill/>
          <a:ln/>
        </p:spPr>
        <p:txBody>
          <a:bodyPr wrap="square" lIns="0" tIns="0" rIns="0" bIns="0" rtlCol="0" anchor="ctr"/>
          <a:lstStyle/>
          <a:p>
            <a:pPr indent="0" marL="0">
              <a:buNone/>
            </a:pPr>
            <a:r>
              <a:rPr lang="en-US" sz="2400" b="1" dirty="0">
                <a:solidFill>
                  <a:srgbClr val="222222"/>
                </a:solidFill>
                <a:latin typeface="Yu Gothic" pitchFamily="34" charset="0"/>
                <a:ea typeface="Yu Gothic" pitchFamily="34" charset="-122"/>
                <a:cs typeface="Yu Gothic" pitchFamily="34" charset="-120"/>
              </a:rPr>
              <a:t>実演②　改善後の流れ</a:t>
            </a:r>
            <a:endParaRPr lang="en-US" sz="2400" dirty="0"/>
          </a:p>
        </p:txBody>
      </p:sp>
      <p:sp>
        <p:nvSpPr>
          <p:cNvPr id="5" name="Text 3"/>
          <p:cNvSpPr/>
          <p:nvPr/>
        </p:nvSpPr>
        <p:spPr>
          <a:xfrm>
            <a:off x="457200" y="1188720"/>
            <a:ext cx="4114800" cy="347472"/>
          </a:xfrm>
          <a:prstGeom prst="rect">
            <a:avLst/>
          </a:prstGeom>
          <a:noFill/>
          <a:ln/>
        </p:spPr>
        <p:txBody>
          <a:bodyPr wrap="square" rtlCol="0" anchor="ctr"/>
          <a:lstStyle/>
          <a:p>
            <a:pPr indent="0" marL="0">
              <a:buNone/>
            </a:pPr>
            <a:r>
              <a:rPr lang="en-US" sz="1300" b="1" dirty="0">
                <a:solidFill>
                  <a:srgbClr val="666666"/>
                </a:solidFill>
                <a:latin typeface="Yu Gothic" pitchFamily="34" charset="0"/>
                <a:ea typeface="Yu Gothic" pitchFamily="34" charset="-122"/>
                <a:cs typeface="Yu Gothic" pitchFamily="34" charset="-120"/>
              </a:rPr>
              <a:t>登場人物</a:t>
            </a:r>
            <a:endParaRPr lang="en-US" sz="1300" dirty="0"/>
          </a:p>
        </p:txBody>
      </p:sp>
      <p:sp>
        <p:nvSpPr>
          <p:cNvPr id="6" name="Shape 4"/>
          <p:cNvSpPr/>
          <p:nvPr/>
        </p:nvSpPr>
        <p:spPr>
          <a:xfrm>
            <a:off x="457200" y="1600200"/>
            <a:ext cx="4114800" cy="475488"/>
          </a:xfrm>
          <a:prstGeom prst="rect">
            <a:avLst/>
          </a:prstGeom>
          <a:solidFill>
            <a:srgbClr val="E8F5ED"/>
          </a:solidFill>
          <a:ln w="12700">
            <a:solidFill>
              <a:srgbClr val="C5E8D1"/>
            </a:solidFill>
            <a:prstDash val="solid"/>
          </a:ln>
        </p:spPr>
      </p:sp>
      <p:sp>
        <p:nvSpPr>
          <p:cNvPr id="7" name="Text 5"/>
          <p:cNvSpPr/>
          <p:nvPr/>
        </p:nvSpPr>
        <p:spPr>
          <a:xfrm>
            <a:off x="594360" y="1645920"/>
            <a:ext cx="1417320" cy="384048"/>
          </a:xfrm>
          <a:prstGeom prst="rect">
            <a:avLst/>
          </a:prstGeom>
          <a:noFill/>
          <a:ln/>
        </p:spPr>
        <p:txBody>
          <a:bodyPr wrap="square" lIns="0" tIns="0" rIns="0" bIns="0" rtlCol="0" anchor="ctr"/>
          <a:lstStyle/>
          <a:p>
            <a:pPr indent="0" marL="0">
              <a:buNone/>
            </a:pPr>
            <a:r>
              <a:rPr lang="en-US" sz="1400" b="1" dirty="0">
                <a:solidFill>
                  <a:srgbClr val="00A040"/>
                </a:solidFill>
                <a:latin typeface="Yu Gothic" pitchFamily="34" charset="0"/>
                <a:ea typeface="Yu Gothic" pitchFamily="34" charset="-122"/>
                <a:cs typeface="Yu Gothic" pitchFamily="34" charset="-120"/>
              </a:rPr>
              <a:t>スタッフA</a:t>
            </a:r>
            <a:endParaRPr lang="en-US" sz="1400" dirty="0"/>
          </a:p>
        </p:txBody>
      </p:sp>
      <p:sp>
        <p:nvSpPr>
          <p:cNvPr id="8" name="Shape 6"/>
          <p:cNvSpPr/>
          <p:nvPr/>
        </p:nvSpPr>
        <p:spPr>
          <a:xfrm>
            <a:off x="1965960" y="1837944"/>
            <a:ext cx="0" cy="219456"/>
          </a:xfrm>
          <a:prstGeom prst="line">
            <a:avLst/>
          </a:prstGeom>
          <a:noFill/>
          <a:ln w="12700">
            <a:solidFill>
              <a:srgbClr val="CCCCCC"/>
            </a:solidFill>
            <a:prstDash val="solid"/>
          </a:ln>
        </p:spPr>
      </p:sp>
      <p:sp>
        <p:nvSpPr>
          <p:cNvPr id="9" name="Text 7"/>
          <p:cNvSpPr/>
          <p:nvPr/>
        </p:nvSpPr>
        <p:spPr>
          <a:xfrm>
            <a:off x="2057400" y="1645920"/>
            <a:ext cx="2377440" cy="384048"/>
          </a:xfrm>
          <a:prstGeom prst="rect">
            <a:avLst/>
          </a:prstGeom>
          <a:noFill/>
          <a:ln/>
        </p:spPr>
        <p:txBody>
          <a:bodyPr wrap="square" lIns="0" tIns="0" rIns="0" bIns="0" rtlCol="0" anchor="ctr"/>
          <a:lstStyle/>
          <a:p>
            <a:pPr indent="0" marL="0">
              <a:buNone/>
            </a:pPr>
            <a:r>
              <a:rPr lang="en-US" sz="1300" dirty="0">
                <a:solidFill>
                  <a:srgbClr val="444444"/>
                </a:solidFill>
                <a:latin typeface="Yu Gothic" pitchFamily="34" charset="0"/>
                <a:ea typeface="Yu Gothic" pitchFamily="34" charset="-122"/>
                <a:cs typeface="Yu Gothic" pitchFamily="34" charset="-120"/>
              </a:rPr>
              <a:t>カウンター担当</a:t>
            </a:r>
            <a:endParaRPr lang="en-US" sz="1300" dirty="0"/>
          </a:p>
        </p:txBody>
      </p:sp>
      <p:sp>
        <p:nvSpPr>
          <p:cNvPr id="10" name="Shape 8"/>
          <p:cNvSpPr/>
          <p:nvPr/>
        </p:nvSpPr>
        <p:spPr>
          <a:xfrm>
            <a:off x="457200" y="2157984"/>
            <a:ext cx="4114800" cy="475488"/>
          </a:xfrm>
          <a:prstGeom prst="rect">
            <a:avLst/>
          </a:prstGeom>
          <a:solidFill>
            <a:srgbClr val="E8F5ED"/>
          </a:solidFill>
          <a:ln w="12700">
            <a:solidFill>
              <a:srgbClr val="C5E8D1"/>
            </a:solidFill>
            <a:prstDash val="solid"/>
          </a:ln>
        </p:spPr>
      </p:sp>
      <p:sp>
        <p:nvSpPr>
          <p:cNvPr id="11" name="Text 9"/>
          <p:cNvSpPr/>
          <p:nvPr/>
        </p:nvSpPr>
        <p:spPr>
          <a:xfrm>
            <a:off x="594360" y="2203704"/>
            <a:ext cx="1417320" cy="384048"/>
          </a:xfrm>
          <a:prstGeom prst="rect">
            <a:avLst/>
          </a:prstGeom>
          <a:noFill/>
          <a:ln/>
        </p:spPr>
        <p:txBody>
          <a:bodyPr wrap="square" lIns="0" tIns="0" rIns="0" bIns="0" rtlCol="0" anchor="ctr"/>
          <a:lstStyle/>
          <a:p>
            <a:pPr indent="0" marL="0">
              <a:buNone/>
            </a:pPr>
            <a:r>
              <a:rPr lang="en-US" sz="1400" b="1" dirty="0">
                <a:solidFill>
                  <a:srgbClr val="00A040"/>
                </a:solidFill>
                <a:latin typeface="Yu Gothic" pitchFamily="34" charset="0"/>
                <a:ea typeface="Yu Gothic" pitchFamily="34" charset="-122"/>
                <a:cs typeface="Yu Gothic" pitchFamily="34" charset="-120"/>
              </a:rPr>
              <a:t>スタッフB</a:t>
            </a:r>
            <a:endParaRPr lang="en-US" sz="1400" dirty="0"/>
          </a:p>
        </p:txBody>
      </p:sp>
      <p:sp>
        <p:nvSpPr>
          <p:cNvPr id="12" name="Shape 10"/>
          <p:cNvSpPr/>
          <p:nvPr/>
        </p:nvSpPr>
        <p:spPr>
          <a:xfrm>
            <a:off x="1965960" y="2395728"/>
            <a:ext cx="0" cy="219456"/>
          </a:xfrm>
          <a:prstGeom prst="line">
            <a:avLst/>
          </a:prstGeom>
          <a:noFill/>
          <a:ln w="12700">
            <a:solidFill>
              <a:srgbClr val="CCCCCC"/>
            </a:solidFill>
            <a:prstDash val="solid"/>
          </a:ln>
        </p:spPr>
      </p:sp>
      <p:sp>
        <p:nvSpPr>
          <p:cNvPr id="13" name="Text 11"/>
          <p:cNvSpPr/>
          <p:nvPr/>
        </p:nvSpPr>
        <p:spPr>
          <a:xfrm>
            <a:off x="2057400" y="2203704"/>
            <a:ext cx="2377440" cy="384048"/>
          </a:xfrm>
          <a:prstGeom prst="rect">
            <a:avLst/>
          </a:prstGeom>
          <a:noFill/>
          <a:ln/>
        </p:spPr>
        <p:txBody>
          <a:bodyPr wrap="square" lIns="0" tIns="0" rIns="0" bIns="0" rtlCol="0" anchor="ctr"/>
          <a:lstStyle/>
          <a:p>
            <a:pPr indent="0" marL="0">
              <a:buNone/>
            </a:pPr>
            <a:r>
              <a:rPr lang="en-US" sz="1300" dirty="0">
                <a:solidFill>
                  <a:srgbClr val="444444"/>
                </a:solidFill>
                <a:latin typeface="Yu Gothic" pitchFamily="34" charset="0"/>
                <a:ea typeface="Yu Gothic" pitchFamily="34" charset="-122"/>
                <a:cs typeface="Yu Gothic" pitchFamily="34" charset="-120"/>
              </a:rPr>
              <a:t>引き継ぎ・車両案内担当</a:t>
            </a:r>
            <a:endParaRPr lang="en-US" sz="1300" dirty="0"/>
          </a:p>
        </p:txBody>
      </p:sp>
      <p:sp>
        <p:nvSpPr>
          <p:cNvPr id="14" name="Shape 12"/>
          <p:cNvSpPr/>
          <p:nvPr/>
        </p:nvSpPr>
        <p:spPr>
          <a:xfrm>
            <a:off x="457200" y="2715768"/>
            <a:ext cx="4114800" cy="475488"/>
          </a:xfrm>
          <a:prstGeom prst="rect">
            <a:avLst/>
          </a:prstGeom>
          <a:solidFill>
            <a:srgbClr val="FFFFFF"/>
          </a:solidFill>
          <a:ln w="12700">
            <a:solidFill>
              <a:srgbClr val="C8D4DE"/>
            </a:solidFill>
            <a:prstDash val="solid"/>
          </a:ln>
        </p:spPr>
      </p:sp>
      <p:sp>
        <p:nvSpPr>
          <p:cNvPr id="15" name="Text 13"/>
          <p:cNvSpPr/>
          <p:nvPr/>
        </p:nvSpPr>
        <p:spPr>
          <a:xfrm>
            <a:off x="594360" y="2761488"/>
            <a:ext cx="1417320" cy="384048"/>
          </a:xfrm>
          <a:prstGeom prst="rect">
            <a:avLst/>
          </a:prstGeom>
          <a:noFill/>
          <a:ln/>
        </p:spPr>
        <p:txBody>
          <a:bodyPr wrap="square" lIns="0" tIns="0" rIns="0" bIns="0" rtlCol="0" anchor="ctr"/>
          <a:lstStyle/>
          <a:p>
            <a:pPr indent="0" marL="0">
              <a:buNone/>
            </a:pPr>
            <a:r>
              <a:rPr lang="en-US" sz="1400" b="1" dirty="0">
                <a:solidFill>
                  <a:srgbClr val="222222"/>
                </a:solidFill>
                <a:latin typeface="Yu Gothic" pitchFamily="34" charset="0"/>
                <a:ea typeface="Yu Gothic" pitchFamily="34" charset="-122"/>
                <a:cs typeface="Yu Gothic" pitchFamily="34" charset="-120"/>
              </a:rPr>
              <a:t>お客様1</a:t>
            </a:r>
            <a:endParaRPr lang="en-US" sz="1400" dirty="0"/>
          </a:p>
        </p:txBody>
      </p:sp>
      <p:sp>
        <p:nvSpPr>
          <p:cNvPr id="16" name="Shape 14"/>
          <p:cNvSpPr/>
          <p:nvPr/>
        </p:nvSpPr>
        <p:spPr>
          <a:xfrm>
            <a:off x="1965960" y="2953512"/>
            <a:ext cx="0" cy="219456"/>
          </a:xfrm>
          <a:prstGeom prst="line">
            <a:avLst/>
          </a:prstGeom>
          <a:noFill/>
          <a:ln w="12700">
            <a:solidFill>
              <a:srgbClr val="CCCCCC"/>
            </a:solidFill>
            <a:prstDash val="solid"/>
          </a:ln>
        </p:spPr>
      </p:sp>
      <p:sp>
        <p:nvSpPr>
          <p:cNvPr id="17" name="Text 15"/>
          <p:cNvSpPr/>
          <p:nvPr/>
        </p:nvSpPr>
        <p:spPr>
          <a:xfrm>
            <a:off x="2057400" y="2761488"/>
            <a:ext cx="2377440" cy="384048"/>
          </a:xfrm>
          <a:prstGeom prst="rect">
            <a:avLst/>
          </a:prstGeom>
          <a:noFill/>
          <a:ln/>
        </p:spPr>
        <p:txBody>
          <a:bodyPr wrap="square" lIns="0" tIns="0" rIns="0" bIns="0" rtlCol="0" anchor="ctr"/>
          <a:lstStyle/>
          <a:p>
            <a:pPr indent="0" marL="0">
              <a:buNone/>
            </a:pPr>
            <a:r>
              <a:rPr lang="en-US" sz="1300" dirty="0">
                <a:solidFill>
                  <a:srgbClr val="444444"/>
                </a:solidFill>
                <a:latin typeface="Yu Gothic" pitchFamily="34" charset="0"/>
                <a:ea typeface="Yu Gothic" pitchFamily="34" charset="-122"/>
                <a:cs typeface="Yu Gothic" pitchFamily="34" charset="-120"/>
              </a:rPr>
              <a:t>レジャー利用（県外）</a:t>
            </a:r>
            <a:endParaRPr lang="en-US" sz="1300" dirty="0"/>
          </a:p>
        </p:txBody>
      </p:sp>
      <p:sp>
        <p:nvSpPr>
          <p:cNvPr id="18" name="Shape 16"/>
          <p:cNvSpPr/>
          <p:nvPr/>
        </p:nvSpPr>
        <p:spPr>
          <a:xfrm>
            <a:off x="457200" y="3273552"/>
            <a:ext cx="4114800" cy="475488"/>
          </a:xfrm>
          <a:prstGeom prst="rect">
            <a:avLst/>
          </a:prstGeom>
          <a:solidFill>
            <a:srgbClr val="FFFFFF"/>
          </a:solidFill>
          <a:ln w="12700">
            <a:solidFill>
              <a:srgbClr val="C8D4DE"/>
            </a:solidFill>
            <a:prstDash val="solid"/>
          </a:ln>
        </p:spPr>
      </p:sp>
      <p:sp>
        <p:nvSpPr>
          <p:cNvPr id="19" name="Text 17"/>
          <p:cNvSpPr/>
          <p:nvPr/>
        </p:nvSpPr>
        <p:spPr>
          <a:xfrm>
            <a:off x="594360" y="3319272"/>
            <a:ext cx="1417320" cy="384048"/>
          </a:xfrm>
          <a:prstGeom prst="rect">
            <a:avLst/>
          </a:prstGeom>
          <a:noFill/>
          <a:ln/>
        </p:spPr>
        <p:txBody>
          <a:bodyPr wrap="square" lIns="0" tIns="0" rIns="0" bIns="0" rtlCol="0" anchor="ctr"/>
          <a:lstStyle/>
          <a:p>
            <a:pPr indent="0" marL="0">
              <a:buNone/>
            </a:pPr>
            <a:r>
              <a:rPr lang="en-US" sz="1400" b="1" dirty="0">
                <a:solidFill>
                  <a:srgbClr val="222222"/>
                </a:solidFill>
                <a:latin typeface="Yu Gothic" pitchFamily="34" charset="0"/>
                <a:ea typeface="Yu Gothic" pitchFamily="34" charset="-122"/>
                <a:cs typeface="Yu Gothic" pitchFamily="34" charset="-120"/>
              </a:rPr>
              <a:t>お客様2</a:t>
            </a:r>
            <a:endParaRPr lang="en-US" sz="1400" dirty="0"/>
          </a:p>
        </p:txBody>
      </p:sp>
      <p:sp>
        <p:nvSpPr>
          <p:cNvPr id="20" name="Shape 18"/>
          <p:cNvSpPr/>
          <p:nvPr/>
        </p:nvSpPr>
        <p:spPr>
          <a:xfrm>
            <a:off x="1965960" y="3511296"/>
            <a:ext cx="0" cy="219456"/>
          </a:xfrm>
          <a:prstGeom prst="line">
            <a:avLst/>
          </a:prstGeom>
          <a:noFill/>
          <a:ln w="12700">
            <a:solidFill>
              <a:srgbClr val="CCCCCC"/>
            </a:solidFill>
            <a:prstDash val="solid"/>
          </a:ln>
        </p:spPr>
      </p:sp>
      <p:sp>
        <p:nvSpPr>
          <p:cNvPr id="21" name="Text 19"/>
          <p:cNvSpPr/>
          <p:nvPr/>
        </p:nvSpPr>
        <p:spPr>
          <a:xfrm>
            <a:off x="2057400" y="3319272"/>
            <a:ext cx="2377440" cy="384048"/>
          </a:xfrm>
          <a:prstGeom prst="rect">
            <a:avLst/>
          </a:prstGeom>
          <a:noFill/>
          <a:ln/>
        </p:spPr>
        <p:txBody>
          <a:bodyPr wrap="square" lIns="0" tIns="0" rIns="0" bIns="0" rtlCol="0" anchor="ctr"/>
          <a:lstStyle/>
          <a:p>
            <a:pPr indent="0" marL="0">
              <a:buNone/>
            </a:pPr>
            <a:r>
              <a:rPr lang="en-US" sz="1300" dirty="0">
                <a:solidFill>
                  <a:srgbClr val="444444"/>
                </a:solidFill>
                <a:latin typeface="Yu Gothic" pitchFamily="34" charset="0"/>
                <a:ea typeface="Yu Gothic" pitchFamily="34" charset="-122"/>
                <a:cs typeface="Yu Gothic" pitchFamily="34" charset="-120"/>
              </a:rPr>
              <a:t>ビジネス利用（県外）</a:t>
            </a:r>
            <a:endParaRPr lang="en-US" sz="1300" dirty="0"/>
          </a:p>
        </p:txBody>
      </p:sp>
      <p:sp>
        <p:nvSpPr>
          <p:cNvPr id="22" name="Shape 20"/>
          <p:cNvSpPr/>
          <p:nvPr/>
        </p:nvSpPr>
        <p:spPr>
          <a:xfrm>
            <a:off x="4754880" y="1188720"/>
            <a:ext cx="4023360" cy="3566160"/>
          </a:xfrm>
          <a:prstGeom prst="rect">
            <a:avLst/>
          </a:prstGeom>
          <a:solidFill>
            <a:srgbClr val="FFFFFF"/>
          </a:solidFill>
          <a:ln w="19050">
            <a:solidFill>
              <a:srgbClr val="C8D4DE"/>
            </a:solidFill>
            <a:prstDash val="solid"/>
          </a:ln>
        </p:spPr>
      </p:sp>
      <p:sp>
        <p:nvSpPr>
          <p:cNvPr id="23" name="Shape 21"/>
          <p:cNvSpPr/>
          <p:nvPr/>
        </p:nvSpPr>
        <p:spPr>
          <a:xfrm>
            <a:off x="4754880" y="1188720"/>
            <a:ext cx="4023360" cy="109728"/>
          </a:xfrm>
          <a:prstGeom prst="rect">
            <a:avLst/>
          </a:prstGeom>
          <a:solidFill>
            <a:srgbClr val="00A040"/>
          </a:solidFill>
          <a:ln w="12700">
            <a:solidFill>
              <a:srgbClr val="00A040"/>
            </a:solidFill>
            <a:prstDash val="solid"/>
          </a:ln>
        </p:spPr>
      </p:sp>
      <p:sp>
        <p:nvSpPr>
          <p:cNvPr id="24" name="Text 22"/>
          <p:cNvSpPr/>
          <p:nvPr/>
        </p:nvSpPr>
        <p:spPr>
          <a:xfrm>
            <a:off x="4846320" y="1353312"/>
            <a:ext cx="3840480" cy="365760"/>
          </a:xfrm>
          <a:prstGeom prst="rect">
            <a:avLst/>
          </a:prstGeom>
          <a:noFill/>
          <a:ln/>
        </p:spPr>
        <p:txBody>
          <a:bodyPr wrap="square" rtlCol="0" anchor="ctr"/>
          <a:lstStyle/>
          <a:p>
            <a:pPr indent="0" marL="0">
              <a:buNone/>
            </a:pPr>
            <a:r>
              <a:rPr lang="en-US" sz="1500" b="1" dirty="0">
                <a:solidFill>
                  <a:srgbClr val="00A040"/>
                </a:solidFill>
                <a:latin typeface="Yu Gothic" pitchFamily="34" charset="0"/>
                <a:ea typeface="Yu Gothic" pitchFamily="34" charset="-122"/>
                <a:cs typeface="Yu Gothic" pitchFamily="34" charset="-120"/>
              </a:rPr>
              <a:t>見るポイント</a:t>
            </a:r>
            <a:endParaRPr lang="en-US" sz="1500" dirty="0"/>
          </a:p>
        </p:txBody>
      </p:sp>
      <p:sp>
        <p:nvSpPr>
          <p:cNvPr id="25" name="Shape 23"/>
          <p:cNvSpPr/>
          <p:nvPr/>
        </p:nvSpPr>
        <p:spPr>
          <a:xfrm>
            <a:off x="4846320" y="1874520"/>
            <a:ext cx="3840480" cy="804672"/>
          </a:xfrm>
          <a:prstGeom prst="rect">
            <a:avLst/>
          </a:prstGeom>
          <a:solidFill>
            <a:srgbClr val="FAFAFA"/>
          </a:solidFill>
          <a:ln w="12700">
            <a:solidFill>
              <a:srgbClr val="C5E8D1"/>
            </a:solidFill>
            <a:prstDash val="solid"/>
          </a:ln>
        </p:spPr>
      </p:sp>
      <p:sp>
        <p:nvSpPr>
          <p:cNvPr id="26" name="Shape 24"/>
          <p:cNvSpPr/>
          <p:nvPr/>
        </p:nvSpPr>
        <p:spPr>
          <a:xfrm>
            <a:off x="4846320" y="1874520"/>
            <a:ext cx="73152" cy="804672"/>
          </a:xfrm>
          <a:prstGeom prst="rect">
            <a:avLst/>
          </a:prstGeom>
          <a:solidFill>
            <a:srgbClr val="00A040"/>
          </a:solidFill>
          <a:ln w="12700">
            <a:solidFill>
              <a:srgbClr val="00A040"/>
            </a:solidFill>
            <a:prstDash val="solid"/>
          </a:ln>
        </p:spPr>
      </p:sp>
      <p:sp>
        <p:nvSpPr>
          <p:cNvPr id="27" name="Text 25"/>
          <p:cNvSpPr/>
          <p:nvPr/>
        </p:nvSpPr>
        <p:spPr>
          <a:xfrm>
            <a:off x="4983480" y="1901952"/>
            <a:ext cx="3657600" cy="365760"/>
          </a:xfrm>
          <a:prstGeom prst="rect">
            <a:avLst/>
          </a:prstGeom>
          <a:noFill/>
          <a:ln/>
        </p:spPr>
        <p:txBody>
          <a:bodyPr wrap="square" lIns="0" tIns="0" rIns="0" bIns="0" rtlCol="0" anchor="ctr"/>
          <a:lstStyle/>
          <a:p>
            <a:pPr indent="0" marL="0">
              <a:buNone/>
            </a:pPr>
            <a:r>
              <a:rPr lang="en-US" sz="1500" b="1" dirty="0">
                <a:solidFill>
                  <a:srgbClr val="222222"/>
                </a:solidFill>
                <a:latin typeface="Yu Gothic" pitchFamily="34" charset="0"/>
                <a:ea typeface="Yu Gothic" pitchFamily="34" charset="-122"/>
                <a:cs typeface="Yu Gothic" pitchFamily="34" charset="-120"/>
              </a:rPr>
              <a:t>① カウンター処理</a:t>
            </a:r>
            <a:endParaRPr lang="en-US" sz="1500" dirty="0"/>
          </a:p>
        </p:txBody>
      </p:sp>
      <p:sp>
        <p:nvSpPr>
          <p:cNvPr id="28" name="Text 26"/>
          <p:cNvSpPr/>
          <p:nvPr/>
        </p:nvSpPr>
        <p:spPr>
          <a:xfrm>
            <a:off x="4983480" y="2286000"/>
            <a:ext cx="3657600" cy="320040"/>
          </a:xfrm>
          <a:prstGeom prst="rect">
            <a:avLst/>
          </a:prstGeom>
          <a:noFill/>
          <a:ln/>
        </p:spPr>
        <p:txBody>
          <a:bodyPr wrap="square" lIns="0" tIns="0" rIns="0" bIns="0" rtlCol="0" anchor="ctr"/>
          <a:lstStyle/>
          <a:p>
            <a:pPr indent="0" marL="0">
              <a:buNone/>
            </a:pPr>
            <a:r>
              <a:rPr lang="en-US" sz="1300" dirty="0">
                <a:solidFill>
                  <a:srgbClr val="555555"/>
                </a:solidFill>
                <a:latin typeface="Yu Gothic" pitchFamily="34" charset="0"/>
                <a:ea typeface="Yu Gothic" pitchFamily="34" charset="-122"/>
                <a:cs typeface="Yu Gothic" pitchFamily="34" charset="-120"/>
              </a:rPr>
              <a:t>端末手続きに集中</a:t>
            </a:r>
            <a:endParaRPr lang="en-US" sz="1300" dirty="0"/>
          </a:p>
        </p:txBody>
      </p:sp>
      <p:sp>
        <p:nvSpPr>
          <p:cNvPr id="29" name="Shape 27"/>
          <p:cNvSpPr/>
          <p:nvPr/>
        </p:nvSpPr>
        <p:spPr>
          <a:xfrm>
            <a:off x="4846320" y="2834640"/>
            <a:ext cx="3840480" cy="804672"/>
          </a:xfrm>
          <a:prstGeom prst="rect">
            <a:avLst/>
          </a:prstGeom>
          <a:solidFill>
            <a:srgbClr val="FAFAFA"/>
          </a:solidFill>
          <a:ln w="12700">
            <a:solidFill>
              <a:srgbClr val="C5E8D1"/>
            </a:solidFill>
            <a:prstDash val="solid"/>
          </a:ln>
        </p:spPr>
      </p:sp>
      <p:sp>
        <p:nvSpPr>
          <p:cNvPr id="30" name="Shape 28"/>
          <p:cNvSpPr/>
          <p:nvPr/>
        </p:nvSpPr>
        <p:spPr>
          <a:xfrm>
            <a:off x="4846320" y="2834640"/>
            <a:ext cx="73152" cy="804672"/>
          </a:xfrm>
          <a:prstGeom prst="rect">
            <a:avLst/>
          </a:prstGeom>
          <a:solidFill>
            <a:srgbClr val="00A040"/>
          </a:solidFill>
          <a:ln w="12700">
            <a:solidFill>
              <a:srgbClr val="00A040"/>
            </a:solidFill>
            <a:prstDash val="solid"/>
          </a:ln>
        </p:spPr>
      </p:sp>
      <p:sp>
        <p:nvSpPr>
          <p:cNvPr id="31" name="Text 29"/>
          <p:cNvSpPr/>
          <p:nvPr/>
        </p:nvSpPr>
        <p:spPr>
          <a:xfrm>
            <a:off x="4983480" y="2862072"/>
            <a:ext cx="3657600" cy="365760"/>
          </a:xfrm>
          <a:prstGeom prst="rect">
            <a:avLst/>
          </a:prstGeom>
          <a:noFill/>
          <a:ln/>
        </p:spPr>
        <p:txBody>
          <a:bodyPr wrap="square" lIns="0" tIns="0" rIns="0" bIns="0" rtlCol="0" anchor="ctr"/>
          <a:lstStyle/>
          <a:p>
            <a:pPr indent="0" marL="0">
              <a:buNone/>
            </a:pPr>
            <a:r>
              <a:rPr lang="en-US" sz="1500" b="1" dirty="0">
                <a:solidFill>
                  <a:srgbClr val="222222"/>
                </a:solidFill>
                <a:latin typeface="Yu Gothic" pitchFamily="34" charset="0"/>
                <a:ea typeface="Yu Gothic" pitchFamily="34" charset="-122"/>
                <a:cs typeface="Yu Gothic" pitchFamily="34" charset="-120"/>
              </a:rPr>
              <a:t>② 引き継ぎ</a:t>
            </a:r>
            <a:endParaRPr lang="en-US" sz="1500" dirty="0"/>
          </a:p>
        </p:txBody>
      </p:sp>
      <p:sp>
        <p:nvSpPr>
          <p:cNvPr id="32" name="Text 30"/>
          <p:cNvSpPr/>
          <p:nvPr/>
        </p:nvSpPr>
        <p:spPr>
          <a:xfrm>
            <a:off x="4983480" y="3246120"/>
            <a:ext cx="3657600" cy="320040"/>
          </a:xfrm>
          <a:prstGeom prst="rect">
            <a:avLst/>
          </a:prstGeom>
          <a:noFill/>
          <a:ln/>
        </p:spPr>
        <p:txBody>
          <a:bodyPr wrap="square" lIns="0" tIns="0" rIns="0" bIns="0" rtlCol="0" anchor="ctr"/>
          <a:lstStyle/>
          <a:p>
            <a:pPr indent="0" marL="0">
              <a:buNone/>
            </a:pPr>
            <a:r>
              <a:rPr lang="en-US" sz="1300" dirty="0">
                <a:solidFill>
                  <a:srgbClr val="555555"/>
                </a:solidFill>
                <a:latin typeface="Yu Gothic" pitchFamily="34" charset="0"/>
                <a:ea typeface="Yu Gothic" pitchFamily="34" charset="-122"/>
                <a:cs typeface="Yu Gothic" pitchFamily="34" charset="-120"/>
              </a:rPr>
              <a:t>お客様の前で自然に</a:t>
            </a:r>
            <a:endParaRPr lang="en-US" sz="1300" dirty="0"/>
          </a:p>
        </p:txBody>
      </p:sp>
      <p:sp>
        <p:nvSpPr>
          <p:cNvPr id="33" name="Shape 31"/>
          <p:cNvSpPr/>
          <p:nvPr/>
        </p:nvSpPr>
        <p:spPr>
          <a:xfrm>
            <a:off x="4846320" y="3794760"/>
            <a:ext cx="3840480" cy="804672"/>
          </a:xfrm>
          <a:prstGeom prst="rect">
            <a:avLst/>
          </a:prstGeom>
          <a:solidFill>
            <a:srgbClr val="FAFAFA"/>
          </a:solidFill>
          <a:ln w="12700">
            <a:solidFill>
              <a:srgbClr val="C5E8D1"/>
            </a:solidFill>
            <a:prstDash val="solid"/>
          </a:ln>
        </p:spPr>
      </p:sp>
      <p:sp>
        <p:nvSpPr>
          <p:cNvPr id="34" name="Shape 32"/>
          <p:cNvSpPr/>
          <p:nvPr/>
        </p:nvSpPr>
        <p:spPr>
          <a:xfrm>
            <a:off x="4846320" y="3794760"/>
            <a:ext cx="73152" cy="804672"/>
          </a:xfrm>
          <a:prstGeom prst="rect">
            <a:avLst/>
          </a:prstGeom>
          <a:solidFill>
            <a:srgbClr val="00A040"/>
          </a:solidFill>
          <a:ln w="12700">
            <a:solidFill>
              <a:srgbClr val="00A040"/>
            </a:solidFill>
            <a:prstDash val="solid"/>
          </a:ln>
        </p:spPr>
      </p:sp>
      <p:sp>
        <p:nvSpPr>
          <p:cNvPr id="35" name="Text 33"/>
          <p:cNvSpPr/>
          <p:nvPr/>
        </p:nvSpPr>
        <p:spPr>
          <a:xfrm>
            <a:off x="4983480" y="3822192"/>
            <a:ext cx="3657600" cy="365760"/>
          </a:xfrm>
          <a:prstGeom prst="rect">
            <a:avLst/>
          </a:prstGeom>
          <a:noFill/>
          <a:ln/>
        </p:spPr>
        <p:txBody>
          <a:bodyPr wrap="square" lIns="0" tIns="0" rIns="0" bIns="0" rtlCol="0" anchor="ctr"/>
          <a:lstStyle/>
          <a:p>
            <a:pPr indent="0" marL="0">
              <a:buNone/>
            </a:pPr>
            <a:r>
              <a:rPr lang="en-US" sz="1500" b="1" dirty="0">
                <a:solidFill>
                  <a:srgbClr val="222222"/>
                </a:solidFill>
                <a:latin typeface="Yu Gothic" pitchFamily="34" charset="0"/>
                <a:ea typeface="Yu Gothic" pitchFamily="34" charset="-122"/>
                <a:cs typeface="Yu Gothic" pitchFamily="34" charset="-120"/>
              </a:rPr>
              <a:t>③ 声掛け</a:t>
            </a:r>
            <a:endParaRPr lang="en-US" sz="1500" dirty="0"/>
          </a:p>
        </p:txBody>
      </p:sp>
      <p:sp>
        <p:nvSpPr>
          <p:cNvPr id="36" name="Text 34"/>
          <p:cNvSpPr/>
          <p:nvPr/>
        </p:nvSpPr>
        <p:spPr>
          <a:xfrm>
            <a:off x="4983480" y="4206240"/>
            <a:ext cx="3657600" cy="320040"/>
          </a:xfrm>
          <a:prstGeom prst="rect">
            <a:avLst/>
          </a:prstGeom>
          <a:noFill/>
          <a:ln/>
        </p:spPr>
        <p:txBody>
          <a:bodyPr wrap="square" lIns="0" tIns="0" rIns="0" bIns="0" rtlCol="0" anchor="ctr"/>
          <a:lstStyle/>
          <a:p>
            <a:pPr indent="0" marL="0">
              <a:buNone/>
            </a:pPr>
            <a:r>
              <a:rPr lang="en-US" sz="1300" dirty="0">
                <a:solidFill>
                  <a:srgbClr val="555555"/>
                </a:solidFill>
                <a:latin typeface="Yu Gothic" pitchFamily="34" charset="0"/>
                <a:ea typeface="Yu Gothic" pitchFamily="34" charset="-122"/>
                <a:cs typeface="Yu Gothic" pitchFamily="34" charset="-120"/>
              </a:rPr>
              <a:t>待機中のお客様に早い段階で</a:t>
            </a:r>
            <a:endParaRPr lang="en-US" sz="1300" dirty="0"/>
          </a:p>
        </p:txBody>
      </p:sp>
      <p:sp>
        <p:nvSpPr>
          <p:cNvPr id="37" name="Text 35"/>
          <p:cNvSpPr/>
          <p:nvPr/>
        </p:nvSpPr>
        <p:spPr>
          <a:xfrm>
            <a:off x="8778240" y="4846320"/>
            <a:ext cx="320040" cy="228600"/>
          </a:xfrm>
          <a:prstGeom prst="rect">
            <a:avLst/>
          </a:prstGeom>
          <a:noFill/>
          <a:ln/>
        </p:spPr>
        <p:txBody>
          <a:bodyPr wrap="square" rtlCol="0" anchor="ctr"/>
          <a:lstStyle/>
          <a:p>
            <a:pPr algn="r" indent="0" marL="0">
              <a:buNone/>
            </a:pPr>
            <a:r>
              <a:rPr lang="en-US" sz="1000" dirty="0">
                <a:solidFill>
                  <a:srgbClr val="999999"/>
                </a:solidFill>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EF2F5"/>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D6DFE8"/>
          </a:solidFill>
          <a:ln w="12700">
            <a:solidFill>
              <a:srgbClr val="D6DFE8"/>
            </a:solidFill>
            <a:prstDash val="solid"/>
          </a:ln>
        </p:spPr>
      </p:sp>
      <p:sp>
        <p:nvSpPr>
          <p:cNvPr id="3" name="Shape 1"/>
          <p:cNvSpPr/>
          <p:nvPr/>
        </p:nvSpPr>
        <p:spPr>
          <a:xfrm>
            <a:off x="0" y="0"/>
            <a:ext cx="457200" cy="1005840"/>
          </a:xfrm>
          <a:prstGeom prst="rect">
            <a:avLst/>
          </a:prstGeom>
          <a:solidFill>
            <a:srgbClr val="00A040"/>
          </a:solidFill>
          <a:ln w="12700">
            <a:solidFill>
              <a:srgbClr val="00A040"/>
            </a:solidFill>
            <a:prstDash val="solid"/>
          </a:ln>
        </p:spPr>
      </p:sp>
      <p:sp>
        <p:nvSpPr>
          <p:cNvPr id="4" name="Text 2"/>
          <p:cNvSpPr/>
          <p:nvPr/>
        </p:nvSpPr>
        <p:spPr>
          <a:xfrm>
            <a:off x="594360" y="91440"/>
            <a:ext cx="8321040" cy="822960"/>
          </a:xfrm>
          <a:prstGeom prst="rect">
            <a:avLst/>
          </a:prstGeom>
          <a:noFill/>
          <a:ln/>
        </p:spPr>
        <p:txBody>
          <a:bodyPr wrap="square" lIns="0" tIns="0" rIns="0" bIns="0" rtlCol="0" anchor="ctr"/>
          <a:lstStyle/>
          <a:p>
            <a:pPr indent="0" marL="0">
              <a:buNone/>
            </a:pPr>
            <a:r>
              <a:rPr lang="en-US" sz="2400" b="1" dirty="0">
                <a:solidFill>
                  <a:srgbClr val="222222"/>
                </a:solidFill>
                <a:latin typeface="Yu Gothic" pitchFamily="34" charset="0"/>
                <a:ea typeface="Yu Gothic" pitchFamily="34" charset="-122"/>
                <a:cs typeface="Yu Gothic" pitchFamily="34" charset="-120"/>
              </a:rPr>
              <a:t>実演②　振り返り ― 3つの改善ポイント</a:t>
            </a:r>
            <a:endParaRPr lang="en-US" sz="2400" dirty="0"/>
          </a:p>
        </p:txBody>
      </p:sp>
      <p:sp>
        <p:nvSpPr>
          <p:cNvPr id="5" name="Shape 3"/>
          <p:cNvSpPr/>
          <p:nvPr/>
        </p:nvSpPr>
        <p:spPr>
          <a:xfrm>
            <a:off x="457200" y="1234440"/>
            <a:ext cx="8229600" cy="777240"/>
          </a:xfrm>
          <a:prstGeom prst="rect">
            <a:avLst/>
          </a:prstGeom>
          <a:solidFill>
            <a:srgbClr val="F0FAF4"/>
          </a:solidFill>
          <a:ln w="12700">
            <a:solidFill>
              <a:srgbClr val="C5E8D1"/>
            </a:solidFill>
            <a:prstDash val="solid"/>
          </a:ln>
        </p:spPr>
      </p:sp>
      <p:sp>
        <p:nvSpPr>
          <p:cNvPr id="6" name="Text 4"/>
          <p:cNvSpPr/>
          <p:nvPr/>
        </p:nvSpPr>
        <p:spPr>
          <a:xfrm>
            <a:off x="548640" y="1280160"/>
            <a:ext cx="8046720" cy="685800"/>
          </a:xfrm>
          <a:prstGeom prst="rect">
            <a:avLst/>
          </a:prstGeom>
          <a:noFill/>
          <a:ln/>
        </p:spPr>
        <p:txBody>
          <a:bodyPr wrap="square" rtlCol="0" anchor="ctr"/>
          <a:lstStyle/>
          <a:p>
            <a:pPr algn="ctr" indent="0" marL="0">
              <a:buNone/>
            </a:pPr>
            <a:r>
              <a:rPr lang="en-US" sz="1600" b="1" dirty="0">
                <a:solidFill>
                  <a:srgbClr val="00A040"/>
                </a:solidFill>
                <a:latin typeface="Yu Gothic" pitchFamily="34" charset="0"/>
                <a:ea typeface="Yu Gothic" pitchFamily="34" charset="-122"/>
                <a:cs typeface="Yu Gothic" pitchFamily="34" charset="-120"/>
              </a:rPr>
              <a:t>説明を省いたわけではない ── カウンターで行うことと車両前で行うことを分けた</a:t>
            </a:r>
            <a:endParaRPr lang="en-US" sz="1600" dirty="0"/>
          </a:p>
        </p:txBody>
      </p:sp>
      <p:sp>
        <p:nvSpPr>
          <p:cNvPr id="7" name="Shape 5"/>
          <p:cNvSpPr/>
          <p:nvPr/>
        </p:nvSpPr>
        <p:spPr>
          <a:xfrm>
            <a:off x="457200" y="2176272"/>
            <a:ext cx="8229600" cy="731520"/>
          </a:xfrm>
          <a:prstGeom prst="rect">
            <a:avLst/>
          </a:prstGeom>
          <a:solidFill>
            <a:srgbClr val="FAFAFA"/>
          </a:solidFill>
          <a:ln w="12700">
            <a:solidFill>
              <a:srgbClr val="C8D4DE"/>
            </a:solidFill>
            <a:prstDash val="solid"/>
          </a:ln>
        </p:spPr>
      </p:sp>
      <p:sp>
        <p:nvSpPr>
          <p:cNvPr id="8" name="Shape 6"/>
          <p:cNvSpPr/>
          <p:nvPr/>
        </p:nvSpPr>
        <p:spPr>
          <a:xfrm>
            <a:off x="457200" y="2176272"/>
            <a:ext cx="457200" cy="731520"/>
          </a:xfrm>
          <a:prstGeom prst="rect">
            <a:avLst/>
          </a:prstGeom>
          <a:solidFill>
            <a:srgbClr val="00A040"/>
          </a:solidFill>
          <a:ln w="12700">
            <a:solidFill>
              <a:srgbClr val="00A040"/>
            </a:solidFill>
            <a:prstDash val="solid"/>
          </a:ln>
        </p:spPr>
      </p:sp>
      <p:sp>
        <p:nvSpPr>
          <p:cNvPr id="9" name="Text 7"/>
          <p:cNvSpPr/>
          <p:nvPr/>
        </p:nvSpPr>
        <p:spPr>
          <a:xfrm>
            <a:off x="457200" y="2313432"/>
            <a:ext cx="45720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①</a:t>
            </a:r>
            <a:endParaRPr lang="en-US" sz="1600" dirty="0"/>
          </a:p>
        </p:txBody>
      </p:sp>
      <p:pic>
        <p:nvPicPr>
          <p:cNvPr id="10" name="Image 0" descr="preencoded.png">    </p:cNvPr>
          <p:cNvPicPr>
            <a:picLocks noChangeAspect="1"/>
          </p:cNvPicPr>
          <p:nvPr/>
        </p:nvPicPr>
        <p:blipFill>
          <a:blip r:embed="rId1"/>
          <a:stretch>
            <a:fillRect/>
          </a:stretch>
        </p:blipFill>
        <p:spPr>
          <a:xfrm>
            <a:off x="1005840" y="2331720"/>
            <a:ext cx="365760" cy="365760"/>
          </a:xfrm>
          <a:prstGeom prst="rect">
            <a:avLst/>
          </a:prstGeom>
        </p:spPr>
      </p:pic>
      <p:sp>
        <p:nvSpPr>
          <p:cNvPr id="11" name="Text 8"/>
          <p:cNvSpPr/>
          <p:nvPr/>
        </p:nvSpPr>
        <p:spPr>
          <a:xfrm>
            <a:off x="1463040" y="2249424"/>
            <a:ext cx="2743200" cy="365760"/>
          </a:xfrm>
          <a:prstGeom prst="rect">
            <a:avLst/>
          </a:prstGeom>
          <a:noFill/>
          <a:ln/>
        </p:spPr>
        <p:txBody>
          <a:bodyPr wrap="square" lIns="0" tIns="0" rIns="0" bIns="0" rtlCol="0" anchor="ctr"/>
          <a:lstStyle/>
          <a:p>
            <a:pPr indent="0" marL="0">
              <a:buNone/>
            </a:pPr>
            <a:r>
              <a:rPr lang="en-US" sz="1500" b="1" dirty="0">
                <a:solidFill>
                  <a:srgbClr val="222222"/>
                </a:solidFill>
                <a:latin typeface="Yu Gothic" pitchFamily="34" charset="0"/>
                <a:ea typeface="Yu Gothic" pitchFamily="34" charset="-122"/>
                <a:cs typeface="Yu Gothic" pitchFamily="34" charset="-120"/>
              </a:rPr>
              <a:t>カウンター処理に集中</a:t>
            </a:r>
            <a:endParaRPr lang="en-US" sz="1500" dirty="0"/>
          </a:p>
        </p:txBody>
      </p:sp>
      <p:sp>
        <p:nvSpPr>
          <p:cNvPr id="12" name="Shape 9"/>
          <p:cNvSpPr/>
          <p:nvPr/>
        </p:nvSpPr>
        <p:spPr>
          <a:xfrm>
            <a:off x="1463040" y="2633472"/>
            <a:ext cx="1920240" cy="201168"/>
          </a:xfrm>
          <a:prstGeom prst="rect">
            <a:avLst/>
          </a:prstGeom>
          <a:solidFill>
            <a:srgbClr val="FFF3E0"/>
          </a:solidFill>
          <a:ln w="12700">
            <a:solidFill>
              <a:srgbClr val="FFD9A0"/>
            </a:solidFill>
            <a:prstDash val="solid"/>
          </a:ln>
        </p:spPr>
      </p:sp>
      <p:sp>
        <p:nvSpPr>
          <p:cNvPr id="13" name="Text 10"/>
          <p:cNvSpPr/>
          <p:nvPr/>
        </p:nvSpPr>
        <p:spPr>
          <a:xfrm>
            <a:off x="1481328" y="2633472"/>
            <a:ext cx="1901952" cy="201168"/>
          </a:xfrm>
          <a:prstGeom prst="rect">
            <a:avLst/>
          </a:prstGeom>
          <a:noFill/>
          <a:ln/>
        </p:spPr>
        <p:txBody>
          <a:bodyPr wrap="square" lIns="0" tIns="0" rIns="0" bIns="0" rtlCol="0" anchor="ctr"/>
          <a:lstStyle/>
          <a:p>
            <a:pPr indent="0" marL="0">
              <a:buNone/>
            </a:pPr>
            <a:r>
              <a:rPr lang="en-US" sz="900" dirty="0">
                <a:solidFill>
                  <a:srgbClr val="CC6600"/>
                </a:solidFill>
                <a:latin typeface="Yu Gothic" pitchFamily="34" charset="0"/>
                <a:ea typeface="Yu Gothic" pitchFamily="34" charset="-122"/>
                <a:cs typeface="Yu Gothic" pitchFamily="34" charset="-120"/>
              </a:rPr>
              <a:t>従来：端末手続き＋説明案内が混在</a:t>
            </a:r>
            <a:endParaRPr lang="en-US" sz="900" dirty="0"/>
          </a:p>
        </p:txBody>
      </p:sp>
      <p:pic>
        <p:nvPicPr>
          <p:cNvPr id="14" name="Image 1" descr="preencoded.png">    </p:cNvPr>
          <p:cNvPicPr>
            <a:picLocks noChangeAspect="1"/>
          </p:cNvPicPr>
          <p:nvPr/>
        </p:nvPicPr>
        <p:blipFill>
          <a:blip r:embed="rId2"/>
          <a:stretch>
            <a:fillRect/>
          </a:stretch>
        </p:blipFill>
        <p:spPr>
          <a:xfrm>
            <a:off x="3429000" y="2651760"/>
            <a:ext cx="201168" cy="201168"/>
          </a:xfrm>
          <a:prstGeom prst="rect">
            <a:avLst/>
          </a:prstGeom>
        </p:spPr>
      </p:pic>
      <p:sp>
        <p:nvSpPr>
          <p:cNvPr id="15" name="Shape 11"/>
          <p:cNvSpPr/>
          <p:nvPr/>
        </p:nvSpPr>
        <p:spPr>
          <a:xfrm>
            <a:off x="3685032" y="2633472"/>
            <a:ext cx="4800600" cy="201168"/>
          </a:xfrm>
          <a:prstGeom prst="rect">
            <a:avLst/>
          </a:prstGeom>
          <a:solidFill>
            <a:srgbClr val="E8F5ED"/>
          </a:solidFill>
          <a:ln w="12700">
            <a:solidFill>
              <a:srgbClr val="C5E8D1"/>
            </a:solidFill>
            <a:prstDash val="solid"/>
          </a:ln>
        </p:spPr>
      </p:sp>
      <p:sp>
        <p:nvSpPr>
          <p:cNvPr id="16" name="Text 12"/>
          <p:cNvSpPr/>
          <p:nvPr/>
        </p:nvSpPr>
        <p:spPr>
          <a:xfrm>
            <a:off x="3703320" y="2633472"/>
            <a:ext cx="4754880" cy="201168"/>
          </a:xfrm>
          <a:prstGeom prst="rect">
            <a:avLst/>
          </a:prstGeom>
          <a:noFill/>
          <a:ln/>
        </p:spPr>
        <p:txBody>
          <a:bodyPr wrap="square" lIns="0" tIns="0" rIns="0" bIns="0" rtlCol="0" anchor="ctr"/>
          <a:lstStyle/>
          <a:p>
            <a:pPr indent="0" marL="0">
              <a:buNone/>
            </a:pPr>
            <a:r>
              <a:rPr lang="en-US" sz="900" b="1" dirty="0">
                <a:solidFill>
                  <a:srgbClr val="1B7A3E"/>
                </a:solidFill>
                <a:latin typeface="Yu Gothic" pitchFamily="34" charset="0"/>
                <a:ea typeface="Yu Gothic" pitchFamily="34" charset="-122"/>
                <a:cs typeface="Yu Gothic" pitchFamily="34" charset="-120"/>
              </a:rPr>
              <a:t>改善後：端末手続きに絞り、次組への着手が早まる</a:t>
            </a:r>
            <a:endParaRPr lang="en-US" sz="900" dirty="0"/>
          </a:p>
        </p:txBody>
      </p:sp>
      <p:sp>
        <p:nvSpPr>
          <p:cNvPr id="17" name="Shape 13"/>
          <p:cNvSpPr/>
          <p:nvPr/>
        </p:nvSpPr>
        <p:spPr>
          <a:xfrm>
            <a:off x="457200" y="3017520"/>
            <a:ext cx="8229600" cy="731520"/>
          </a:xfrm>
          <a:prstGeom prst="rect">
            <a:avLst/>
          </a:prstGeom>
          <a:solidFill>
            <a:srgbClr val="FFFFFF"/>
          </a:solidFill>
          <a:ln w="12700">
            <a:solidFill>
              <a:srgbClr val="C8D4DE"/>
            </a:solidFill>
            <a:prstDash val="solid"/>
          </a:ln>
        </p:spPr>
      </p:sp>
      <p:sp>
        <p:nvSpPr>
          <p:cNvPr id="18" name="Shape 14"/>
          <p:cNvSpPr/>
          <p:nvPr/>
        </p:nvSpPr>
        <p:spPr>
          <a:xfrm>
            <a:off x="457200" y="3017520"/>
            <a:ext cx="457200" cy="731520"/>
          </a:xfrm>
          <a:prstGeom prst="rect">
            <a:avLst/>
          </a:prstGeom>
          <a:solidFill>
            <a:srgbClr val="00A040"/>
          </a:solidFill>
          <a:ln w="12700">
            <a:solidFill>
              <a:srgbClr val="00A040"/>
            </a:solidFill>
            <a:prstDash val="solid"/>
          </a:ln>
        </p:spPr>
      </p:sp>
      <p:sp>
        <p:nvSpPr>
          <p:cNvPr id="19" name="Text 15"/>
          <p:cNvSpPr/>
          <p:nvPr/>
        </p:nvSpPr>
        <p:spPr>
          <a:xfrm>
            <a:off x="457200" y="3154680"/>
            <a:ext cx="45720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②</a:t>
            </a:r>
            <a:endParaRPr lang="en-US" sz="1600" dirty="0"/>
          </a:p>
        </p:txBody>
      </p:sp>
      <p:pic>
        <p:nvPicPr>
          <p:cNvPr id="20" name="Image 2" descr="preencoded.png">    </p:cNvPr>
          <p:cNvPicPr>
            <a:picLocks noChangeAspect="1"/>
          </p:cNvPicPr>
          <p:nvPr/>
        </p:nvPicPr>
        <p:blipFill>
          <a:blip r:embed="rId3"/>
          <a:stretch>
            <a:fillRect/>
          </a:stretch>
        </p:blipFill>
        <p:spPr>
          <a:xfrm>
            <a:off x="1005840" y="3172968"/>
            <a:ext cx="365760" cy="365760"/>
          </a:xfrm>
          <a:prstGeom prst="rect">
            <a:avLst/>
          </a:prstGeom>
        </p:spPr>
      </p:pic>
      <p:sp>
        <p:nvSpPr>
          <p:cNvPr id="21" name="Text 16"/>
          <p:cNvSpPr/>
          <p:nvPr/>
        </p:nvSpPr>
        <p:spPr>
          <a:xfrm>
            <a:off x="1463040" y="3090672"/>
            <a:ext cx="2743200" cy="365760"/>
          </a:xfrm>
          <a:prstGeom prst="rect">
            <a:avLst/>
          </a:prstGeom>
          <a:noFill/>
          <a:ln/>
        </p:spPr>
        <p:txBody>
          <a:bodyPr wrap="square" lIns="0" tIns="0" rIns="0" bIns="0" rtlCol="0" anchor="ctr"/>
          <a:lstStyle/>
          <a:p>
            <a:pPr indent="0" marL="0">
              <a:buNone/>
            </a:pPr>
            <a:r>
              <a:rPr lang="en-US" sz="1500" b="1" dirty="0">
                <a:solidFill>
                  <a:srgbClr val="222222"/>
                </a:solidFill>
                <a:latin typeface="Yu Gothic" pitchFamily="34" charset="0"/>
                <a:ea typeface="Yu Gothic" pitchFamily="34" charset="-122"/>
                <a:cs typeface="Yu Gothic" pitchFamily="34" charset="-120"/>
              </a:rPr>
              <a:t>待機中のお客様へ早めに声掛け</a:t>
            </a:r>
            <a:endParaRPr lang="en-US" sz="1500" dirty="0"/>
          </a:p>
        </p:txBody>
      </p:sp>
      <p:sp>
        <p:nvSpPr>
          <p:cNvPr id="22" name="Shape 17"/>
          <p:cNvSpPr/>
          <p:nvPr/>
        </p:nvSpPr>
        <p:spPr>
          <a:xfrm>
            <a:off x="1463040" y="3474720"/>
            <a:ext cx="1920240" cy="201168"/>
          </a:xfrm>
          <a:prstGeom prst="rect">
            <a:avLst/>
          </a:prstGeom>
          <a:solidFill>
            <a:srgbClr val="FFF3E0"/>
          </a:solidFill>
          <a:ln w="12700">
            <a:solidFill>
              <a:srgbClr val="FFD9A0"/>
            </a:solidFill>
            <a:prstDash val="solid"/>
          </a:ln>
        </p:spPr>
      </p:sp>
      <p:sp>
        <p:nvSpPr>
          <p:cNvPr id="23" name="Text 18"/>
          <p:cNvSpPr/>
          <p:nvPr/>
        </p:nvSpPr>
        <p:spPr>
          <a:xfrm>
            <a:off x="1481328" y="3474720"/>
            <a:ext cx="1901952" cy="201168"/>
          </a:xfrm>
          <a:prstGeom prst="rect">
            <a:avLst/>
          </a:prstGeom>
          <a:noFill/>
          <a:ln/>
        </p:spPr>
        <p:txBody>
          <a:bodyPr wrap="square" lIns="0" tIns="0" rIns="0" bIns="0" rtlCol="0" anchor="ctr"/>
          <a:lstStyle/>
          <a:p>
            <a:pPr indent="0" marL="0">
              <a:buNone/>
            </a:pPr>
            <a:r>
              <a:rPr lang="en-US" sz="900" dirty="0">
                <a:solidFill>
                  <a:srgbClr val="CC6600"/>
                </a:solidFill>
                <a:latin typeface="Yu Gothic" pitchFamily="34" charset="0"/>
                <a:ea typeface="Yu Gothic" pitchFamily="34" charset="-122"/>
                <a:cs typeface="Yu Gothic" pitchFamily="34" charset="-120"/>
              </a:rPr>
              <a:t>従来：放置されている印象</a:t>
            </a:r>
            <a:endParaRPr lang="en-US" sz="900" dirty="0"/>
          </a:p>
        </p:txBody>
      </p:sp>
      <p:pic>
        <p:nvPicPr>
          <p:cNvPr id="24" name="Image 3" descr="preencoded.png">    </p:cNvPr>
          <p:cNvPicPr>
            <a:picLocks noChangeAspect="1"/>
          </p:cNvPicPr>
          <p:nvPr/>
        </p:nvPicPr>
        <p:blipFill>
          <a:blip r:embed="rId4"/>
          <a:stretch>
            <a:fillRect/>
          </a:stretch>
        </p:blipFill>
        <p:spPr>
          <a:xfrm>
            <a:off x="3429000" y="3493008"/>
            <a:ext cx="201168" cy="201168"/>
          </a:xfrm>
          <a:prstGeom prst="rect">
            <a:avLst/>
          </a:prstGeom>
        </p:spPr>
      </p:pic>
      <p:sp>
        <p:nvSpPr>
          <p:cNvPr id="25" name="Shape 19"/>
          <p:cNvSpPr/>
          <p:nvPr/>
        </p:nvSpPr>
        <p:spPr>
          <a:xfrm>
            <a:off x="3685032" y="3474720"/>
            <a:ext cx="4800600" cy="201168"/>
          </a:xfrm>
          <a:prstGeom prst="rect">
            <a:avLst/>
          </a:prstGeom>
          <a:solidFill>
            <a:srgbClr val="E8F5ED"/>
          </a:solidFill>
          <a:ln w="12700">
            <a:solidFill>
              <a:srgbClr val="C5E8D1"/>
            </a:solidFill>
            <a:prstDash val="solid"/>
          </a:ln>
        </p:spPr>
      </p:sp>
      <p:sp>
        <p:nvSpPr>
          <p:cNvPr id="26" name="Text 20"/>
          <p:cNvSpPr/>
          <p:nvPr/>
        </p:nvSpPr>
        <p:spPr>
          <a:xfrm>
            <a:off x="3703320" y="3474720"/>
            <a:ext cx="4754880" cy="201168"/>
          </a:xfrm>
          <a:prstGeom prst="rect">
            <a:avLst/>
          </a:prstGeom>
          <a:noFill/>
          <a:ln/>
        </p:spPr>
        <p:txBody>
          <a:bodyPr wrap="square" lIns="0" tIns="0" rIns="0" bIns="0" rtlCol="0" anchor="ctr"/>
          <a:lstStyle/>
          <a:p>
            <a:pPr indent="0" marL="0">
              <a:buNone/>
            </a:pPr>
            <a:r>
              <a:rPr lang="en-US" sz="900" b="1" dirty="0">
                <a:solidFill>
                  <a:srgbClr val="1B7A3E"/>
                </a:solidFill>
                <a:latin typeface="Yu Gothic" pitchFamily="34" charset="0"/>
                <a:ea typeface="Yu Gothic" pitchFamily="34" charset="-122"/>
                <a:cs typeface="Yu Gothic" pitchFamily="34" charset="-120"/>
              </a:rPr>
              <a:t>改善後：「見えている」ことを伝え、不安を取り除く</a:t>
            </a:r>
            <a:endParaRPr lang="en-US" sz="900" dirty="0"/>
          </a:p>
        </p:txBody>
      </p:sp>
      <p:sp>
        <p:nvSpPr>
          <p:cNvPr id="27" name="Shape 21"/>
          <p:cNvSpPr/>
          <p:nvPr/>
        </p:nvSpPr>
        <p:spPr>
          <a:xfrm>
            <a:off x="457200" y="3858768"/>
            <a:ext cx="8229600" cy="731520"/>
          </a:xfrm>
          <a:prstGeom prst="rect">
            <a:avLst/>
          </a:prstGeom>
          <a:solidFill>
            <a:srgbClr val="FAFAFA"/>
          </a:solidFill>
          <a:ln w="12700">
            <a:solidFill>
              <a:srgbClr val="C8D4DE"/>
            </a:solidFill>
            <a:prstDash val="solid"/>
          </a:ln>
        </p:spPr>
      </p:sp>
      <p:sp>
        <p:nvSpPr>
          <p:cNvPr id="28" name="Shape 22"/>
          <p:cNvSpPr/>
          <p:nvPr/>
        </p:nvSpPr>
        <p:spPr>
          <a:xfrm>
            <a:off x="457200" y="3858768"/>
            <a:ext cx="457200" cy="731520"/>
          </a:xfrm>
          <a:prstGeom prst="rect">
            <a:avLst/>
          </a:prstGeom>
          <a:solidFill>
            <a:srgbClr val="00A040"/>
          </a:solidFill>
          <a:ln w="12700">
            <a:solidFill>
              <a:srgbClr val="00A040"/>
            </a:solidFill>
            <a:prstDash val="solid"/>
          </a:ln>
        </p:spPr>
      </p:sp>
      <p:sp>
        <p:nvSpPr>
          <p:cNvPr id="29" name="Text 23"/>
          <p:cNvSpPr/>
          <p:nvPr/>
        </p:nvSpPr>
        <p:spPr>
          <a:xfrm>
            <a:off x="457200" y="3995928"/>
            <a:ext cx="45720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③</a:t>
            </a:r>
            <a:endParaRPr lang="en-US" sz="1600" dirty="0"/>
          </a:p>
        </p:txBody>
      </p:sp>
      <p:pic>
        <p:nvPicPr>
          <p:cNvPr id="30" name="Image 4" descr="preencoded.png">    </p:cNvPr>
          <p:cNvPicPr>
            <a:picLocks noChangeAspect="1"/>
          </p:cNvPicPr>
          <p:nvPr/>
        </p:nvPicPr>
        <p:blipFill>
          <a:blip r:embed="rId5"/>
          <a:stretch>
            <a:fillRect/>
          </a:stretch>
        </p:blipFill>
        <p:spPr>
          <a:xfrm>
            <a:off x="1005840" y="4014216"/>
            <a:ext cx="365760" cy="365760"/>
          </a:xfrm>
          <a:prstGeom prst="rect">
            <a:avLst/>
          </a:prstGeom>
        </p:spPr>
      </p:pic>
      <p:sp>
        <p:nvSpPr>
          <p:cNvPr id="31" name="Text 24"/>
          <p:cNvSpPr/>
          <p:nvPr/>
        </p:nvSpPr>
        <p:spPr>
          <a:xfrm>
            <a:off x="1463040" y="3931920"/>
            <a:ext cx="2743200" cy="365760"/>
          </a:xfrm>
          <a:prstGeom prst="rect">
            <a:avLst/>
          </a:prstGeom>
          <a:noFill/>
          <a:ln/>
        </p:spPr>
        <p:txBody>
          <a:bodyPr wrap="square" lIns="0" tIns="0" rIns="0" bIns="0" rtlCol="0" anchor="ctr"/>
          <a:lstStyle/>
          <a:p>
            <a:pPr indent="0" marL="0">
              <a:buNone/>
            </a:pPr>
            <a:r>
              <a:rPr lang="en-US" sz="1500" b="1" dirty="0">
                <a:solidFill>
                  <a:srgbClr val="222222"/>
                </a:solidFill>
                <a:latin typeface="Yu Gothic" pitchFamily="34" charset="0"/>
                <a:ea typeface="Yu Gothic" pitchFamily="34" charset="-122"/>
                <a:cs typeface="Yu Gothic" pitchFamily="34" charset="-120"/>
              </a:rPr>
              <a:t>お客様の前で引き継ぐ</a:t>
            </a:r>
            <a:endParaRPr lang="en-US" sz="1500" dirty="0"/>
          </a:p>
        </p:txBody>
      </p:sp>
      <p:sp>
        <p:nvSpPr>
          <p:cNvPr id="32" name="Shape 25"/>
          <p:cNvSpPr/>
          <p:nvPr/>
        </p:nvSpPr>
        <p:spPr>
          <a:xfrm>
            <a:off x="1463040" y="4315968"/>
            <a:ext cx="1920240" cy="201168"/>
          </a:xfrm>
          <a:prstGeom prst="rect">
            <a:avLst/>
          </a:prstGeom>
          <a:solidFill>
            <a:srgbClr val="FFF3E0"/>
          </a:solidFill>
          <a:ln w="12700">
            <a:solidFill>
              <a:srgbClr val="FFD9A0"/>
            </a:solidFill>
            <a:prstDash val="solid"/>
          </a:ln>
        </p:spPr>
      </p:sp>
      <p:sp>
        <p:nvSpPr>
          <p:cNvPr id="33" name="Text 26"/>
          <p:cNvSpPr/>
          <p:nvPr/>
        </p:nvSpPr>
        <p:spPr>
          <a:xfrm>
            <a:off x="1481328" y="4315968"/>
            <a:ext cx="1901952" cy="201168"/>
          </a:xfrm>
          <a:prstGeom prst="rect">
            <a:avLst/>
          </a:prstGeom>
          <a:noFill/>
          <a:ln/>
        </p:spPr>
        <p:txBody>
          <a:bodyPr wrap="square" lIns="0" tIns="0" rIns="0" bIns="0" rtlCol="0" anchor="ctr"/>
          <a:lstStyle/>
          <a:p>
            <a:pPr indent="0" marL="0">
              <a:buNone/>
            </a:pPr>
            <a:r>
              <a:rPr lang="en-US" sz="900" dirty="0">
                <a:solidFill>
                  <a:srgbClr val="CC6600"/>
                </a:solidFill>
                <a:latin typeface="Yu Gothic" pitchFamily="34" charset="0"/>
                <a:ea typeface="Yu Gothic" pitchFamily="34" charset="-122"/>
                <a:cs typeface="Yu Gothic" pitchFamily="34" charset="-120"/>
              </a:rPr>
              <a:t>従来：担当が変わることへの不安</a:t>
            </a:r>
            <a:endParaRPr lang="en-US" sz="900" dirty="0"/>
          </a:p>
        </p:txBody>
      </p:sp>
      <p:pic>
        <p:nvPicPr>
          <p:cNvPr id="34" name="Image 5" descr="preencoded.png">    </p:cNvPr>
          <p:cNvPicPr>
            <a:picLocks noChangeAspect="1"/>
          </p:cNvPicPr>
          <p:nvPr/>
        </p:nvPicPr>
        <p:blipFill>
          <a:blip r:embed="rId6"/>
          <a:stretch>
            <a:fillRect/>
          </a:stretch>
        </p:blipFill>
        <p:spPr>
          <a:xfrm>
            <a:off x="3429000" y="4334256"/>
            <a:ext cx="201168" cy="201168"/>
          </a:xfrm>
          <a:prstGeom prst="rect">
            <a:avLst/>
          </a:prstGeom>
        </p:spPr>
      </p:pic>
      <p:sp>
        <p:nvSpPr>
          <p:cNvPr id="35" name="Shape 27"/>
          <p:cNvSpPr/>
          <p:nvPr/>
        </p:nvSpPr>
        <p:spPr>
          <a:xfrm>
            <a:off x="3685032" y="4315968"/>
            <a:ext cx="4800600" cy="201168"/>
          </a:xfrm>
          <a:prstGeom prst="rect">
            <a:avLst/>
          </a:prstGeom>
          <a:solidFill>
            <a:srgbClr val="E8F5ED"/>
          </a:solidFill>
          <a:ln w="12700">
            <a:solidFill>
              <a:srgbClr val="C5E8D1"/>
            </a:solidFill>
            <a:prstDash val="solid"/>
          </a:ln>
        </p:spPr>
      </p:sp>
      <p:sp>
        <p:nvSpPr>
          <p:cNvPr id="36" name="Text 28"/>
          <p:cNvSpPr/>
          <p:nvPr/>
        </p:nvSpPr>
        <p:spPr>
          <a:xfrm>
            <a:off x="3703320" y="4315968"/>
            <a:ext cx="4754880" cy="201168"/>
          </a:xfrm>
          <a:prstGeom prst="rect">
            <a:avLst/>
          </a:prstGeom>
          <a:noFill/>
          <a:ln/>
        </p:spPr>
        <p:txBody>
          <a:bodyPr wrap="square" lIns="0" tIns="0" rIns="0" bIns="0" rtlCol="0" anchor="ctr"/>
          <a:lstStyle/>
          <a:p>
            <a:pPr indent="0" marL="0">
              <a:buNone/>
            </a:pPr>
            <a:r>
              <a:rPr lang="en-US" sz="900" b="1" dirty="0">
                <a:solidFill>
                  <a:srgbClr val="1B7A3E"/>
                </a:solidFill>
                <a:latin typeface="Yu Gothic" pitchFamily="34" charset="0"/>
                <a:ea typeface="Yu Gothic" pitchFamily="34" charset="-122"/>
                <a:cs typeface="Yu Gothic" pitchFamily="34" charset="-120"/>
              </a:rPr>
              <a:t>改善後：三者で共有することで安心感が生まれる</a:t>
            </a:r>
            <a:endParaRPr lang="en-US" sz="900" dirty="0"/>
          </a:p>
        </p:txBody>
      </p:sp>
      <p:sp>
        <p:nvSpPr>
          <p:cNvPr id="37" name="Text 29"/>
          <p:cNvSpPr/>
          <p:nvPr/>
        </p:nvSpPr>
        <p:spPr>
          <a:xfrm>
            <a:off x="8778240" y="4846320"/>
            <a:ext cx="320040" cy="228600"/>
          </a:xfrm>
          <a:prstGeom prst="rect">
            <a:avLst/>
          </a:prstGeom>
          <a:noFill/>
          <a:ln/>
        </p:spPr>
        <p:txBody>
          <a:bodyPr wrap="square" rtlCol="0" anchor="ctr"/>
          <a:lstStyle/>
          <a:p>
            <a:pPr algn="r" indent="0" marL="0">
              <a:buNone/>
            </a:pPr>
            <a:r>
              <a:rPr lang="en-US" sz="1000" dirty="0">
                <a:solidFill>
                  <a:srgbClr val="999999"/>
                </a:solidFill>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EF2F5"/>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D6DFE8"/>
          </a:solidFill>
          <a:ln w="12700">
            <a:solidFill>
              <a:srgbClr val="D6DFE8"/>
            </a:solidFill>
            <a:prstDash val="solid"/>
          </a:ln>
        </p:spPr>
      </p:sp>
      <p:sp>
        <p:nvSpPr>
          <p:cNvPr id="3" name="Shape 1"/>
          <p:cNvSpPr/>
          <p:nvPr/>
        </p:nvSpPr>
        <p:spPr>
          <a:xfrm>
            <a:off x="0" y="0"/>
            <a:ext cx="457200" cy="1005840"/>
          </a:xfrm>
          <a:prstGeom prst="rect">
            <a:avLst/>
          </a:prstGeom>
          <a:solidFill>
            <a:srgbClr val="00A040"/>
          </a:solidFill>
          <a:ln w="12700">
            <a:solidFill>
              <a:srgbClr val="00A040"/>
            </a:solidFill>
            <a:prstDash val="solid"/>
          </a:ln>
        </p:spPr>
      </p:sp>
      <p:sp>
        <p:nvSpPr>
          <p:cNvPr id="4" name="Text 2"/>
          <p:cNvSpPr/>
          <p:nvPr/>
        </p:nvSpPr>
        <p:spPr>
          <a:xfrm>
            <a:off x="594360" y="91440"/>
            <a:ext cx="8321040" cy="822960"/>
          </a:xfrm>
          <a:prstGeom prst="rect">
            <a:avLst/>
          </a:prstGeom>
          <a:noFill/>
          <a:ln/>
        </p:spPr>
        <p:txBody>
          <a:bodyPr wrap="square" lIns="0" tIns="0" rIns="0" bIns="0" rtlCol="0" anchor="ctr"/>
          <a:lstStyle/>
          <a:p>
            <a:pPr indent="0" marL="0">
              <a:buNone/>
            </a:pPr>
            <a:r>
              <a:rPr lang="en-US" sz="2400" b="1" dirty="0">
                <a:solidFill>
                  <a:srgbClr val="222222"/>
                </a:solidFill>
                <a:latin typeface="Yu Gothic" pitchFamily="34" charset="0"/>
                <a:ea typeface="Yu Gothic" pitchFamily="34" charset="-122"/>
                <a:cs typeface="Yu Gothic" pitchFamily="34" charset="-120"/>
              </a:rPr>
              <a:t>実演②　振り返り ― 具体的な工夫</a:t>
            </a:r>
            <a:endParaRPr lang="en-US" sz="2400" dirty="0"/>
          </a:p>
        </p:txBody>
      </p:sp>
      <p:sp>
        <p:nvSpPr>
          <p:cNvPr id="5" name="Shape 3"/>
          <p:cNvSpPr/>
          <p:nvPr/>
        </p:nvSpPr>
        <p:spPr>
          <a:xfrm>
            <a:off x="365760" y="1234440"/>
            <a:ext cx="5120640" cy="1645920"/>
          </a:xfrm>
          <a:prstGeom prst="rect">
            <a:avLst/>
          </a:prstGeom>
          <a:solidFill>
            <a:srgbClr val="FFFFFF"/>
          </a:solidFill>
          <a:ln w="19050">
            <a:solidFill>
              <a:srgbClr val="C8D4DE"/>
            </a:solidFill>
            <a:prstDash val="solid"/>
          </a:ln>
        </p:spPr>
      </p:sp>
      <p:sp>
        <p:nvSpPr>
          <p:cNvPr id="6" name="Shape 4"/>
          <p:cNvSpPr/>
          <p:nvPr/>
        </p:nvSpPr>
        <p:spPr>
          <a:xfrm>
            <a:off x="365760" y="1234440"/>
            <a:ext cx="502920" cy="1645920"/>
          </a:xfrm>
          <a:prstGeom prst="rect">
            <a:avLst/>
          </a:prstGeom>
          <a:solidFill>
            <a:srgbClr val="00A040"/>
          </a:solidFill>
          <a:ln w="12700">
            <a:solidFill>
              <a:srgbClr val="00A040"/>
            </a:solidFill>
            <a:prstDash val="solid"/>
          </a:ln>
        </p:spPr>
      </p:sp>
      <p:sp>
        <p:nvSpPr>
          <p:cNvPr id="7" name="Text 5"/>
          <p:cNvSpPr/>
          <p:nvPr/>
        </p:nvSpPr>
        <p:spPr>
          <a:xfrm>
            <a:off x="365760" y="17830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①</a:t>
            </a:r>
            <a:endParaRPr lang="en-US" sz="2000" dirty="0"/>
          </a:p>
        </p:txBody>
      </p:sp>
      <p:sp>
        <p:nvSpPr>
          <p:cNvPr id="8" name="Text 6"/>
          <p:cNvSpPr/>
          <p:nvPr/>
        </p:nvSpPr>
        <p:spPr>
          <a:xfrm>
            <a:off x="1005840" y="1399032"/>
            <a:ext cx="4297680" cy="502920"/>
          </a:xfrm>
          <a:prstGeom prst="rect">
            <a:avLst/>
          </a:prstGeom>
          <a:noFill/>
          <a:ln/>
        </p:spPr>
        <p:txBody>
          <a:bodyPr wrap="square" rtlCol="0" anchor="ctr"/>
          <a:lstStyle/>
          <a:p>
            <a:pPr indent="0" marL="0">
              <a:buNone/>
            </a:pPr>
            <a:r>
              <a:rPr lang="en-US" sz="2000" b="1" dirty="0">
                <a:solidFill>
                  <a:srgbClr val="222222"/>
                </a:solidFill>
                <a:latin typeface="Yu Gothic" pitchFamily="34" charset="0"/>
                <a:ea typeface="Yu Gothic" pitchFamily="34" charset="-122"/>
                <a:cs typeface="Yu Gothic" pitchFamily="34" charset="-120"/>
              </a:rPr>
              <a:t>先に流れを伝える</a:t>
            </a:r>
            <a:endParaRPr lang="en-US" sz="2000" dirty="0"/>
          </a:p>
        </p:txBody>
      </p:sp>
      <p:sp>
        <p:nvSpPr>
          <p:cNvPr id="9" name="Shape 7"/>
          <p:cNvSpPr/>
          <p:nvPr/>
        </p:nvSpPr>
        <p:spPr>
          <a:xfrm>
            <a:off x="1005840" y="1965960"/>
            <a:ext cx="4297680" cy="777240"/>
          </a:xfrm>
          <a:prstGeom prst="rect">
            <a:avLst/>
          </a:prstGeom>
          <a:solidFill>
            <a:srgbClr val="F0FAF4"/>
          </a:solidFill>
          <a:ln w="12700">
            <a:solidFill>
              <a:srgbClr val="C5E8D1"/>
            </a:solidFill>
            <a:prstDash val="solid"/>
          </a:ln>
        </p:spPr>
      </p:sp>
      <p:sp>
        <p:nvSpPr>
          <p:cNvPr id="10" name="Text 8"/>
          <p:cNvSpPr/>
          <p:nvPr/>
        </p:nvSpPr>
        <p:spPr>
          <a:xfrm>
            <a:off x="1097280" y="2011680"/>
            <a:ext cx="4114800" cy="685800"/>
          </a:xfrm>
          <a:prstGeom prst="rect">
            <a:avLst/>
          </a:prstGeom>
          <a:noFill/>
          <a:ln/>
        </p:spPr>
        <p:txBody>
          <a:bodyPr wrap="square" rtlCol="0" anchor="ctr"/>
          <a:lstStyle/>
          <a:p>
            <a:pPr indent="0" marL="0">
              <a:buNone/>
            </a:pPr>
            <a:r>
              <a:rPr lang="en-US" sz="1400" dirty="0">
                <a:solidFill>
                  <a:srgbClr val="444444"/>
                </a:solidFill>
                <a:latin typeface="Yu Gothic" pitchFamily="34" charset="0"/>
                <a:ea typeface="Yu Gothic" pitchFamily="34" charset="-122"/>
                <a:cs typeface="Yu Gothic" pitchFamily="34" charset="-120"/>
              </a:rPr>
              <a:t>「店内では契約確認」「車両前では出発案内」を冒頭で伝える</a:t>
            </a:r>
            <a:endParaRPr lang="en-US" sz="1400" dirty="0"/>
          </a:p>
        </p:txBody>
      </p:sp>
      <p:sp>
        <p:nvSpPr>
          <p:cNvPr id="11" name="Shape 9"/>
          <p:cNvSpPr/>
          <p:nvPr/>
        </p:nvSpPr>
        <p:spPr>
          <a:xfrm>
            <a:off x="5669280" y="1280160"/>
            <a:ext cx="3108960" cy="1554480"/>
          </a:xfrm>
          <a:prstGeom prst="rect">
            <a:avLst/>
          </a:prstGeom>
          <a:solidFill>
            <a:srgbClr val="E8F5ED"/>
          </a:solidFill>
          <a:ln w="12700">
            <a:solidFill>
              <a:srgbClr val="CCCCCC"/>
            </a:solidFill>
            <a:prstDash val="solid"/>
          </a:ln>
        </p:spPr>
      </p:sp>
      <p:sp>
        <p:nvSpPr>
          <p:cNvPr id="12" name="Text 10"/>
          <p:cNvSpPr/>
          <p:nvPr/>
        </p:nvSpPr>
        <p:spPr>
          <a:xfrm>
            <a:off x="5669280" y="1280160"/>
            <a:ext cx="3108960" cy="1554480"/>
          </a:xfrm>
          <a:prstGeom prst="rect">
            <a:avLst/>
          </a:prstGeom>
          <a:noFill/>
          <a:ln/>
        </p:spPr>
        <p:txBody>
          <a:bodyPr wrap="square" rtlCol="0" anchor="ctr"/>
          <a:lstStyle/>
          <a:p>
            <a:pPr algn="ctr" indent="0" marL="0">
              <a:buNone/>
            </a:pPr>
            <a:r>
              <a:rPr lang="en-US" sz="1100" dirty="0">
                <a:solidFill>
                  <a:srgbClr val="888888"/>
                </a:solidFill>
                <a:latin typeface="Yu Gothic" pitchFamily="34" charset="0"/>
                <a:ea typeface="Yu Gothic" pitchFamily="34" charset="-122"/>
                <a:cs typeface="Yu Gothic" pitchFamily="34" charset="-120"/>
              </a:rPr>
              <a:t>【画像挿入予定】</a:t>
            </a:r>
            <a:endParaRPr lang="en-US" sz="1100" dirty="0"/>
          </a:p>
          <a:p>
            <a:pPr algn="ctr" indent="0" marL="0">
              <a:buNone/>
            </a:pPr>
            <a:r>
              <a:rPr lang="en-US" sz="1100" dirty="0">
                <a:solidFill>
                  <a:srgbClr val="888888"/>
                </a:solidFill>
                <a:latin typeface="Yu Gothic" pitchFamily="34" charset="0"/>
                <a:ea typeface="Yu Gothic" pitchFamily="34" charset="-122"/>
                <a:cs typeface="Yu Gothic" pitchFamily="34" charset="-120"/>
              </a:rPr>
              <a:t>スタッフがお客様に流れを説明している場面</a:t>
            </a:r>
            <a:endParaRPr lang="en-US" sz="1100" dirty="0"/>
          </a:p>
        </p:txBody>
      </p:sp>
      <p:sp>
        <p:nvSpPr>
          <p:cNvPr id="13" name="Shape 11"/>
          <p:cNvSpPr/>
          <p:nvPr/>
        </p:nvSpPr>
        <p:spPr>
          <a:xfrm>
            <a:off x="365760" y="3154680"/>
            <a:ext cx="5120640" cy="1645920"/>
          </a:xfrm>
          <a:prstGeom prst="rect">
            <a:avLst/>
          </a:prstGeom>
          <a:solidFill>
            <a:srgbClr val="FFFFFF"/>
          </a:solidFill>
          <a:ln w="19050">
            <a:solidFill>
              <a:srgbClr val="C8D4DE"/>
            </a:solidFill>
            <a:prstDash val="solid"/>
          </a:ln>
        </p:spPr>
      </p:sp>
      <p:sp>
        <p:nvSpPr>
          <p:cNvPr id="14" name="Shape 12"/>
          <p:cNvSpPr/>
          <p:nvPr/>
        </p:nvSpPr>
        <p:spPr>
          <a:xfrm>
            <a:off x="365760" y="3154680"/>
            <a:ext cx="502920" cy="1645920"/>
          </a:xfrm>
          <a:prstGeom prst="rect">
            <a:avLst/>
          </a:prstGeom>
          <a:solidFill>
            <a:srgbClr val="00A040"/>
          </a:solidFill>
          <a:ln w="12700">
            <a:solidFill>
              <a:srgbClr val="00A040"/>
            </a:solidFill>
            <a:prstDash val="solid"/>
          </a:ln>
        </p:spPr>
      </p:sp>
      <p:sp>
        <p:nvSpPr>
          <p:cNvPr id="15" name="Text 13"/>
          <p:cNvSpPr/>
          <p:nvPr/>
        </p:nvSpPr>
        <p:spPr>
          <a:xfrm>
            <a:off x="365760" y="37033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②</a:t>
            </a:r>
            <a:endParaRPr lang="en-US" sz="2000" dirty="0"/>
          </a:p>
        </p:txBody>
      </p:sp>
      <p:sp>
        <p:nvSpPr>
          <p:cNvPr id="16" name="Text 14"/>
          <p:cNvSpPr/>
          <p:nvPr/>
        </p:nvSpPr>
        <p:spPr>
          <a:xfrm>
            <a:off x="1005840" y="3319272"/>
            <a:ext cx="4297680" cy="502920"/>
          </a:xfrm>
          <a:prstGeom prst="rect">
            <a:avLst/>
          </a:prstGeom>
          <a:noFill/>
          <a:ln/>
        </p:spPr>
        <p:txBody>
          <a:bodyPr wrap="square" rtlCol="0" anchor="ctr"/>
          <a:lstStyle/>
          <a:p>
            <a:pPr indent="0" marL="0">
              <a:buNone/>
            </a:pPr>
            <a:r>
              <a:rPr lang="en-US" sz="2000" b="1" dirty="0">
                <a:solidFill>
                  <a:srgbClr val="222222"/>
                </a:solidFill>
                <a:latin typeface="Yu Gothic" pitchFamily="34" charset="0"/>
                <a:ea typeface="Yu Gothic" pitchFamily="34" charset="-122"/>
                <a:cs typeface="Yu Gothic" pitchFamily="34" charset="-120"/>
              </a:rPr>
              <a:t>お客様の前で引き継ぐ</a:t>
            </a:r>
            <a:endParaRPr lang="en-US" sz="2000" dirty="0"/>
          </a:p>
        </p:txBody>
      </p:sp>
      <p:sp>
        <p:nvSpPr>
          <p:cNvPr id="17" name="Shape 15"/>
          <p:cNvSpPr/>
          <p:nvPr/>
        </p:nvSpPr>
        <p:spPr>
          <a:xfrm>
            <a:off x="1005840" y="3886200"/>
            <a:ext cx="4297680" cy="777240"/>
          </a:xfrm>
          <a:prstGeom prst="rect">
            <a:avLst/>
          </a:prstGeom>
          <a:solidFill>
            <a:srgbClr val="F0FAF4"/>
          </a:solidFill>
          <a:ln w="12700">
            <a:solidFill>
              <a:srgbClr val="C5E8D1"/>
            </a:solidFill>
            <a:prstDash val="solid"/>
          </a:ln>
        </p:spPr>
      </p:sp>
      <p:sp>
        <p:nvSpPr>
          <p:cNvPr id="18" name="Text 16"/>
          <p:cNvSpPr/>
          <p:nvPr/>
        </p:nvSpPr>
        <p:spPr>
          <a:xfrm>
            <a:off x="1097280" y="3931920"/>
            <a:ext cx="4114800" cy="685800"/>
          </a:xfrm>
          <a:prstGeom prst="rect">
            <a:avLst/>
          </a:prstGeom>
          <a:noFill/>
          <a:ln/>
        </p:spPr>
        <p:txBody>
          <a:bodyPr wrap="square" rtlCol="0" anchor="ctr"/>
          <a:lstStyle/>
          <a:p>
            <a:pPr indent="0" marL="0">
              <a:buNone/>
            </a:pPr>
            <a:r>
              <a:rPr lang="en-US" sz="1400" dirty="0">
                <a:solidFill>
                  <a:srgbClr val="444444"/>
                </a:solidFill>
                <a:latin typeface="Yu Gothic" pitchFamily="34" charset="0"/>
                <a:ea typeface="Yu Gothic" pitchFamily="34" charset="-122"/>
                <a:cs typeface="Yu Gothic" pitchFamily="34" charset="-120"/>
              </a:rPr>
              <a:t>お名前と対応状況、必要な案内内容を三者で共有する</a:t>
            </a:r>
            <a:endParaRPr lang="en-US" sz="1400" dirty="0"/>
          </a:p>
        </p:txBody>
      </p:sp>
      <p:sp>
        <p:nvSpPr>
          <p:cNvPr id="19" name="Shape 17"/>
          <p:cNvSpPr/>
          <p:nvPr/>
        </p:nvSpPr>
        <p:spPr>
          <a:xfrm>
            <a:off x="5669280" y="3200400"/>
            <a:ext cx="3108960" cy="1554480"/>
          </a:xfrm>
          <a:prstGeom prst="rect">
            <a:avLst/>
          </a:prstGeom>
          <a:solidFill>
            <a:srgbClr val="E8F5ED"/>
          </a:solidFill>
          <a:ln w="12700">
            <a:solidFill>
              <a:srgbClr val="CCCCCC"/>
            </a:solidFill>
            <a:prstDash val="solid"/>
          </a:ln>
        </p:spPr>
      </p:sp>
      <p:sp>
        <p:nvSpPr>
          <p:cNvPr id="20" name="Text 18"/>
          <p:cNvSpPr/>
          <p:nvPr/>
        </p:nvSpPr>
        <p:spPr>
          <a:xfrm>
            <a:off x="5669280" y="3200400"/>
            <a:ext cx="3108960" cy="1554480"/>
          </a:xfrm>
          <a:prstGeom prst="rect">
            <a:avLst/>
          </a:prstGeom>
          <a:noFill/>
          <a:ln/>
        </p:spPr>
        <p:txBody>
          <a:bodyPr wrap="square" rtlCol="0" anchor="ctr"/>
          <a:lstStyle/>
          <a:p>
            <a:pPr algn="ctr" indent="0" marL="0">
              <a:buNone/>
            </a:pPr>
            <a:r>
              <a:rPr lang="en-US" sz="1100" dirty="0">
                <a:solidFill>
                  <a:srgbClr val="888888"/>
                </a:solidFill>
                <a:latin typeface="Yu Gothic" pitchFamily="34" charset="0"/>
                <a:ea typeface="Yu Gothic" pitchFamily="34" charset="-122"/>
                <a:cs typeface="Yu Gothic" pitchFamily="34" charset="-120"/>
              </a:rPr>
              <a:t>【画像挿入予定】</a:t>
            </a:r>
            <a:endParaRPr lang="en-US" sz="1100" dirty="0"/>
          </a:p>
          <a:p>
            <a:pPr algn="ctr" indent="0" marL="0">
              <a:buNone/>
            </a:pPr>
            <a:r>
              <a:rPr lang="en-US" sz="1100" dirty="0">
                <a:solidFill>
                  <a:srgbClr val="888888"/>
                </a:solidFill>
                <a:latin typeface="Yu Gothic" pitchFamily="34" charset="0"/>
                <a:ea typeface="Yu Gothic" pitchFamily="34" charset="-122"/>
                <a:cs typeface="Yu Gothic" pitchFamily="34" charset="-120"/>
              </a:rPr>
              <a:t>引き継ぎ場面</a:t>
            </a:r>
            <a:endParaRPr lang="en-US" sz="1100" dirty="0"/>
          </a:p>
          <a:p>
            <a:pPr algn="ctr" indent="0" marL="0">
              <a:buNone/>
            </a:pPr>
            <a:r>
              <a:rPr lang="en-US" sz="1100" dirty="0">
                <a:solidFill>
                  <a:srgbClr val="888888"/>
                </a:solidFill>
                <a:latin typeface="Yu Gothic" pitchFamily="34" charset="0"/>
                <a:ea typeface="Yu Gothic" pitchFamily="34" charset="-122"/>
                <a:cs typeface="Yu Gothic" pitchFamily="34" charset="-120"/>
              </a:rPr>
              <a:t>（三者で共有している構図）</a:t>
            </a:r>
            <a:endParaRPr lang="en-US" sz="1100" dirty="0"/>
          </a:p>
        </p:txBody>
      </p:sp>
      <p:sp>
        <p:nvSpPr>
          <p:cNvPr id="21" name="Text 19"/>
          <p:cNvSpPr/>
          <p:nvPr/>
        </p:nvSpPr>
        <p:spPr>
          <a:xfrm>
            <a:off x="8778240" y="4846320"/>
            <a:ext cx="320040" cy="228600"/>
          </a:xfrm>
          <a:prstGeom prst="rect">
            <a:avLst/>
          </a:prstGeom>
          <a:noFill/>
          <a:ln/>
        </p:spPr>
        <p:txBody>
          <a:bodyPr wrap="square" rtlCol="0" anchor="ctr"/>
          <a:lstStyle/>
          <a:p>
            <a:pPr algn="r" indent="0" marL="0">
              <a:buNone/>
            </a:pPr>
            <a:r>
              <a:rPr lang="en-US" sz="1000" dirty="0">
                <a:solidFill>
                  <a:srgbClr val="999999"/>
                </a:solidFill>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00A040"/>
          </a:solidFill>
          <a:ln w="12700">
            <a:solidFill>
              <a:srgbClr val="00A040"/>
            </a:solidFill>
            <a:prstDash val="solid"/>
          </a:ln>
        </p:spPr>
      </p:sp>
      <p:sp>
        <p:nvSpPr>
          <p:cNvPr id="3" name="Shape 1"/>
          <p:cNvSpPr/>
          <p:nvPr/>
        </p:nvSpPr>
        <p:spPr>
          <a:xfrm>
            <a:off x="0" y="4846320"/>
            <a:ext cx="9144000" cy="297180"/>
          </a:xfrm>
          <a:prstGeom prst="rect">
            <a:avLst/>
          </a:prstGeom>
          <a:solidFill>
            <a:srgbClr val="00A040"/>
          </a:solidFill>
          <a:ln w="12700">
            <a:solidFill>
              <a:srgbClr val="00A040"/>
            </a:solidFill>
            <a:prstDash val="solid"/>
          </a:ln>
        </p:spPr>
      </p:sp>
      <p:sp>
        <p:nvSpPr>
          <p:cNvPr id="4" name="Shape 2"/>
          <p:cNvSpPr/>
          <p:nvPr/>
        </p:nvSpPr>
        <p:spPr>
          <a:xfrm>
            <a:off x="0" y="164592"/>
            <a:ext cx="457200" cy="4681728"/>
          </a:xfrm>
          <a:prstGeom prst="rect">
            <a:avLst/>
          </a:prstGeom>
          <a:solidFill>
            <a:srgbClr val="00A040"/>
          </a:solidFill>
          <a:ln w="12700">
            <a:solidFill>
              <a:srgbClr val="00A040"/>
            </a:solidFill>
            <a:prstDash val="solid"/>
          </a:ln>
        </p:spPr>
      </p:sp>
      <p:sp>
        <p:nvSpPr>
          <p:cNvPr id="5" name="Shape 3"/>
          <p:cNvSpPr/>
          <p:nvPr/>
        </p:nvSpPr>
        <p:spPr>
          <a:xfrm>
            <a:off x="5303520" y="457200"/>
            <a:ext cx="3566160" cy="4206240"/>
          </a:xfrm>
          <a:prstGeom prst="rect">
            <a:avLst/>
          </a:prstGeom>
          <a:solidFill>
            <a:srgbClr val="E8F5ED"/>
          </a:solidFill>
          <a:ln w="12700">
            <a:solidFill>
              <a:srgbClr val="CCCCCC"/>
            </a:solidFill>
            <a:prstDash val="solid"/>
          </a:ln>
        </p:spPr>
      </p:sp>
      <p:sp>
        <p:nvSpPr>
          <p:cNvPr id="6" name="Text 4"/>
          <p:cNvSpPr/>
          <p:nvPr/>
        </p:nvSpPr>
        <p:spPr>
          <a:xfrm>
            <a:off x="5303520" y="457200"/>
            <a:ext cx="3566160" cy="4206240"/>
          </a:xfrm>
          <a:prstGeom prst="rect">
            <a:avLst/>
          </a:prstGeom>
          <a:noFill/>
          <a:ln/>
        </p:spPr>
        <p:txBody>
          <a:bodyPr wrap="square" rtlCol="0" anchor="ctr"/>
          <a:lstStyle/>
          <a:p>
            <a:pPr algn="ctr" indent="0" marL="0">
              <a:buNone/>
            </a:pPr>
            <a:r>
              <a:rPr lang="en-US" sz="1200" dirty="0">
                <a:solidFill>
                  <a:srgbClr val="888888"/>
                </a:solidFill>
                <a:latin typeface="Yu Gothic" pitchFamily="34" charset="0"/>
                <a:ea typeface="Yu Gothic" pitchFamily="34" charset="-122"/>
                <a:cs typeface="Yu Gothic" pitchFamily="34" charset="-120"/>
              </a:rPr>
              <a:t>【画像挿入予定】</a:t>
            </a:r>
            <a:endParaRPr lang="en-US" sz="1200" dirty="0"/>
          </a:p>
          <a:p>
            <a:pPr algn="ctr" indent="0" marL="0">
              <a:buNone/>
            </a:pPr>
            <a:r>
              <a:rPr lang="en-US" sz="1200" dirty="0">
                <a:solidFill>
                  <a:srgbClr val="888888"/>
                </a:solidFill>
                <a:latin typeface="Yu Gothic" pitchFamily="34" charset="0"/>
                <a:ea typeface="Yu Gothic" pitchFamily="34" charset="-122"/>
                <a:cs typeface="Yu Gothic" pitchFamily="34" charset="-120"/>
              </a:rPr>
              <a:t>落ち着いた店内全景または</a:t>
            </a:r>
            <a:endParaRPr lang="en-US" sz="1200" dirty="0"/>
          </a:p>
          <a:p>
            <a:pPr algn="ctr" indent="0" marL="0">
              <a:buNone/>
            </a:pPr>
            <a:r>
              <a:rPr lang="en-US" sz="1200" dirty="0">
                <a:solidFill>
                  <a:srgbClr val="888888"/>
                </a:solidFill>
                <a:latin typeface="Yu Gothic" pitchFamily="34" charset="0"/>
                <a:ea typeface="Yu Gothic" pitchFamily="34" charset="-122"/>
                <a:cs typeface="Yu Gothic" pitchFamily="34" charset="-120"/>
              </a:rPr>
              <a:t>スタッフがお客様対応している</a:t>
            </a:r>
            <a:endParaRPr lang="en-US" sz="1200" dirty="0"/>
          </a:p>
          <a:p>
            <a:pPr algn="ctr" indent="0" marL="0">
              <a:buNone/>
            </a:pPr>
            <a:r>
              <a:rPr lang="en-US" sz="1200" dirty="0">
                <a:solidFill>
                  <a:srgbClr val="888888"/>
                </a:solidFill>
                <a:latin typeface="Yu Gothic" pitchFamily="34" charset="0"/>
                <a:ea typeface="Yu Gothic" pitchFamily="34" charset="-122"/>
                <a:cs typeface="Yu Gothic" pitchFamily="34" charset="-120"/>
              </a:rPr>
              <a:t>自然な写真</a:t>
            </a:r>
            <a:endParaRPr lang="en-US" sz="1200" dirty="0"/>
          </a:p>
        </p:txBody>
      </p:sp>
      <p:sp>
        <p:nvSpPr>
          <p:cNvPr id="7" name="Text 5"/>
          <p:cNvSpPr/>
          <p:nvPr/>
        </p:nvSpPr>
        <p:spPr>
          <a:xfrm>
            <a:off x="594360" y="274320"/>
            <a:ext cx="4572000" cy="457200"/>
          </a:xfrm>
          <a:prstGeom prst="rect">
            <a:avLst/>
          </a:prstGeom>
          <a:noFill/>
          <a:ln/>
        </p:spPr>
        <p:txBody>
          <a:bodyPr wrap="square" rtlCol="0" anchor="ctr"/>
          <a:lstStyle/>
          <a:p>
            <a:pPr indent="0" marL="0">
              <a:buNone/>
            </a:pPr>
            <a:r>
              <a:rPr lang="en-US" sz="1300" b="1" dirty="0">
                <a:solidFill>
                  <a:srgbClr val="888888"/>
                </a:solidFill>
                <a:latin typeface="Yu Gothic" pitchFamily="34" charset="0"/>
                <a:ea typeface="Yu Gothic" pitchFamily="34" charset="-122"/>
                <a:cs typeface="Yu Gothic" pitchFamily="34" charset="-120"/>
              </a:rPr>
              <a:t>まとめ</a:t>
            </a:r>
            <a:endParaRPr lang="en-US" sz="1300" dirty="0"/>
          </a:p>
        </p:txBody>
      </p:sp>
      <p:sp>
        <p:nvSpPr>
          <p:cNvPr id="8" name="Shape 6"/>
          <p:cNvSpPr/>
          <p:nvPr/>
        </p:nvSpPr>
        <p:spPr>
          <a:xfrm>
            <a:off x="594360" y="822960"/>
            <a:ext cx="4572000" cy="429768"/>
          </a:xfrm>
          <a:prstGeom prst="rect">
            <a:avLst/>
          </a:prstGeom>
          <a:solidFill>
            <a:srgbClr val="F0FAF4"/>
          </a:solidFill>
          <a:ln w="12700">
            <a:solidFill>
              <a:srgbClr val="C5E8D1"/>
            </a:solidFill>
            <a:prstDash val="solid"/>
          </a:ln>
        </p:spPr>
      </p:sp>
      <p:sp>
        <p:nvSpPr>
          <p:cNvPr id="9" name="Text 7"/>
          <p:cNvSpPr/>
          <p:nvPr/>
        </p:nvSpPr>
        <p:spPr>
          <a:xfrm>
            <a:off x="685800" y="850392"/>
            <a:ext cx="4389120" cy="384048"/>
          </a:xfrm>
          <a:prstGeom prst="rect">
            <a:avLst/>
          </a:prstGeom>
          <a:noFill/>
          <a:ln/>
        </p:spPr>
        <p:txBody>
          <a:bodyPr wrap="square" rtlCol="0" anchor="ctr"/>
          <a:lstStyle/>
          <a:p>
            <a:pPr indent="0" marL="0">
              <a:buNone/>
            </a:pPr>
            <a:r>
              <a:rPr lang="en-US" sz="1500" dirty="0">
                <a:solidFill>
                  <a:srgbClr val="222222"/>
                </a:solidFill>
                <a:latin typeface="Yu Gothic" pitchFamily="34" charset="0"/>
                <a:ea typeface="Yu Gothic" pitchFamily="34" charset="-122"/>
                <a:cs typeface="Yu Gothic" pitchFamily="34" charset="-120"/>
              </a:rPr>
              <a:t>1　カウンターで何を行うか</a:t>
            </a:r>
            <a:endParaRPr lang="en-US" sz="1500" dirty="0"/>
          </a:p>
        </p:txBody>
      </p:sp>
      <p:sp>
        <p:nvSpPr>
          <p:cNvPr id="10" name="Shape 8"/>
          <p:cNvSpPr/>
          <p:nvPr/>
        </p:nvSpPr>
        <p:spPr>
          <a:xfrm>
            <a:off x="594360" y="1325880"/>
            <a:ext cx="4572000" cy="429768"/>
          </a:xfrm>
          <a:prstGeom prst="rect">
            <a:avLst/>
          </a:prstGeom>
          <a:solidFill>
            <a:srgbClr val="F0FAF4"/>
          </a:solidFill>
          <a:ln w="12700">
            <a:solidFill>
              <a:srgbClr val="C5E8D1"/>
            </a:solidFill>
            <a:prstDash val="solid"/>
          </a:ln>
        </p:spPr>
      </p:sp>
      <p:sp>
        <p:nvSpPr>
          <p:cNvPr id="11" name="Text 9"/>
          <p:cNvSpPr/>
          <p:nvPr/>
        </p:nvSpPr>
        <p:spPr>
          <a:xfrm>
            <a:off x="685800" y="1353312"/>
            <a:ext cx="4389120" cy="384048"/>
          </a:xfrm>
          <a:prstGeom prst="rect">
            <a:avLst/>
          </a:prstGeom>
          <a:noFill/>
          <a:ln/>
        </p:spPr>
        <p:txBody>
          <a:bodyPr wrap="square" rtlCol="0" anchor="ctr"/>
          <a:lstStyle/>
          <a:p>
            <a:pPr indent="0" marL="0">
              <a:buNone/>
            </a:pPr>
            <a:r>
              <a:rPr lang="en-US" sz="1500" dirty="0">
                <a:solidFill>
                  <a:srgbClr val="222222"/>
                </a:solidFill>
                <a:latin typeface="Yu Gothic" pitchFamily="34" charset="0"/>
                <a:ea typeface="Yu Gothic" pitchFamily="34" charset="-122"/>
                <a:cs typeface="Yu Gothic" pitchFamily="34" charset="-120"/>
              </a:rPr>
              <a:t>2　車両前で何を行うか</a:t>
            </a:r>
            <a:endParaRPr lang="en-US" sz="1500" dirty="0"/>
          </a:p>
        </p:txBody>
      </p:sp>
      <p:sp>
        <p:nvSpPr>
          <p:cNvPr id="12" name="Shape 10"/>
          <p:cNvSpPr/>
          <p:nvPr/>
        </p:nvSpPr>
        <p:spPr>
          <a:xfrm>
            <a:off x="594360" y="1828800"/>
            <a:ext cx="4572000" cy="429768"/>
          </a:xfrm>
          <a:prstGeom prst="rect">
            <a:avLst/>
          </a:prstGeom>
          <a:solidFill>
            <a:srgbClr val="F0FAF4"/>
          </a:solidFill>
          <a:ln w="12700">
            <a:solidFill>
              <a:srgbClr val="C5E8D1"/>
            </a:solidFill>
            <a:prstDash val="solid"/>
          </a:ln>
        </p:spPr>
      </p:sp>
      <p:sp>
        <p:nvSpPr>
          <p:cNvPr id="13" name="Text 11"/>
          <p:cNvSpPr/>
          <p:nvPr/>
        </p:nvSpPr>
        <p:spPr>
          <a:xfrm>
            <a:off x="685800" y="1856232"/>
            <a:ext cx="4389120" cy="384048"/>
          </a:xfrm>
          <a:prstGeom prst="rect">
            <a:avLst/>
          </a:prstGeom>
          <a:noFill/>
          <a:ln/>
        </p:spPr>
        <p:txBody>
          <a:bodyPr wrap="square" rtlCol="0" anchor="ctr"/>
          <a:lstStyle/>
          <a:p>
            <a:pPr indent="0" marL="0">
              <a:buNone/>
            </a:pPr>
            <a:r>
              <a:rPr lang="en-US" sz="1500" dirty="0">
                <a:solidFill>
                  <a:srgbClr val="222222"/>
                </a:solidFill>
                <a:latin typeface="Yu Gothic" pitchFamily="34" charset="0"/>
                <a:ea typeface="Yu Gothic" pitchFamily="34" charset="-122"/>
                <a:cs typeface="Yu Gothic" pitchFamily="34" charset="-120"/>
              </a:rPr>
              <a:t>3　お待ちのお客様に何を伝えるか</a:t>
            </a:r>
            <a:endParaRPr lang="en-US" sz="1500" dirty="0"/>
          </a:p>
        </p:txBody>
      </p:sp>
      <p:sp>
        <p:nvSpPr>
          <p:cNvPr id="14" name="Shape 12"/>
          <p:cNvSpPr/>
          <p:nvPr/>
        </p:nvSpPr>
        <p:spPr>
          <a:xfrm>
            <a:off x="594360" y="2331720"/>
            <a:ext cx="4572000" cy="429768"/>
          </a:xfrm>
          <a:prstGeom prst="rect">
            <a:avLst/>
          </a:prstGeom>
          <a:solidFill>
            <a:srgbClr val="F0FAF4"/>
          </a:solidFill>
          <a:ln w="12700">
            <a:solidFill>
              <a:srgbClr val="C5E8D1"/>
            </a:solidFill>
            <a:prstDash val="solid"/>
          </a:ln>
        </p:spPr>
      </p:sp>
      <p:sp>
        <p:nvSpPr>
          <p:cNvPr id="15" name="Text 13"/>
          <p:cNvSpPr/>
          <p:nvPr/>
        </p:nvSpPr>
        <p:spPr>
          <a:xfrm>
            <a:off x="685800" y="2359152"/>
            <a:ext cx="4389120" cy="384048"/>
          </a:xfrm>
          <a:prstGeom prst="rect">
            <a:avLst/>
          </a:prstGeom>
          <a:noFill/>
          <a:ln/>
        </p:spPr>
        <p:txBody>
          <a:bodyPr wrap="square" rtlCol="0" anchor="ctr"/>
          <a:lstStyle/>
          <a:p>
            <a:pPr indent="0" marL="0">
              <a:buNone/>
            </a:pPr>
            <a:r>
              <a:rPr lang="en-US" sz="1500" dirty="0">
                <a:solidFill>
                  <a:srgbClr val="222222"/>
                </a:solidFill>
                <a:latin typeface="Yu Gothic" pitchFamily="34" charset="0"/>
                <a:ea typeface="Yu Gothic" pitchFamily="34" charset="-122"/>
                <a:cs typeface="Yu Gothic" pitchFamily="34" charset="-120"/>
              </a:rPr>
              <a:t>4　スタッフ間でどのように引き継ぐか</a:t>
            </a:r>
            <a:endParaRPr lang="en-US" sz="1500" dirty="0"/>
          </a:p>
        </p:txBody>
      </p:sp>
      <p:sp>
        <p:nvSpPr>
          <p:cNvPr id="16" name="Shape 14"/>
          <p:cNvSpPr/>
          <p:nvPr/>
        </p:nvSpPr>
        <p:spPr>
          <a:xfrm>
            <a:off x="594360" y="2926080"/>
            <a:ext cx="4480560" cy="0"/>
          </a:xfrm>
          <a:prstGeom prst="line">
            <a:avLst/>
          </a:prstGeom>
          <a:noFill/>
          <a:ln w="12700">
            <a:solidFill>
              <a:srgbClr val="C5E8D1"/>
            </a:solidFill>
            <a:prstDash val="solid"/>
          </a:ln>
        </p:spPr>
      </p:sp>
      <p:sp>
        <p:nvSpPr>
          <p:cNvPr id="17" name="Text 15"/>
          <p:cNvSpPr/>
          <p:nvPr/>
        </p:nvSpPr>
        <p:spPr>
          <a:xfrm>
            <a:off x="594360" y="3017520"/>
            <a:ext cx="4572000" cy="1005840"/>
          </a:xfrm>
          <a:prstGeom prst="rect">
            <a:avLst/>
          </a:prstGeom>
          <a:noFill/>
          <a:ln/>
        </p:spPr>
        <p:txBody>
          <a:bodyPr wrap="square" rtlCol="0" anchor="ctr"/>
          <a:lstStyle/>
          <a:p>
            <a:pPr indent="0" marL="0">
              <a:buNone/>
            </a:pPr>
            <a:r>
              <a:rPr lang="en-US" sz="1700" b="1" dirty="0">
                <a:solidFill>
                  <a:srgbClr val="00A040"/>
                </a:solidFill>
                <a:latin typeface="Yu Gothic" pitchFamily="34" charset="0"/>
                <a:ea typeface="Yu Gothic" pitchFamily="34" charset="-122"/>
                <a:cs typeface="Yu Gothic" pitchFamily="34" charset="-120"/>
              </a:rPr>
              <a:t>出発が集中するときこそ、この整理が</a:t>
            </a:r>
            <a:endParaRPr lang="en-US" sz="1700" dirty="0"/>
          </a:p>
          <a:p>
            <a:pPr indent="0" marL="0">
              <a:buNone/>
            </a:pPr>
            <a:r>
              <a:rPr lang="en-US" sz="1700" b="1" dirty="0">
                <a:solidFill>
                  <a:srgbClr val="00A040"/>
                </a:solidFill>
                <a:latin typeface="Yu Gothic" pitchFamily="34" charset="0"/>
                <a:ea typeface="Yu Gothic" pitchFamily="34" charset="-122"/>
                <a:cs typeface="Yu Gothic" pitchFamily="34" charset="-120"/>
              </a:rPr>
              <a:t>貸渡品質とカウンターの流れを両立させる</a:t>
            </a:r>
            <a:endParaRPr lang="en-US" sz="1700" dirty="0"/>
          </a:p>
        </p:txBody>
      </p:sp>
      <p:sp>
        <p:nvSpPr>
          <p:cNvPr id="18" name="Shape 16"/>
          <p:cNvSpPr/>
          <p:nvPr/>
        </p:nvSpPr>
        <p:spPr>
          <a:xfrm>
            <a:off x="594360" y="4069080"/>
            <a:ext cx="4480560" cy="0"/>
          </a:xfrm>
          <a:prstGeom prst="line">
            <a:avLst/>
          </a:prstGeom>
          <a:noFill/>
          <a:ln w="12700">
            <a:solidFill>
              <a:srgbClr val="E0E0E0"/>
            </a:solidFill>
            <a:prstDash val="solid"/>
          </a:ln>
        </p:spPr>
      </p:sp>
      <p:sp>
        <p:nvSpPr>
          <p:cNvPr id="19" name="Text 17"/>
          <p:cNvSpPr/>
          <p:nvPr/>
        </p:nvSpPr>
        <p:spPr>
          <a:xfrm>
            <a:off x="594360" y="4114800"/>
            <a:ext cx="4572000" cy="594360"/>
          </a:xfrm>
          <a:prstGeom prst="rect">
            <a:avLst/>
          </a:prstGeom>
          <a:noFill/>
          <a:ln/>
        </p:spPr>
        <p:txBody>
          <a:bodyPr wrap="square" rtlCol="0" anchor="ctr"/>
          <a:lstStyle/>
          <a:p>
            <a:pPr indent="0" marL="0">
              <a:buNone/>
            </a:pPr>
            <a:r>
              <a:rPr lang="en-US" sz="1200" i="1" dirty="0">
                <a:solidFill>
                  <a:srgbClr val="888888"/>
                </a:solidFill>
                <a:latin typeface="Yu Gothic" pitchFamily="34" charset="0"/>
                <a:ea typeface="Yu Gothic" pitchFamily="34" charset="-122"/>
                <a:cs typeface="Yu Gothic" pitchFamily="34" charset="-120"/>
              </a:rPr>
              <a:t>実際の店頭でも、次のお客様への着手が早まり</a:t>
            </a:r>
            <a:endParaRPr lang="en-US" sz="1200" dirty="0"/>
          </a:p>
          <a:p>
            <a:pPr indent="0" marL="0">
              <a:buNone/>
            </a:pPr>
            <a:r>
              <a:rPr lang="en-US" sz="1200" i="1" dirty="0">
                <a:solidFill>
                  <a:srgbClr val="888888"/>
                </a:solidFill>
                <a:latin typeface="Yu Gothic" pitchFamily="34" charset="0"/>
                <a:ea typeface="Yu Gothic" pitchFamily="34" charset="-122"/>
                <a:cs typeface="Yu Gothic" pitchFamily="34" charset="-120"/>
              </a:rPr>
              <a:t>スタッフ間の共有もしやすくなりました</a:t>
            </a:r>
            <a:endParaRPr lang="en-US" sz="1200" dirty="0"/>
          </a:p>
        </p:txBody>
      </p:sp>
      <p:sp>
        <p:nvSpPr>
          <p:cNvPr id="20" name="Text 18"/>
          <p:cNvSpPr/>
          <p:nvPr/>
        </p:nvSpPr>
        <p:spPr>
          <a:xfrm>
            <a:off x="594360" y="4846320"/>
            <a:ext cx="4572000" cy="297180"/>
          </a:xfrm>
          <a:prstGeom prst="rect">
            <a:avLst/>
          </a:prstGeom>
          <a:noFill/>
          <a:ln/>
        </p:spPr>
        <p:txBody>
          <a:bodyPr wrap="square" rtlCol="0" anchor="ctr"/>
          <a:lstStyle/>
          <a:p>
            <a:pPr indent="0" marL="0">
              <a:buNone/>
            </a:pPr>
            <a:r>
              <a:rPr lang="en-US" sz="1200" dirty="0">
                <a:solidFill>
                  <a:srgbClr val="FFFFFF"/>
                </a:solidFill>
                <a:latin typeface="Yu Gothic" pitchFamily="34" charset="0"/>
                <a:ea typeface="Yu Gothic" pitchFamily="34" charset="-122"/>
                <a:cs typeface="Yu Gothic" pitchFamily="34" charset="-120"/>
              </a:rPr>
              <a:t>ご清聴ありがとうございました</a:t>
            </a:r>
            <a:endParaRPr lang="en-US" sz="1200" dirty="0"/>
          </a:p>
        </p:txBody>
      </p:sp>
      <p:sp>
        <p:nvSpPr>
          <p:cNvPr id="21" name="Text 19"/>
          <p:cNvSpPr/>
          <p:nvPr/>
        </p:nvSpPr>
        <p:spPr>
          <a:xfrm>
            <a:off x="8778240" y="4846320"/>
            <a:ext cx="320040" cy="228600"/>
          </a:xfrm>
          <a:prstGeom prst="rect">
            <a:avLst/>
          </a:prstGeom>
          <a:noFill/>
          <a:ln/>
        </p:spPr>
        <p:txBody>
          <a:bodyPr wrap="square" rtlCol="0" anchor="ctr"/>
          <a:lstStyle/>
          <a:p>
            <a:pPr algn="r" indent="0" marL="0">
              <a:buNone/>
            </a:pPr>
            <a:r>
              <a:rPr lang="en-US" sz="1000" dirty="0">
                <a:solidFill>
                  <a:srgbClr val="999999"/>
                </a:solidFill>
              </a:rPr>
              <a:t>19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出発集中時でも貸渡品質を崩さない店頭オペレーション（研鑽会版）</dc:title>
  <dc:subject>PptxGenJS Presentation</dc:subject>
  <dc:creator>PptxGenJS</dc:creator>
  <cp:lastModifiedBy>PptxGenJS</cp:lastModifiedBy>
  <cp:revision>1</cp:revision>
  <dcterms:created xsi:type="dcterms:W3CDTF">2026-06-05T07:24:51Z</dcterms:created>
  <dcterms:modified xsi:type="dcterms:W3CDTF">2026-06-05T07:24:51Z</dcterms:modified>
</cp:coreProperties>
</file>